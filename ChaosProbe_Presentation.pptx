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560320"/>
            <a:ext cx="9448495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C9A7"/>
                </a:solidFill>
                <a:latin typeface="Calibri"/>
              </a:defRPr>
            </a:pPr>
            <a:r>
              <a:t>AI-Driven Chaos Engineering for Kubernetes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MSc Thesis Project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Yvo Hu  |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Microservice architectures are inherently fragile. Pod failures, network issues, and resource</a:t>
            </a:r>
            <a:br/>
            <a:r>
              <a:t>contention cause cascading outages that are hard to predict and diagnose.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291840" cy="164592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Challenge 1: Visibility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No structured data on how failures</a:t>
            </a:r>
            <a:br/>
            <a:r>
              <a:t>propagate across service dependencies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560320"/>
            <a:ext cx="3291840" cy="164592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Challenge 2: Remediation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Manual fault diagnosis is slow;</a:t>
            </a:r>
            <a:br/>
            <a:r>
              <a:t>placement decisions are ad-hoc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560320"/>
            <a:ext cx="3291840" cy="164592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FF6B35"/>
                </a:solidFill>
                <a:latin typeface="Calibri"/>
              </a:defRPr>
            </a:pPr>
            <a:r>
              <a:t>Challenge 3: Feedback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No automated loop from chaos test</a:t>
            </a:r>
            <a:br/>
            <a:r>
              <a:t>results back to deployment fixes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  <a:latin typeface="Calibri"/>
              </a:defRPr>
            </a:pPr>
            <a:r>
              <a:t>Research Question: Can automated chaos experiments with graph-based data collection</a:t>
            </a:r>
            <a:br/>
            <a:r>
              <a:t>enable AI-driven anomaly classification and remediation in Kubernetes?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Solution: ChaosProbe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096D6"/>
                </a:solidFill>
                <a:latin typeface="Calibri"/>
              </a:rPr>
              <a:t>1. </a:t>
            </a:r>
            <a:r>
              <a:rPr sz="1700">
                <a:solidFill>
                  <a:srgbClr val="FFFFFF"/>
                </a:solidFill>
                <a:latin typeface="Calibri"/>
              </a:rPr>
              <a:t>Deploy Kubernetes clusters (Vagrant / Kubespray)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096D6"/>
                </a:solidFill>
                <a:latin typeface="Calibri"/>
              </a:rPr>
              <a:t>2. </a:t>
            </a:r>
            <a:r>
              <a:rPr sz="1700">
                <a:solidFill>
                  <a:srgbClr val="FFFFFF"/>
                </a:solidFill>
                <a:latin typeface="Calibri"/>
              </a:rPr>
              <a:t>Auto-install infrastructure (LitmusChaos, ChaosCenter, Prometheus, Neo4j)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096D6"/>
                </a:solidFill>
                <a:latin typeface="Calibri"/>
              </a:rPr>
              <a:t>3. </a:t>
            </a:r>
            <a:r>
              <a:rPr sz="1700">
                <a:solidFill>
                  <a:srgbClr val="FFFFFF"/>
                </a:solidFill>
                <a:latin typeface="Calibri"/>
              </a:rPr>
              <a:t>Apply workload manifests to the cluster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096D6"/>
                </a:solidFill>
                <a:latin typeface="Calibri"/>
              </a:rPr>
              <a:t>4. </a:t>
            </a:r>
            <a:r>
              <a:rPr sz="1700">
                <a:solidFill>
                  <a:srgbClr val="FFFFFF"/>
                </a:solidFill>
                <a:latin typeface="Calibri"/>
              </a:rPr>
              <a:t>Execute ChaosEngine experiments via ChaosCenter GraphQL API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096D6"/>
                </a:solidFill>
                <a:latin typeface="Calibri"/>
              </a:rPr>
              <a:t>5. </a:t>
            </a:r>
            <a:r>
              <a:rPr sz="1700">
                <a:solidFill>
                  <a:srgbClr val="FFFFFF"/>
                </a:solidFill>
                <a:latin typeface="Calibri"/>
              </a:rPr>
              <a:t>Collect metrics, anomaly labels, and cascade data into Neo4j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096D6"/>
                </a:solidFill>
                <a:latin typeface="Calibri"/>
              </a:rPr>
              <a:t>6. </a:t>
            </a:r>
            <a:r>
              <a:rPr sz="1700">
                <a:solidFill>
                  <a:srgbClr val="FFFFFF"/>
                </a:solidFill>
                <a:latin typeface="Calibri"/>
              </a:rPr>
              <a:t>Export ML-ready datasets (CSV / Parquet)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096D6"/>
                </a:solidFill>
                <a:latin typeface="Calibri"/>
              </a:rPr>
              <a:t>7. </a:t>
            </a:r>
            <a:r>
              <a:rPr sz="1700">
                <a:solidFill>
                  <a:srgbClr val="FFFFFF"/>
                </a:solidFill>
                <a:latin typeface="Calibri"/>
              </a:rPr>
              <a:t>Compare before/after runs to evaluate fix effectiveness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5029200" cy="274320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FF6B35"/>
                </a:solidFill>
                <a:latin typeface="Calibri"/>
              </a:defRPr>
            </a:pPr>
            <a:r>
              <a:t>AI Feedback Loop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AI reads experiment output from Neo4j</a:t>
            </a:r>
            <a:br/>
            <a:r>
              <a:t>  -&gt; Edits K8s manifests (placement, resources)</a:t>
            </a:r>
            <a:br/>
            <a:r>
              <a:t>  -&gt; Re-runs ChaosProbe</a:t>
            </a:r>
            <a:br/>
            <a:r>
              <a:t>  -&gt; Compares results</a:t>
            </a:r>
            <a:br/>
            <a:r>
              <a:t>  -&gt; Iterates until resilience improves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~19,000 lines of Python  |  490 tests  |  34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91440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CLI Layer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cli.py + 10 command modules</a:t>
            </a:r>
            <a:br/>
            <a:r>
              <a:t>(run, init, delete, graph, visualize, etc.)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029200" cy="91440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Orchestrator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strategy_runner, run_phases,</a:t>
            </a:r>
            <a:br/>
            <a:r>
              <a:t>probers, portforward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5029200" cy="91440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Core Engines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Chaos Runner  |  Placement Engine</a:t>
            </a:r>
            <a:br/>
            <a:r>
              <a:t>Config Loader  |  Load Generator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5029200" cy="91440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Data Collection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Recovery Watcher  |  5 Continuous Probers</a:t>
            </a:r>
            <a:br/>
            <a:r>
              <a:t>Anomaly Labels  |  Cascade Timeline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137160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Infrastructure (provisioner/)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LitmusSetup: 4 mixins</a:t>
            </a:r>
            <a:br/>
            <a:r>
              <a:t>Vagrant (local dev)  |  Kubespray (production)</a:t>
            </a:r>
            <a:br/>
            <a:r>
              <a:t>Helm, LitmusChaos, ChaosCenter, Prometheus, Neo4j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17520"/>
            <a:ext cx="5029200" cy="109728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FF6B35"/>
                </a:solidFill>
                <a:latin typeface="Calibri"/>
              </a:defRPr>
            </a:pPr>
            <a:r>
              <a:t>Storage — Neo4j Graph Database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Writer (872 lines) + Reader (876 lines)</a:t>
            </a:r>
            <a:br/>
            <a:r>
              <a:t>Nodes: ChaosRun, MetricsSample, AnomalyLabel, CascadeEvent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389120"/>
            <a:ext cx="5029200" cy="109728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Output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Charts + HTML reports  |  ML Export (CSV/Parquet)</a:t>
            </a:r>
            <a:br/>
            <a:r>
              <a:t>Comparison Engine  |  Graph Analysis (blast radius)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Placement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ChaosProbe tests how pod placement affects resilience by running the same experiment</a:t>
            </a:r>
            <a:br/>
            <a:r>
              <a:t>under different placement strategies and comparing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011680" cy="201168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1000"/>
              </a:spcAft>
              <a:defRPr sz="1800" b="1">
                <a:solidFill>
                  <a:srgbClr val="0096D6"/>
                </a:solidFill>
                <a:latin typeface="Calibri"/>
              </a:defRPr>
            </a:pPr>
            <a:r>
              <a:t>Baseline</a:t>
            </a:r>
          </a:p>
          <a:p>
            <a:pPr algn="ctr">
              <a:defRPr sz="1300">
                <a:solidFill>
                  <a:srgbClr val="CCCCCC"/>
                </a:solidFill>
                <a:latin typeface="Calibri"/>
              </a:defRPr>
            </a:pPr>
            <a:r>
              <a:t>Default scheduler placement</a:t>
            </a:r>
            <a:br/>
            <a:r>
              <a:t>(no constraints applied)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2377440"/>
            <a:ext cx="2011680" cy="201168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1000"/>
              </a:spcAft>
              <a:defRPr sz="1800" b="1">
                <a:solidFill>
                  <a:srgbClr val="FF6B35"/>
                </a:solidFill>
                <a:latin typeface="Calibri"/>
              </a:defRPr>
            </a:pPr>
            <a:r>
              <a:t>Colocate</a:t>
            </a:r>
          </a:p>
          <a:p>
            <a:pPr algn="ctr">
              <a:defRPr sz="1300">
                <a:solidFill>
                  <a:srgbClr val="CCCCCC"/>
                </a:solidFill>
                <a:latin typeface="Calibri"/>
              </a:defRPr>
            </a:pPr>
            <a:r>
              <a:t>All pods on a single node</a:t>
            </a:r>
            <a:br/>
            <a:r>
              <a:t>(maximum resource contention)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2377440"/>
            <a:ext cx="2011680" cy="201168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100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Spread</a:t>
            </a:r>
          </a:p>
          <a:p>
            <a:pPr algn="ctr">
              <a:defRPr sz="1300">
                <a:solidFill>
                  <a:srgbClr val="CCCCCC"/>
                </a:solidFill>
                <a:latin typeface="Calibri"/>
              </a:defRPr>
            </a:pPr>
            <a:r>
              <a:t>Round-robin across all nodes</a:t>
            </a:r>
            <a:br/>
            <a:r>
              <a:t>(minimum contention)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2377440"/>
            <a:ext cx="2011680" cy="201168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1000"/>
              </a:spcAft>
              <a:defRPr sz="1800" b="1">
                <a:solidFill>
                  <a:srgbClr val="BB86FC"/>
                </a:solidFill>
                <a:latin typeface="Calibri"/>
              </a:defRPr>
            </a:pPr>
            <a:r>
              <a:t>Antagonistic</a:t>
            </a:r>
          </a:p>
          <a:p>
            <a:pPr algn="ctr">
              <a:defRPr sz="1300">
                <a:solidFill>
                  <a:srgbClr val="CCCCCC"/>
                </a:solidFill>
                <a:latin typeface="Calibri"/>
              </a:defRPr>
            </a:pPr>
            <a:r>
              <a:t>Heavy services colocated;</a:t>
            </a:r>
            <a:br/>
            <a:r>
              <a:t>rest distributed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2377440"/>
            <a:ext cx="2011680" cy="201168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1000"/>
              </a:spcAft>
              <a:defRPr sz="1800" b="1">
                <a:solidFill>
                  <a:srgbClr val="CCCCCC"/>
                </a:solidFill>
                <a:latin typeface="Calibri"/>
              </a:defRPr>
            </a:pPr>
            <a:r>
              <a:t>Random</a:t>
            </a:r>
          </a:p>
          <a:p>
            <a:pPr algn="ctr">
              <a:defRPr sz="1300">
                <a:solidFill>
                  <a:srgbClr val="CCCCCC"/>
                </a:solidFill>
                <a:latin typeface="Calibri"/>
              </a:defRPr>
            </a:pPr>
            <a:r>
              <a:t>Random assignment per pod</a:t>
            </a:r>
            <a:br/>
            <a:r>
              <a:t>(reproducible with seed)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Mechanism: Patches spec.template.spec.nodeSelector with kubernetes.io/hostname.</a:t>
            </a:r>
            <a:br/>
            <a:r>
              <a:t>Tracked via chaosprobe.io/placement-strategy annotation. Waits for rollout completion.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Chaos Execution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2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141732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spcAft>
                <a:spcPts val="800"/>
              </a:spcAft>
              <a:defRPr sz="1300" b="1">
                <a:solidFill>
                  <a:srgbClr val="0096D6"/>
                </a:solidFill>
                <a:latin typeface="Calibri"/>
              </a:defRPr>
            </a:pPr>
            <a:r>
              <a:t>Pre-flight</a:t>
            </a:r>
          </a:p>
          <a:p>
            <a:pPr algn="ctr">
              <a:defRPr sz="1100">
                <a:solidFill>
                  <a:srgbClr val="CCCCCC"/>
                </a:solidFill>
                <a:latin typeface="Calibri"/>
              </a:defRPr>
            </a:pPr>
            <a:r>
              <a:t>Validate cluster, check</a:t>
            </a:r>
            <a:br/>
            <a:r>
              <a:t>pods, extract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57400" y="1828800"/>
            <a:ext cx="141732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spcAft>
                <a:spcPts val="800"/>
              </a:spcAft>
              <a:defRPr sz="1300" b="1">
                <a:solidFill>
                  <a:srgbClr val="0096D6"/>
                </a:solidFill>
                <a:latin typeface="Calibri"/>
              </a:defRPr>
            </a:pPr>
            <a:r>
              <a:t>Apply</a:t>
            </a:r>
            <a:br/>
            <a:r>
              <a:t>Placement</a:t>
            </a:r>
          </a:p>
          <a:p>
            <a:pPr algn="ctr">
              <a:defRPr sz="1100">
                <a:solidFill>
                  <a:srgbClr val="CCCCCC"/>
                </a:solidFill>
                <a:latin typeface="Calibri"/>
              </a:defRPr>
            </a:pPr>
            <a:r>
              <a:t>Compute node assignments</a:t>
            </a:r>
            <a:br/>
            <a:r>
              <a:t>and patch deployments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828800"/>
            <a:ext cx="141732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spcAft>
                <a:spcPts val="800"/>
              </a:spcAft>
              <a:defRPr sz="1300" b="1">
                <a:solidFill>
                  <a:srgbClr val="0096D6"/>
                </a:solidFill>
                <a:latin typeface="Calibri"/>
              </a:defRPr>
            </a:pPr>
            <a:r>
              <a:t>Settle</a:t>
            </a:r>
          </a:p>
          <a:p>
            <a:pPr algn="ctr">
              <a:defRPr sz="1100">
                <a:solidFill>
                  <a:srgbClr val="CCCCCC"/>
                </a:solidFill>
                <a:latin typeface="Calibri"/>
              </a:defRPr>
            </a:pPr>
            <a:r>
              <a:t>Wait for pods to stabilize</a:t>
            </a:r>
            <a:br/>
            <a:r>
              <a:t>(configurable delay)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1828800"/>
            <a:ext cx="141732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spcAft>
                <a:spcPts val="800"/>
              </a:spcAft>
              <a:defRPr sz="1300" b="1">
                <a:solidFill>
                  <a:srgbClr val="0096D6"/>
                </a:solidFill>
                <a:latin typeface="Calibri"/>
              </a:defRPr>
            </a:pPr>
            <a:r>
              <a:t>Start</a:t>
            </a:r>
            <a:br/>
            <a:r>
              <a:t>Probers</a:t>
            </a:r>
          </a:p>
          <a:p>
            <a:pPr algn="ctr">
              <a:defRPr sz="1100">
                <a:solidFill>
                  <a:srgbClr val="CCCCCC"/>
                </a:solidFill>
                <a:latin typeface="Calibri"/>
              </a:defRPr>
            </a:pPr>
            <a:r>
              <a:t>Launch 5 continuous probers</a:t>
            </a:r>
            <a:br/>
            <a:r>
              <a:t>+ recovery watcher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1828800"/>
            <a:ext cx="141732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spcAft>
                <a:spcPts val="800"/>
              </a:spcAft>
              <a:defRPr sz="1300" b="1">
                <a:solidFill>
                  <a:srgbClr val="FF6B35"/>
                </a:solidFill>
                <a:latin typeface="Calibri"/>
              </a:defRPr>
            </a:pPr>
            <a:r>
              <a:t>Run Chaos</a:t>
            </a:r>
          </a:p>
          <a:p>
            <a:pPr algn="ctr">
              <a:defRPr sz="1100">
                <a:solidFill>
                  <a:srgbClr val="CCCCCC"/>
                </a:solidFill>
                <a:latin typeface="Calibri"/>
              </a:defRPr>
            </a:pPr>
            <a:r>
              <a:t>Save/trigger/poll via</a:t>
            </a:r>
            <a:br/>
            <a:r>
              <a:t>ChaosCenter GraphQL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6517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828800"/>
            <a:ext cx="141732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spcAft>
                <a:spcPts val="800"/>
              </a:spcAft>
              <a:defRPr sz="1300" b="1">
                <a:solidFill>
                  <a:srgbClr val="0096D6"/>
                </a:solidFill>
                <a:latin typeface="Calibri"/>
              </a:defRPr>
            </a:pPr>
            <a:r>
              <a:t>Collect</a:t>
            </a:r>
          </a:p>
          <a:p>
            <a:pPr algn="ctr">
              <a:defRPr sz="1100">
                <a:solidFill>
                  <a:srgbClr val="CCCCCC"/>
                </a:solidFill>
                <a:latin typeface="Calibri"/>
              </a:defRPr>
            </a:pPr>
            <a:r>
              <a:t>Gather ChaosResult CRDs,</a:t>
            </a:r>
            <a:br/>
            <a:r>
              <a:t>metrics, anomaly labels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1828800"/>
            <a:ext cx="141732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spcAft>
                <a:spcPts val="800"/>
              </a:spcAft>
              <a:defRPr sz="1300" b="1">
                <a:solidFill>
                  <a:srgbClr val="0096D6"/>
                </a:solidFill>
                <a:latin typeface="Calibri"/>
              </a:defRPr>
            </a:pPr>
            <a:r>
              <a:t>Store</a:t>
            </a:r>
          </a:p>
          <a:p>
            <a:pPr algn="ctr">
              <a:defRPr sz="1100">
                <a:solidFill>
                  <a:srgbClr val="CCCCCC"/>
                </a:solidFill>
                <a:latin typeface="Calibri"/>
              </a:defRPr>
            </a:pPr>
            <a:r>
              <a:t>Write all data to</a:t>
            </a:r>
            <a:br/>
            <a:r>
              <a:t>Neo4j graph 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Per strategy: apply placement → settle → N iterations (each: start probers → run chaos → collect → store) → clear placement.</a:t>
            </a:r>
            <a:br/>
            <a:r>
              <a:t>Default matrix: baseline, colocate, spread, antagonistic, random × configurable iterations.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Metrics &amp; Data Collection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146304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spcAft>
                <a:spcPts val="600"/>
              </a:spcAft>
              <a:defRPr sz="1500" b="1">
                <a:solidFill>
                  <a:srgbClr val="00C9A7"/>
                </a:solidFill>
                <a:latin typeface="Calibri"/>
              </a:defRPr>
            </a:pPr>
            <a:r>
              <a:t>Recovery Watcher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Real-time K8s watch API for pod lifecycle.</a:t>
            </a:r>
            <a:br/>
            <a:r>
              <a:t>Records: deletion → scheduled → ready.</a:t>
            </a:r>
            <a:br/>
            <a:r>
              <a:t>Stats: mean, median, p95 recovery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3291840" cy="146304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spcAft>
                <a:spcPts val="600"/>
              </a:spcAft>
              <a:defRPr sz="1500" b="1">
                <a:solidFill>
                  <a:srgbClr val="0096D6"/>
                </a:solidFill>
                <a:latin typeface="Calibri"/>
              </a:defRPr>
            </a:pPr>
            <a:r>
              <a:t>Latency Prober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Continuous HTTP probing of service endpoints.</a:t>
            </a:r>
            <a:br/>
            <a:r>
              <a:t>Phase-aware: PreChaos / DuringChaos / PostChaos.</a:t>
            </a:r>
            <a:br/>
            <a:r>
              <a:t>Records: mean, p50, p95, p99, error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291840" cy="146304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spcAft>
                <a:spcPts val="600"/>
              </a:spcAft>
              <a:defRPr sz="1500" b="1">
                <a:solidFill>
                  <a:srgbClr val="FF6B35"/>
                </a:solidFill>
                <a:latin typeface="Calibri"/>
              </a:defRPr>
            </a:pPr>
            <a:r>
              <a:t>Resource Prober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Polls metrics.k8s.io API for CPU/memory.</a:t>
            </a:r>
            <a:br/>
            <a:r>
              <a:t>Per-container resource utilization tracking.</a:t>
            </a:r>
            <a:br/>
            <a:r>
              <a:t>Detects resource pressure during chaos.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200400"/>
            <a:ext cx="3291840" cy="146304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spcAft>
                <a:spcPts val="600"/>
              </a:spcAft>
              <a:defRPr sz="1500" b="1">
                <a:solidFill>
                  <a:srgbClr val="BB86FC"/>
                </a:solidFill>
                <a:latin typeface="Calibri"/>
              </a:defRPr>
            </a:pPr>
            <a:r>
              <a:t>Prometheus Prober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Queries Prometheus for application metrics.</a:t>
            </a:r>
            <a:br/>
            <a:r>
              <a:t>Auto-discovers Prometheus service.</a:t>
            </a:r>
            <a:br/>
            <a:r>
              <a:t>Custom PromQL queries per experiment.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291840" cy="146304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spcAft>
                <a:spcPts val="600"/>
              </a:spcAft>
              <a:defRPr sz="1500" b="1">
                <a:solidFill>
                  <a:srgbClr val="00C9A7"/>
                </a:solidFill>
                <a:latin typeface="Calibri"/>
              </a:defRPr>
            </a:pPr>
            <a:r>
              <a:t>Anomaly Labels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Ground-truth ML labels from experiment data.</a:t>
            </a:r>
            <a:br/>
            <a:r>
              <a:t>Structured: fault type, target, timing,</a:t>
            </a:r>
            <a:br/>
            <a:r>
              <a:t>expected behavior, actual outcome.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200400"/>
            <a:ext cx="3291840" cy="146304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spcAft>
                <a:spcPts val="600"/>
              </a:spcAft>
              <a:defRPr sz="1500" b="1">
                <a:solidFill>
                  <a:srgbClr val="FF6B35"/>
                </a:solidFill>
                <a:latin typeface="Calibri"/>
              </a:defRPr>
            </a:pPr>
            <a:r>
              <a:t>Cascade Timeline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Tracks fault propagation across services.</a:t>
            </a:r>
            <a:br/>
            <a:r>
              <a:t>Detects degradation in dependent services.</a:t>
            </a:r>
            <a:br/>
            <a:r>
              <a:t>Builds cascade event graph in Neo4j.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All probers inherit ContinuousProberBase — thread lifecycle, phase tracking, aggregation. Also: Throughput prober (Redis/Disk variants) and MetricsCollector (pod status, node info).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Neo4j Graph 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Neo4j is the sole persistent store. The graph model naturally captures Kubernetes topology,</a:t>
            </a:r>
            <a:br/>
            <a:r>
              <a:t>service dependencies, placement decisions, and experiment causality chains.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2468880" cy="118872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400"/>
              </a:spcAft>
              <a:defRPr sz="1600" b="1">
                <a:solidFill>
                  <a:srgbClr val="FF6B35"/>
                </a:solidFill>
                <a:latin typeface="Calibri"/>
              </a:defRPr>
            </a:pPr>
            <a:r>
              <a:t>ChaosRun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Run metadata,</a:t>
            </a:r>
            <a:br/>
            <a:r>
              <a:t>strategy, session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286000"/>
            <a:ext cx="2468880" cy="118872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400"/>
              </a:spcAft>
              <a:defRPr sz="1600" b="1">
                <a:solidFill>
                  <a:srgbClr val="FF6B35"/>
                </a:solidFill>
                <a:latin typeface="Calibri"/>
              </a:defRPr>
            </a:pPr>
            <a:r>
              <a:t>ExperimentResult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Verdict, resilience</a:t>
            </a:r>
            <a:br/>
            <a:r>
              <a:t>score, probes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2468880" cy="118872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400"/>
              </a:spcAft>
              <a:defRPr sz="1600" b="1">
                <a:solidFill>
                  <a:srgbClr val="FF6B35"/>
                </a:solidFill>
                <a:latin typeface="Calibri"/>
              </a:defRPr>
            </a:pPr>
            <a:r>
              <a:t>MetricsSample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Timestamped metric</a:t>
            </a:r>
            <a:br/>
            <a:r>
              <a:t>data 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286000"/>
            <a:ext cx="2468880" cy="118872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400"/>
              </a:spcAft>
              <a:defRPr sz="1600" b="1">
                <a:solidFill>
                  <a:srgbClr val="FF6B35"/>
                </a:solidFill>
                <a:latin typeface="Calibri"/>
              </a:defRPr>
            </a:pPr>
            <a:r>
              <a:t>AnomalyLabel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ML ground-truth</a:t>
            </a:r>
            <a:br/>
            <a:r>
              <a:t>labels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2468880" cy="118872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400"/>
              </a:spcAft>
              <a:defRPr sz="1600" b="1">
                <a:solidFill>
                  <a:srgbClr val="FF6B35"/>
                </a:solidFill>
                <a:latin typeface="Calibri"/>
              </a:defRPr>
            </a:pPr>
            <a:r>
              <a:t>CascadeEvent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Fault propagation</a:t>
            </a:r>
            <a:br/>
            <a:r>
              <a:t>events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840480"/>
            <a:ext cx="2468880" cy="118872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400"/>
              </a:spcAft>
              <a:defRPr sz="1600" b="1">
                <a:solidFill>
                  <a:srgbClr val="FF6B35"/>
                </a:solidFill>
                <a:latin typeface="Calibri"/>
              </a:defRPr>
            </a:pPr>
            <a:r>
              <a:t>RecoveryCycle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Pod recovery</a:t>
            </a:r>
            <a:br/>
            <a:r>
              <a:t>timestamps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840480"/>
            <a:ext cx="2468880" cy="118872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400"/>
              </a:spcAft>
              <a:defRPr sz="1600" b="1">
                <a:solidFill>
                  <a:srgbClr val="FF6B35"/>
                </a:solidFill>
                <a:latin typeface="Calibri"/>
              </a:defRPr>
            </a:pPr>
            <a:r>
              <a:t>PodSnapshot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Pod state at</a:t>
            </a:r>
            <a:br/>
            <a:r>
              <a:t>collection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3840480"/>
            <a:ext cx="2468880" cy="1188720"/>
          </a:xfrm>
          <a:prstGeom prst="roundRect">
            <a:avLst/>
          </a:prstGeom>
          <a:solidFill>
            <a:srgbClr val="22223D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400"/>
              </a:spcAft>
              <a:defRPr sz="1600" b="1">
                <a:solidFill>
                  <a:srgbClr val="FF6B35"/>
                </a:solidFill>
                <a:latin typeface="Calibri"/>
              </a:defRPr>
            </a:pPr>
            <a:r>
              <a:t>MetricsPhase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Pre/During/Post</a:t>
            </a:r>
            <a:br/>
            <a:r>
              <a:t>chaos phases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Session grouping via session_id on ChaosRun nodes  |  Writer: 872 lines  |  Reader: 876 lines  |  Lazy neo4j driver import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Export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ChaosProbe produces labeled, time-aligned datasets ready for training anomaly classifiers</a:t>
            </a:r>
            <a:br/>
            <a:r>
              <a:t>and remediation models — the core enabler for the AI feedback loop.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30175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192024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37160"/>
          <a:lstStyle/>
          <a:p>
            <a:pPr algn="ctr">
              <a:spcAft>
                <a:spcPts val="8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Neo4j</a:t>
            </a:r>
            <a:br/>
            <a:r>
              <a:t>Graph Data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Topology, runs,</a:t>
            </a:r>
            <a:br/>
            <a:r>
              <a:t>metrics,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30175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377440"/>
            <a:ext cx="192024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37160"/>
          <a:lstStyle/>
          <a:p>
            <a:pPr algn="ctr">
              <a:spcAft>
                <a:spcPts val="8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Time-Series</a:t>
            </a:r>
            <a:br/>
            <a:r>
              <a:t>Alignment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Multi-source metrics</a:t>
            </a:r>
            <a:br/>
            <a:r>
              <a:t>aligned into buckets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77440"/>
            <a:ext cx="192024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37160"/>
          <a:lstStyle/>
          <a:p>
            <a:pPr algn="ctr">
              <a:spcAft>
                <a:spcPts val="8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Feature</a:t>
            </a:r>
            <a:br/>
            <a:r>
              <a:t>Extraction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Latency, CPU, recovery,</a:t>
            </a:r>
            <a:br/>
            <a:r>
              <a:t>throughput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0175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377440"/>
            <a:ext cx="192024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37160"/>
          <a:lstStyle/>
          <a:p>
            <a:pPr algn="ctr">
              <a:spcAft>
                <a:spcPts val="8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Label</a:t>
            </a:r>
            <a:br/>
            <a:r>
              <a:t>Attachment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Anomaly labels +</a:t>
            </a:r>
            <a:br/>
            <a:r>
              <a:t>cascade 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2377440"/>
            <a:ext cx="1920240" cy="18288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37160"/>
          <a:lstStyle/>
          <a:p>
            <a:pPr algn="ctr">
              <a:spcAft>
                <a:spcPts val="800"/>
              </a:spcAft>
              <a:defRPr sz="1400" b="1">
                <a:solidFill>
                  <a:srgbClr val="FF6B35"/>
                </a:solidFill>
                <a:latin typeface="Calibri"/>
              </a:defRPr>
            </a:pPr>
            <a:r>
              <a:t>CSV / Parquet</a:t>
            </a:r>
            <a:br/>
            <a:r>
              <a:t>Export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ML-ready dataset</a:t>
            </a:r>
            <a:br/>
            <a:r>
              <a:t>for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Dataset columns: timestamp, strategy, experiment, service, fault_type, latency_mean,</a:t>
            </a:r>
            <a:br/>
            <a:r>
              <a:t>latency_p95, cpu_usage, memory_usage, throughput_rps, recovery_time_ms, anomaly_label,</a:t>
            </a:r>
            <a:br/>
            <a:r>
              <a:t>cascade_depth, remediation_action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Load Generation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Locust-based headless load generation with preset profiles simulates real user traffic</a:t>
            </a:r>
            <a:br/>
            <a:r>
              <a:t>during chaos experiments to measure impact on throughput and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377440"/>
            <a:ext cx="2743200" cy="22860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1600"/>
              </a:spcAft>
              <a:defRPr sz="2400" b="1">
                <a:solidFill>
                  <a:srgbClr val="00C9A7"/>
                </a:solidFill>
                <a:latin typeface="Calibri"/>
              </a:defRPr>
            </a:pPr>
            <a:r>
              <a:t>Steady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50 users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10/s spawn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120s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22860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1600"/>
              </a:spcAft>
              <a:defRPr sz="2400" b="1">
                <a:solidFill>
                  <a:srgbClr val="0096D6"/>
                </a:solidFill>
                <a:latin typeface="Calibri"/>
              </a:defRPr>
            </a:pPr>
            <a:r>
              <a:t>Ramp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100 users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5/s spawn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180s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377440"/>
            <a:ext cx="2743200" cy="22860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1600"/>
              </a:spcAft>
              <a:defRPr sz="2400" b="1">
                <a:solidFill>
                  <a:srgbClr val="FF6B35"/>
                </a:solidFill>
                <a:latin typeface="Calibri"/>
              </a:defRPr>
            </a:pPr>
            <a:r>
              <a:t>Spike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200 users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50/s spawn</a:t>
            </a:r>
          </a:p>
          <a:p>
            <a:pPr algn="ctr"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Default locustfile simulates FrontendUser browsing: index → browse → cart → checkout.</a:t>
            </a:r>
            <a:br/>
            <a:r>
              <a:t>Custom locustfiles supported. Stats parsed from CSV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Infrastructure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228600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Local Development — Vagrant + libvirt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• Multi-node KVM/libvirt cluster on local machine</a:t>
            </a:r>
            <a:br/>
            <a:r>
              <a:t>• Default: Ubuntu 22.04, 2 CPUs, 4GB RAM per node</a:t>
            </a:r>
            <a:br/>
            <a:r>
              <a:t>• Automated: init → up → deploy → kubeconfig</a:t>
            </a:r>
            <a:br/>
            <a:r>
              <a:t>• Kubespray v2.24.0 for K8s installation</a:t>
            </a:r>
            <a:br/>
            <a:r>
              <a:t>• Full teardown with vagrant destroy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5029200" cy="228600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Production — Kubespray on Bare Metal / Cloud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• SSH-based deployment to any Linux VMs</a:t>
            </a:r>
            <a:br/>
            <a:r>
              <a:t>• hosts.yaml defines node roles and IPs</a:t>
            </a:r>
            <a:br/>
            <a:r>
              <a:t>• Automatic inventory generation</a:t>
            </a:r>
            <a:br/>
            <a:r>
              <a:t>• Kubeconfig fetch from control plane</a:t>
            </a:r>
            <a:br/>
            <a:r>
              <a:t>• Supports heterogeneous node configs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Auto-Installed Components (via chaosprobe init):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371600" cy="54864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663440"/>
            <a:ext cx="1371600" cy="54864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t>LitmusChaos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663440"/>
            <a:ext cx="1371600" cy="54864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t>ChaosCenter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59" y="4663440"/>
            <a:ext cx="1371600" cy="54864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4663440"/>
            <a:ext cx="1371600" cy="54864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t>metrics-server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4663440"/>
            <a:ext cx="1371600" cy="54864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t>Prometheus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4663440"/>
            <a:ext cx="1371600" cy="54864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t>Neo4j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Graph Analysis &amp;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128016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FF6B35"/>
                </a:solidFill>
                <a:latin typeface="Calibri"/>
              </a:defRPr>
            </a:pPr>
            <a:r>
              <a:t>Blast Radius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Identify upstream services</a:t>
            </a:r>
            <a:br/>
            <a:r>
              <a:t>affected by a failure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291840" cy="128016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96D6"/>
                </a:solidFill>
                <a:latin typeface="Calibri"/>
              </a:defRPr>
            </a:pPr>
            <a:r>
              <a:t>Topology Comparison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Compare placement topologies</a:t>
            </a:r>
            <a:br/>
            <a:r>
              <a:t>across different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291840" cy="128016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Colocation Impact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Measure resource contention</a:t>
            </a:r>
            <a:br/>
            <a:r>
              <a:t>from co-located pods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3291840" cy="128016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BB86FC"/>
                </a:solidFill>
                <a:latin typeface="Calibri"/>
              </a:defRPr>
            </a:pPr>
            <a:r>
              <a:t>Critical Path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Find longest dependency</a:t>
            </a:r>
            <a:br/>
            <a:r>
              <a:t>chain in service 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108960"/>
            <a:ext cx="3291840" cy="1280160"/>
          </a:xfrm>
          <a:prstGeom prst="roundRect">
            <a:avLst/>
          </a:prstGeom>
          <a:solidFill>
            <a:srgbClr val="22223D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096D6"/>
                </a:solidFill>
                <a:latin typeface="Calibri"/>
              </a:defRPr>
            </a:pPr>
            <a:r>
              <a:t>Strategy Summary</a:t>
            </a:r>
          </a:p>
          <a:p>
            <a:pPr>
              <a:defRPr sz="1200">
                <a:solidFill>
                  <a:srgbClr val="CCCCCC"/>
                </a:solidFill>
                <a:latin typeface="Calibri"/>
              </a:defRPr>
            </a:pPr>
            <a:r>
              <a:t>Aggregate outcomes grouped</a:t>
            </a:r>
            <a:br/>
            <a:r>
              <a:t>by placement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Visualization Outputs: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Resilience score bar charts per strategy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Recovery time comparison (mean/p95)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Latency &amp; throughput by strategy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Resource utilization comparison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Prometheus metrics by experiment phase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HTML summary report with all 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CLI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  <a:latin typeface="Calibri"/>
              </a:defRPr>
            </a:pPr>
            <a:r>
              <a:t>Core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init          — Install all infrastructure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run -n &lt;ns&gt;   — Run placement experiment matrix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status        — Check prerequisites &amp; connectivity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compare       — Diff before/after runs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delete        — Remove all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59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  <a:latin typeface="Calibri"/>
              </a:defRPr>
            </a:pPr>
            <a:r>
              <a:t>Data &amp;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18288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graph status     — Neo4j connection status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graph blast-radius &lt;svc&gt;  — Failure impact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visualize        — Generate charts &amp; HTML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ml-export        — Export ML datasets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  <a:latin typeface="Calibri"/>
              </a:defRPr>
            </a:pPr>
            <a:r>
              <a:t>Cluster &amp; Infra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cluster vagrant init/up/deploy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cluster create --hosts-file &lt;f&gt;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placement apply &lt;strategy&gt;</a:t>
            </a:r>
          </a:p>
          <a:p>
            <a:pPr>
              <a:spcAft>
                <a:spcPts val="500"/>
              </a:spcAft>
              <a:defRPr sz="1200">
                <a:solidFill>
                  <a:srgbClr val="CCCCCC"/>
                </a:solidFill>
                <a:latin typeface="Consolas"/>
              </a:defRPr>
            </a:pPr>
            <a:r>
              <a:t>chaosprobe dashboard install/status/open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All commands use the uv run chaosprobe prefix. Built with Click framework.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Summary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381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A7"/>
                </a:solidFill>
                <a:latin typeface="Calibri"/>
              </a:defRPr>
            </a:pPr>
            <a:r>
              <a:t>Key Achievements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End-to-end chaos testing framework for Kubernetes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5 placement strategies with automated comparison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Real-time metrics collection (6 prober types)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Neo4j graph store with rich topology modeling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ML-ready dataset export (CSV/Parquet)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AI feedback loop for automated remediation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490 tests | ~19,000 lines | 34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◦ </a:t>
            </a:r>
            <a:r>
              <a:rPr sz="1500">
                <a:solidFill>
                  <a:srgbClr val="FFFFFF"/>
                </a:solidFill>
                <a:latin typeface="Calibri"/>
              </a:rPr>
              <a:t>Train anomaly classifiers on exported datasets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◦ </a:t>
            </a:r>
            <a:r>
              <a:rPr sz="1500">
                <a:solidFill>
                  <a:srgbClr val="FFFFFF"/>
                </a:solidFill>
                <a:latin typeface="Calibri"/>
              </a:rPr>
              <a:t>Automated remediation action generation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◦ </a:t>
            </a:r>
            <a:r>
              <a:rPr sz="1500">
                <a:solidFill>
                  <a:srgbClr val="FFFFFF"/>
                </a:solidFill>
                <a:latin typeface="Calibri"/>
              </a:rPr>
              <a:t>Real-time dashboard with live experiment views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◦ </a:t>
            </a:r>
            <a:r>
              <a:rPr sz="1500">
                <a:solidFill>
                  <a:srgbClr val="FFFFFF"/>
                </a:solidFill>
                <a:latin typeface="Calibri"/>
              </a:rPr>
              <a:t>Multi-cluster support for distributed testing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◦ </a:t>
            </a:r>
            <a:r>
              <a:rPr sz="1500">
                <a:solidFill>
                  <a:srgbClr val="FFFFFF"/>
                </a:solidFill>
                <a:latin typeface="Calibri"/>
              </a:rPr>
              <a:t>Integration with CI/CD pipelines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◦ </a:t>
            </a:r>
            <a:r>
              <a:rPr sz="1500">
                <a:solidFill>
                  <a:srgbClr val="FFFFFF"/>
                </a:solidFill>
                <a:latin typeface="Calibri"/>
              </a:rPr>
              <a:t>Expand to non-LitmusChaos fault injectors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5303520"/>
            <a:ext cx="8534095" cy="914400"/>
          </a:xfrm>
          <a:prstGeom prst="roundRect">
            <a:avLst/>
          </a:prstGeom>
          <a:solidFill>
            <a:srgbClr val="22223D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sz="1600" i="1">
                <a:solidFill>
                  <a:srgbClr val="FFFFFF"/>
                </a:solidFill>
                <a:latin typeface="Calibri"/>
              </a:rPr>
              <a:t>ChaosProbe bridges the gap between chaos engineering and AI-driven resilience,
</a:t>
            </a:r>
            <a:r>
              <a:rPr sz="1600" i="1">
                <a:solidFill>
                  <a:srgbClr val="FFFFFF"/>
                </a:solidFill>
                <a:latin typeface="Calibri"/>
              </a:rPr>
              <a:t>providing the structured data needed to make Kubernetes self-healing.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217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