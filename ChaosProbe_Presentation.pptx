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ChaosProbe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96D6"/>
                </a:solidFill>
                <a:latin typeface="Calibri"/>
              </a:defRPr>
            </a:pPr>
            <a:r>
              <a:t>Measuring the Impact of Chaos in Differing</a:t>
            </a:r>
            <a:br/>
            <a:r>
              <a:t>Placement Strategies within Cloud Systems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840480"/>
            <a:ext cx="393192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2062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DBDBD"/>
                </a:solidFill>
                <a:latin typeface="Calibri"/>
              </a:defRPr>
            </a:pPr>
            <a:r>
              <a:t>MSc Thesis Defense — University of Amsterdam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8463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090A0"/>
                </a:solidFill>
                <a:latin typeface="Calibri"/>
              </a:defRPr>
            </a:pPr>
            <a: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Background &amp; Motivation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18288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98DB"/>
                </a:solidFill>
                <a:latin typeface="Calibri"/>
              </a:defRPr>
            </a:pPr>
            <a:r>
              <a:t>Microservice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Decomposed services with independent lifecycles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Communicate via network (HTTP / gRPC / Redis)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Deployed as containers orchestrated by Kubernetes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Independently scalable — but failures can cascade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18288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The Placement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K8s scheduler optimizes for resource fit,</a:t>
            </a:r>
            <a:br/>
            <a:r>
              <a:t>  not for resilience or fault isolation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Pod placement determines which services share</a:t>
            </a:r>
            <a:br/>
            <a:r>
              <a:t>  node resources (CPU, memory, disk, network)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Co-located services suffer correlated failures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474720"/>
            <a:ext cx="530352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4747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Chaos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Discipline of experimenting on systems to build</a:t>
            </a:r>
            <a:br/>
            <a:r>
              <a:t>  confidence in resilience (Basiri et al., 2016)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Controlled fault injection reveals weaknesses</a:t>
            </a:r>
            <a:br/>
            <a:r>
              <a:t>  before they manifest in production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474720"/>
            <a:ext cx="530352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4747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Research 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8404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Existing work studies placement OR resilience,</a:t>
            </a:r>
            <a:br/>
            <a:r>
              <a:t>  but rarely their interaction under fault injection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No systematic framework to quantify how</a:t>
            </a:r>
            <a:br/>
            <a:r>
              <a:t>  placement topology affects chaos resilience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212080"/>
            <a:ext cx="11064240" cy="13716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2120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Our Approach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5778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DBDBD"/>
                </a:solidFill>
                <a:latin typeface="Calibri"/>
              </a:defRPr>
            </a:pPr>
            <a:r>
              <a:t>ChaosProbe: an automated framework that systematically varies pod placement strategies, injects faults via LitmusChaos, and measures recovery time, inter-service latency, resource utilization, and I/O throughput to quantify placement's impact on resilience.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6126480"/>
            <a:ext cx="1828800" cy="32004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Deploy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17520" y="6126480"/>
            <a:ext cx="182880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Place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03520" y="6126480"/>
            <a:ext cx="182880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Inject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6126480"/>
            <a:ext cx="1828800" cy="32004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Measure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75520" y="6126480"/>
            <a:ext cx="182880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Compare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560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846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132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418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Research Question &amp; Hypotheses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11064240" cy="777240"/>
          </a:xfrm>
          <a:prstGeom prst="roundRect">
            <a:avLst/>
          </a:prstGeom>
          <a:solidFill>
            <a:srgbClr val="121222"/>
          </a:solidFill>
          <a:ln w="381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How do multi-dimensional metrics decompose chaos response across pod-placement strategies in Kubernetes?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23317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Primary results — metrics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23317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96D6"/>
                </a:solidFill>
                <a:latin typeface="Calibri"/>
              </a:defRPr>
            </a:pPr>
            <a:r>
              <a:t>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23317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Context &amp; support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0040" y="2651760"/>
            <a:ext cx="1874519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Spreading flushes conn-state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Primary metric. Under churn, spread/default flush 36-39% of node conntrack entries; colocate stays flat (−1.6%). 12/12 runs. The reproducible fault-response signal.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4027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40279" y="2651760"/>
            <a:ext cx="1874519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Co-location lowers CPU contention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Colocate throttles less than default/spread (during-chaos rate 1.54 vs 1.90, 1.94), with lower CPU usage/pressure. 11/13 runs. Contention does not scale with density under churn.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051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160519" y="2651760"/>
            <a:ext cx="1874519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5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'Spread is safer' doesn't transfer to churn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5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Both reproducible metrics favour co-location under churn. The literature's spread-isolation prescription is inapplicable at the mechanism layer — and does NOT reach the user (decoupling).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5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080759" y="2651760"/>
            <a:ext cx="1874519" cy="32004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19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96D6"/>
                </a:solidFill>
                <a:latin typeface="Calibri"/>
              </a:defRPr>
            </a:pPr>
            <a:r>
              <a:t>Score decoupled from metrics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19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Where conntrack &amp; CPU reproduce (≥11/13), the resilience score does NOT (33-89 across runs). The binary-probe score is a lossy instrument; the metrics are the reliable outcome.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099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00999" y="2651760"/>
            <a:ext cx="1874519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3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Mechanism signal is churn-specific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3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cpu-hog (n=2) does not reproduce: one run scored ~100 across strategies, one saw many iterations fail (33-67, σ≈58). The score is noisy under both faults; the reproducible M1/M2 signal is churn-specific.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2123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921239" y="2651760"/>
            <a:ext cx="1874519" cy="32004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1267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Recovery split is unstable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1267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The d2s/s2r split is run-dependent: app-startup dominates in some runs (84-96%), the scheduling term in others (up to ~78%). Recovery decomposition is not a stable placement signal.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090A0"/>
                </a:solidFill>
                <a:latin typeface="Calibri"/>
              </a:defRPr>
            </a:pPr>
            <a:r>
              <a:t>Each hypothesis is testable from ChaosProbe-collected metrics; the data column reports current evidence.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Related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BC9C"/>
                </a:solidFill>
                <a:latin typeface="Calibri"/>
              </a:defRPr>
            </a:pPr>
            <a:r>
              <a:t>Pod Placement &amp;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Borg (Verma et al., 2015)</a:t>
            </a:r>
            <a:br/>
            <a:r>
              <a:t>  Resource-aware bin-packing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Medea (Garefalakis et al., 2018)</a:t>
            </a:r>
            <a:br/>
            <a:r>
              <a:t>  Topology spread constraints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DeathStarBench (Gan et al., 2019)</a:t>
            </a:r>
            <a:br/>
            <a:r>
              <a:t>  Dependency-graph-aware placement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Mars (2011); Delimitrou (2014)</a:t>
            </a:r>
            <a:br/>
            <a:r>
              <a:t>  Contention-aware co-scheduling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Liu et al. (arXiv 2507.16109, 2025)</a:t>
            </a:r>
            <a:br/>
            <a:r>
              <a:t>  Cloud-edge placement under churn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Chaos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Principles of Chaos Engineering</a:t>
            </a:r>
            <a:br/>
            <a:r>
              <a:t>  (Basiri et al., 2016)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LitmusChaos — CNCF sandbox</a:t>
            </a:r>
            <a:br/>
            <a:r>
              <a:t>  ChaosEngine CRDs + ChaosCenter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Chaos Monkey (Netflix, 2011)</a:t>
            </a:r>
            <a:br/>
            <a:r>
              <a:t>  Random instance termination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Mutiny! K8s churn injection</a:t>
            </a:r>
            <a:br/>
            <a:r>
              <a:t>  (DSN 2024) — closest peer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Tail at Scale (Dean &amp; Barroso,</a:t>
            </a:r>
            <a:br/>
            <a:r>
              <a:t>  2013) — latency sensitivity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Gap — Our Contribution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Existing work studies placement</a:t>
            </a:r>
            <a:br/>
            <a:r>
              <a:t>  OR resilience — not their interaction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No framework systematically varies</a:t>
            </a:r>
            <a:br/>
            <a:r>
              <a:t>  placement under controlled chaos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Missing: quantitative comparison</a:t>
            </a:r>
            <a:br/>
            <a:r>
              <a:t>  across multiple dimensions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ChaosProbe bridges this gap:</a:t>
            </a:r>
            <a:br/>
            <a:r>
              <a:t>  6 strategies × 2 faults × 4 metrics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Graph storage preserves causal</a:t>
            </a:r>
            <a:br/>
            <a:r>
              <a:t>  topology for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60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Expected Contention by Placement (Literature-Informed Hypotheses)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5989320"/>
          <a:ext cx="11247120" cy="77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Colocate Impact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Key Reference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CPU Contention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Millicores, throttle seconds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cores → throttling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Burns et al. (2016)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Memory Pressure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Working set bytes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memory → evictions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Verma et al. (2015)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Network Latency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HTTP response time (ms)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network stack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Gan et al. (2019)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Disk I/O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Sequential R/W bytes/s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bandwidth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Dean &amp; Barroso (2013)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Placement Strategies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DBDBD"/>
                </a:solidFill>
                <a:latin typeface="Calibri"/>
              </a:defRPr>
            </a:pPr>
            <a:r>
              <a:t>Independent variable: 6 strategies + baseline + default scheduler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7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F8C8D"/>
                </a:solidFill>
                <a:latin typeface="Calibri"/>
              </a:defRPr>
            </a:pPr>
            <a:r>
              <a:t>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Null-injection control</a:t>
            </a:r>
            <a:br/>
            <a:r>
              <a:t>Default scheduler + trivial fault</a:t>
            </a:r>
            <a:br/>
            <a:r>
              <a:t>(1% CPU, 1s) — validates methodology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56816" y="2139696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00884" y="2139696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956816" y="2395728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00884" y="2395728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Contention: None (control)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100%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Basiri et al., IEEE SW 2016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735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98DB"/>
                </a:solidFill>
                <a:latin typeface="Calibri"/>
              </a:defRPr>
            </a:pPr>
            <a:r>
              <a:t>Default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735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Default K8s scheduler</a:t>
            </a:r>
            <a:br/>
            <a:r>
              <a:t>Full chaos injection</a:t>
            </a:r>
            <a:br/>
            <a:r>
              <a:t>Scheduler-determined placement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28616" y="2139696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72683" y="2139696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928616" y="2395728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72683" y="2395728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735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Scheduler-set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735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Placement null hypothesis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735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Burns et al., ACM Queue 2016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53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Calibri"/>
              </a:defRPr>
            </a:pPr>
            <a:r>
              <a:t>Colocate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53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All pods pinned to a single node</a:t>
            </a:r>
            <a:br/>
            <a:r>
              <a:t>via nodeSelector (hostname)</a:t>
            </a:r>
            <a:br/>
            <a:r>
              <a:t>Maximal co-location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0416" y="2139696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94726" y="2235708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0416" y="2331720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94726" y="2427732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453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74C3C"/>
                </a:solidFill>
                <a:latin typeface="Calibri"/>
              </a:defRPr>
            </a:pPr>
            <a:r>
              <a:t>Contention: Maximum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453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worst resilience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453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Mars 2011; Delimitrou 2014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171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Spread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171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Even distribution across workers</a:t>
            </a:r>
            <a:br/>
            <a:r>
              <a:t>via per-node nodeSelector</a:t>
            </a:r>
            <a:br/>
            <a:r>
              <a:t>Minimal per-node contention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716768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1027664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1338560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1649456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171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Contention: Minimum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171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best isolation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171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Medea (Garefalakis 2018)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286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017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39C12"/>
                </a:solidFill>
                <a:latin typeface="Calibri"/>
              </a:defRPr>
            </a:pPr>
            <a:r>
              <a:t>Random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17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Seeded random assignment</a:t>
            </a:r>
            <a:br/>
            <a:r>
              <a:t>Reproducible null baseline</a:t>
            </a:r>
            <a:br/>
            <a:r>
              <a:t>for topology effects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879092" y="4608576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423160" y="4864608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879092" y="4864608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423160" y="4608576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017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Variable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17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Seeded; reproducible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17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Sparrow (Ousterhout SOSP 2013)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2004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735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B59B6"/>
                </a:solidFill>
                <a:latin typeface="Calibri"/>
              </a:defRPr>
            </a:pPr>
            <a:r>
              <a:t>Adversarial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735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Heavy pods → single node (worst-fit)</a:t>
            </a:r>
            <a:br/>
            <a:r>
              <a:t>Light pods → remaining nodes</a:t>
            </a:r>
            <a:br/>
            <a:r>
              <a:t>Intentional CPU/mem hotspot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850892" y="4608576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045202" y="4704588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394959" y="4736592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628131" y="4864608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2735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74C3C"/>
                </a:solidFill>
                <a:latin typeface="Calibri"/>
              </a:defRPr>
            </a:pPr>
            <a:r>
              <a:t>Contention: High (asymmetric)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735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Resource-weighted hotspot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735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Worst-fit; Cortez 2017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1722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453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Best-fit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453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Pack into fewest nodes</a:t>
            </a:r>
            <a:br/>
            <a:r>
              <a:t>(bin-packing decreasing)</a:t>
            </a:r>
            <a:br/>
            <a:r>
              <a:t>Borg-style resource scoring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822692" y="4608576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8017002" y="4704588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900416" y="4832604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8561070" y="473659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453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Moderate (packed)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453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Minimizes nodes used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453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Borg (Verma 2015; Burns 2016)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1440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2171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  <a:latin typeface="Calibri"/>
              </a:defRPr>
            </a:pPr>
            <a:r>
              <a:t>Dependency-aware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2171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Co-locate communicating services</a:t>
            </a:r>
            <a:br/>
            <a:r>
              <a:t>via service-graph partitioning</a:t>
            </a:r>
            <a:br/>
            <a:r>
              <a:t>(BFS from entry-point root)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794492" y="4640580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10988802" y="4736592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11416284" y="4672584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11571732" y="4832604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2171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Moderate (grouped)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171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Preserves service-graph edges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2171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DeathStarBench (Gan ASPLOS 2019)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8600" y="6355080"/>
            <a:ext cx="1175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Analytic weight: the reproducible findings (M1 conntrack flush, M2 CPU throttling) rest on the colocate vs. spread/default locality contrast. Random, adversarial, best-fit &amp; dependency-aware are a generality check — designed for the contention hypothesis, present in only half the run set, they widen the placements the noisy score still can't rank (M4) and await the cpu-hog contention matrix.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Experimental Setup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32004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Target Application — Google Online Boutique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1828800"/>
            <a:ext cx="164592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productcatalog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1188719" y="2194560"/>
            <a:ext cx="2194561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0116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currency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560320" y="2194560"/>
            <a:ext cx="82296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3832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cart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83280" y="2194560"/>
            <a:ext cx="54864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7548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recommend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383280" y="2194560"/>
            <a:ext cx="192024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554480" y="292608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checkout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2103120" y="2194560"/>
            <a:ext cx="1280160" cy="73152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200400" y="2926080"/>
            <a:ext cx="109728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redis-cart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108960" y="2697480"/>
            <a:ext cx="640079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400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email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1188719" y="3246120"/>
            <a:ext cx="914401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0116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payment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03120" y="3246120"/>
            <a:ext cx="457200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3832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shipping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103120" y="3246120"/>
            <a:ext cx="1828800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7548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ad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383280" y="2194560"/>
            <a:ext cx="1920240" cy="128016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40080" y="39319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11 services (10 polyglot microservices + Redis)</a:t>
            </a:r>
            <a:br/>
            <a:r>
              <a:t>Single replica per service — 100% pod-delete = full unavailability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1371600"/>
            <a:ext cx="5303520" cy="20116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13716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F8C8D"/>
                </a:solidFill>
                <a:latin typeface="Calibri"/>
              </a:defRPr>
            </a:pPr>
            <a:r>
              <a:t>Cluster Topology (Vagrant / libvirt)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1737360"/>
            <a:ext cx="1554480" cy="640080"/>
          </a:xfrm>
          <a:prstGeom prst="roundRect">
            <a:avLst/>
          </a:prstGeom>
          <a:solidFill>
            <a:srgbClr val="223355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173736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6D6"/>
                </a:solidFill>
                <a:latin typeface="Calibri"/>
              </a:defRPr>
            </a:pPr>
            <a:r>
              <a:t>cp1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19659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12 GiB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9244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244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6968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1540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1540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9264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3836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3836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51560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6132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6132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24688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090A0"/>
                </a:solidFill>
                <a:latin typeface="Calibri"/>
              </a:defRPr>
            </a:pPr>
            <a:r>
              <a:t>K8s v1.28.6 • Calico CNI • containerd 1.7.11 • Total: 10 vCPU, 28 GiB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4754880"/>
            <a:ext cx="5486400" cy="19202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47548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Multi-Fault Placement Matrix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640080" y="5074920"/>
          <a:ext cx="51206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17068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Churn (pod-delete)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Contention (pod-cpu-hog)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productcatalogservice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productcatalogservice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120s (CHAOS_INTERVAL=15s)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120s (1 core, 100% load)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Probes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7 httpProbes + 5 cmdProbes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Same probe set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Tests churn-class story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Tests if literature returns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49" name="Rounded Rectangle 48"/>
          <p:cNvSpPr/>
          <p:nvPr/>
        </p:nvSpPr>
        <p:spPr>
          <a:xfrm>
            <a:off x="6217920" y="3566160"/>
            <a:ext cx="5303520" cy="10058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0" y="35661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F8C8D"/>
                </a:solidFill>
                <a:latin typeface="Calibri"/>
              </a:defRPr>
            </a:pPr>
            <a:r>
              <a:t>Baseline — Methodology Control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38862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Swaps pod-delete → trivial pod-cpu-hog (DURATION=1s, CPU_LOAD=1%).</a:t>
            </a:r>
            <a:br/>
            <a:r>
              <a:t>Validates probes &amp; scoring: expected 100%, 0 recovery cycles — any drift</a:t>
            </a:r>
            <a:br/>
            <a:r>
              <a:t>indicates pre-existing instability rather than placement effects.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17920" y="4754880"/>
            <a:ext cx="5303520" cy="19202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0" y="47548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Calibri"/>
              </a:defRPr>
            </a:pPr>
            <a:r>
              <a:t>Infrastructure Components</a:t>
            </a:r>
          </a:p>
        </p:txBody>
      </p:sp>
      <p:graphicFrame>
        <p:nvGraphicFramePr>
          <p:cNvPr id="54" name="Table 53"/>
          <p:cNvGraphicFramePr>
            <a:graphicFrameLocks noGrp="1"/>
          </p:cNvGraphicFramePr>
          <p:nvPr/>
        </p:nvGraphicFramePr>
        <p:xfrm>
          <a:off x="6400800" y="5074920"/>
          <a:ext cx="49377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4688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76200" marR="76200" marT="38100" marB="38100">
                    <a:solidFill>
                      <a:srgbClr val="9B59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76200" marR="76200" marT="38100" marB="38100">
                    <a:solidFill>
                      <a:srgbClr val="9B59B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LitmusChaos + ChaosCenter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Fault injection engine (Helm)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 + kube-state-metrics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Cluster metrics (PromQL)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Neo4j 5 Community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Graph storage (14 node types, 18 rels)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Locust (steady: 50 users, 10/s)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Load generation (120s)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ChaosProbe — 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ChaosProbe (our contribution)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64592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BC9C"/>
                </a:solidFill>
                <a:latin typeface="Calibri"/>
              </a:defRPr>
            </a:pPr>
            <a:r>
              <a:t>Placement</a:t>
            </a:r>
            <a:br/>
            <a:r>
              <a:t>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5740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6 strategies: mutate nodeSelector</a:t>
            </a:r>
            <a:br/>
            <a:r>
              <a:t>per deployment to target nodes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74320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Metrics</a:t>
            </a:r>
            <a:br/>
            <a:r>
              <a:t>Collection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15468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6 continuous probers (threads):</a:t>
            </a:r>
            <a:br/>
            <a:r>
              <a:t>recovery, latency, resources,</a:t>
            </a:r>
            <a:br/>
            <a:r>
              <a:t>Redis, disk, Prometheus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384048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Result</a:t>
            </a:r>
            <a:br/>
            <a:r>
              <a:t>Aggregation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25196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ChaosResult CRDs, probe verdicts,</a:t>
            </a:r>
            <a:br/>
            <a:r>
              <a:t>resilience scoring, phase tracking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08960" y="164592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98DB"/>
                </a:solidFill>
                <a:latin typeface="Calibri"/>
              </a:defRPr>
            </a:pPr>
            <a:r>
              <a:t>Orchestrator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05740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Strategy runner, run phases,</a:t>
            </a:r>
            <a:br/>
            <a:r>
              <a:t>preflight checks, port-forward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0" y="274320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Graph</a:t>
            </a:r>
            <a:br/>
            <a:r>
              <a:t>Storage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15468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Neo4j writer/reader: 14 node types,</a:t>
            </a:r>
            <a:br/>
            <a:r>
              <a:t>18 relationships, Cypher queries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08960" y="384048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Visualization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25196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matplotlib charts, HTML report,</a:t>
            </a:r>
            <a:br/>
            <a:r>
              <a:t>ML export (CSV/Parquet)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F8C8D"/>
                </a:solidFill>
                <a:latin typeface="Calibri"/>
              </a:defRPr>
            </a:pPr>
            <a:r>
              <a:t>Infrastructure (existing tools)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64592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59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LitmusChaos +</a:t>
            </a:r>
            <a:br/>
            <a:r>
              <a:t>ChaosCenter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59" y="205740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Fault injection engine.</a:t>
            </a:r>
            <a:br/>
            <a:r>
              <a:t>ChaosEngine CRDs, Argo Workflows,</a:t>
            </a:r>
            <a:br/>
            <a:r>
              <a:t>ChaosCenter dashboard + API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74320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59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Prometheus +</a:t>
            </a:r>
            <a:br/>
            <a:r>
              <a:t>kube-state-metrics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315468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Cluster monitoring.</a:t>
            </a:r>
            <a:br/>
            <a:r>
              <a:t>PromQL queries for pod_ready,</a:t>
            </a:r>
            <a:br/>
            <a:r>
              <a:t>CPU throttle, memory, network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384048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59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Neo4j 5</a:t>
            </a:r>
            <a:br/>
            <a:r>
              <a:t>Community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59" y="425196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Graph database.</a:t>
            </a:r>
            <a:br/>
            <a:r>
              <a:t>14 node types, 18 relationships.</a:t>
            </a:r>
            <a:br/>
            <a:r>
              <a:t>Cypher query language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52560" y="164592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BC9C"/>
                </a:solidFill>
                <a:latin typeface="Calibri"/>
              </a:defRPr>
            </a:pPr>
            <a:r>
              <a:t>Kubernetes</a:t>
            </a:r>
            <a:br/>
            <a:r>
              <a:t>v1.28.6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205740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Container orchestration.</a:t>
            </a:r>
            <a:br/>
            <a:r>
              <a:t>containerd runtime, Metrics API,</a:t>
            </a:r>
            <a:br/>
            <a:r>
              <a:t>Watch API for recovery tracking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52560" y="274320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98DB"/>
                </a:solidFill>
                <a:latin typeface="Calibri"/>
              </a:defRPr>
            </a:pPr>
            <a:r>
              <a:t>Locust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315468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Load generation.</a:t>
            </a:r>
            <a:br/>
            <a:r>
              <a:t>Configurable user count, spawn rate.</a:t>
            </a:r>
            <a:br/>
            <a:r>
              <a:t>HTTP traffic to entry-point service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52560" y="384048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7F8C8D"/>
                </a:solidFill>
                <a:latin typeface="Calibri"/>
              </a:defRPr>
            </a:pPr>
            <a:r>
              <a:t>Vagrant</a:t>
            </a:r>
            <a:br/>
            <a:r>
              <a:t>(libvirt/KVM)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0" y="425196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VM provisioning.</a:t>
            </a:r>
            <a:br/>
            <a:r>
              <a:t>5 VMs: 1 control plane +</a:t>
            </a:r>
            <a:br/>
            <a:r>
              <a:t>4 worker nodes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669280" y="210312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669280" y="320040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669280" y="429768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669280" y="1874519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uses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0" y="29718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queries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0" y="406908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stores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Experiment Lifecycle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4320" y="5394960"/>
            <a:ext cx="2011680" cy="914400"/>
          </a:xfrm>
          <a:prstGeom prst="roundRect">
            <a:avLst/>
          </a:prstGeom>
          <a:solidFill>
            <a:srgbClr val="3498DB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0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1. Configure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Load YAML</a:t>
            </a:r>
            <a:br/>
            <a:r>
              <a:t>Validate specs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560320" y="5394960"/>
            <a:ext cx="2011680" cy="914400"/>
          </a:xfrm>
          <a:prstGeom prst="roundRect">
            <a:avLst/>
          </a:prstGeom>
          <a:solidFill>
            <a:srgbClr val="1ABC9C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606039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2. Place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51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Apply strategy</a:t>
            </a:r>
            <a:br/>
            <a:r>
              <a:t>Patch nodeSelector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846320" y="5394960"/>
            <a:ext cx="2011680" cy="914400"/>
          </a:xfrm>
          <a:prstGeom prst="roundRect">
            <a:avLst/>
          </a:prstGeom>
          <a:solidFill>
            <a:srgbClr val="E74C3C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92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3. Inject Chaos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37759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ChaosEngine</a:t>
            </a:r>
            <a:br/>
            <a:r>
              <a:t>via ChaosCenter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132320" y="5394960"/>
            <a:ext cx="2011680" cy="914400"/>
          </a:xfrm>
          <a:prstGeom prst="roundRect">
            <a:avLst/>
          </a:prstGeom>
          <a:solidFill>
            <a:srgbClr val="2ECC71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78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4. Measure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23759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6 probers</a:t>
            </a:r>
            <a:br/>
            <a:r>
              <a:t>+ load generator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418320" y="5394960"/>
            <a:ext cx="2011680" cy="914400"/>
          </a:xfrm>
          <a:prstGeom prst="roundRect">
            <a:avLst/>
          </a:prstGeom>
          <a:solidFill>
            <a:srgbClr val="9B59B6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464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5. Store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09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Neo4j sync</a:t>
            </a:r>
            <a:br/>
            <a:r>
              <a:t>Charts + export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286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572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6858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9144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Measurement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Three-Phase Measurement Window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08760"/>
            <a:ext cx="3200400" cy="41148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PreChaos — steady state (60s)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1508760"/>
            <a:ext cx="4114800" cy="41148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DuringChaos — fault active (120s)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508760"/>
            <a:ext cx="3474720" cy="4114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PostChaos — recovery sampling (60s)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6 Continuous Probers (Background Threads)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2560320"/>
          <a:ext cx="6858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Prober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Data Source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Interval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RecoveryWatcher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deletion→scheduled (d2s) + scheduled→ready (s2r) split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K8s Watch API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Real-time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LatencyProber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HTTP route latency + error rates + per-pod stddev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python3/wget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3.5s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RedisProber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Redis ops/s (GET/SET throughput)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redis-cli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DiskProber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Sequential disk R/W bytes/s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dd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ResourceProber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Node/pod CPU (millicores) + memory (used-nodes only)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Metrics API (v1beta1)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PrometheusProber (app)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pod_ready, CPU/memory, throttle, net rx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PromQL queries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PrometheusProber (churn)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kube-proxy SLO p99, CoreDNS p99, conntrack, TCP retrans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PromQL — SIG-Scalability metrics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98079" y="21945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Resilience Probes (LitmusChaos)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4389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</a:tblGrid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Probe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Mode (interval)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Timeout / retries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frontend-product-strict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(2s)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1 retry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frontend-homepage-strict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(2s)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1 retry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frontend-homepage-moderate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(5s)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frontend-product-moderate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(5s)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frontend-cart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(6s)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frontend-homepage-loose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(6s)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frontend-healthz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(4s)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3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498079" y="45262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+ 5 Rust cmdProbes: check-redis, check-http-latency,</a:t>
            </a:r>
            <a:br/>
            <a:r>
              <a:t>  check-dns-latency, check-tcp-connect, check-cart-flow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Resilience Scoring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394960"/>
            <a:ext cx="5029200" cy="457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4406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mean = Σ(probeSuccess%)/N · also report p25, harmonic mean, 95% bootstrap CI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1228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17%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33%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49640" y="5394960"/>
            <a:ext cx="73152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50%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18320" y="5394960"/>
            <a:ext cx="73152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67%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87000" y="5394960"/>
            <a:ext cx="731520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83%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155680" y="5394960"/>
            <a:ext cx="731520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897880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090A0"/>
                </a:solidFill>
                <a:latin typeface="Calibri"/>
              </a:defRPr>
            </a:pPr>
            <a:r>
              <a:t>Total disruption  ←                              →  No visible impact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0350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Bootstrap 95% CI on the mean + Holm-Bonferroni-adjusted pairwise Mann-Whitney U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Recovery time split: scheduler-stall (d2s) vs container start-up (s2r)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60350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kube-proxy SLO + CoreDNS p99 + conntrack measured directly (SIG-Scalability)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Heterogeneity confound: score vs host-node RAM scatter (Threats-to-Validity)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Why the Score Is Demoted (M4)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6858000" cy="41148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09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0">
                <a:solidFill>
                  <a:srgbClr val="9090A0"/>
                </a:solidFill>
                <a:latin typeface="Calibri"/>
              </a:defRPr>
            </a:pPr>
            <a:r>
              <a:t>[Resilience Score Distribution Across Runs]</a:t>
            </a:r>
            <a:br/>
            <a:br/>
            <a:r>
              <a:t>Box plot of resilience score (0–100%) per</a:t>
            </a:r>
            <a:br/>
            <a:r>
              <a:t>strategy across all churn runs — the boxes</a:t>
            </a:r>
            <a:br/>
            <a:r>
              <a:t>overlap, so the score cannot rank placements.</a:t>
            </a:r>
            <a:br/>
            <a:br/>
            <a:r>
              <a:t>Generated by: scripts/distribution_charts.py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280160"/>
            <a:ext cx="39319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13258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Key Observations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16916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Baseline: 100% (stddev 0) —</a:t>
            </a:r>
            <a:br/>
            <a:r>
              <a:t>  methodology control holds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The score does NOT reproduce across the 13</a:t>
            </a:r>
            <a:br/>
            <a:r>
              <a:t>  churn runs (≥3 iters, post-fix, baseline=100):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    colocate 49.7–83  (mean 69.5)</a:t>
            </a:r>
            <a:br/>
            <a:r>
              <a:t>    spread   33–88.7  (mean 70.5)</a:t>
            </a:r>
            <a:br/>
            <a:r>
              <a:t>    default  33–83    (mean 58.9)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Within-strategy stddev (11–17) dwarfs</a:t>
            </a:r>
            <a:br/>
            <a:r>
              <a:t>  the colocate-vs-spread gap (~1 point)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So the aggregate score cannot rank</a:t>
            </a:r>
            <a:br/>
            <a:r>
              <a:t>  placements — the signal is elsewhere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669280"/>
            <a:ext cx="11247120" cy="9144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66928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M4 — the score is decoupled from the reproducible 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L1 (colocate = worst): N/A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L2 (spread = best): N/A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L3 (recovery → score): N/A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The aggregate score is not reproducible run-to-run, so it cannot adjudicate L1–L3. They are resolved instead at the mechanism layer (next slides), where the signal IS stable.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Recovery Time &amp; Latency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280160"/>
            <a:ext cx="5669280" cy="3200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09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0">
                <a:solidFill>
                  <a:srgbClr val="9090A0"/>
                </a:solidFill>
                <a:latin typeface="Calibri"/>
              </a:defRPr>
            </a:pPr>
            <a:r>
              <a:t>[Recovery Times by Strategy]</a:t>
            </a:r>
            <a:br/>
            <a:br/>
            <a:r>
              <a:t>Box plot: pod deletion → ready (ms)</a:t>
            </a:r>
            <a:br/>
            <a:r>
              <a:t>per placement strategy.</a:t>
            </a:r>
            <a:br/>
            <a:br/>
            <a:r>
              <a:t>Generated by: chaosprobe visualize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Recovery Time (pod deletion → ready)</a:t>
            </a:r>
          </a:p>
        </p:txBody>
      </p:sp>
      <p:pic>
        <p:nvPicPr>
          <p:cNvPr id="6" name="Picture 5" descr="latency_degra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80160"/>
            <a:ext cx="566928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Latency Degradation (Pre-Chaos vs During-Chaos)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Recovery split is unstable (S2)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Recovery = deletion→scheduled + scheduled→ready;</a:t>
            </a:r>
            <a:br/>
            <a:r>
              <a:t>  their split is run-dependent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app-startup dominates in some runs (84–96%),</a:t>
            </a:r>
            <a:br/>
            <a:r>
              <a:t>  the scheduling term in others (up to ~78%)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Either way recovery rank is noise run-to-run — it</a:t>
            </a:r>
            <a:br/>
            <a:r>
              <a:t>  does not track the placement story (L3 inapplicable)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The fault signal is in the tail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Targeted route during chaos: mean 231 ms but</a:t>
            </a:r>
            <a:br/>
            <a:r>
              <a:t>  p95 619 ms and max 3334 ms — tail is 14× the mean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Routes not depending on the target stay flat at</a:t>
            </a:r>
            <a:br/>
            <a:r>
              <a:t>  70–110 ms — impact is route-specific, not node-wide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Mean-based SLOs would miss the fault entirely</a:t>
            </a:r>
            <a:br/>
            <a:r>
              <a:t>  (Dean &amp; Barroso, Tail at Scale)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Primary Metrics: Conntrack &amp; CPU (M1, M2)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280160"/>
            <a:ext cx="5669280" cy="3200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09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0">
                <a:solidFill>
                  <a:srgbClr val="9090A0"/>
                </a:solidFill>
                <a:latin typeface="Calibri"/>
              </a:defRPr>
            </a:pPr>
            <a:r>
              <a:t>[Conntrack flush &amp; CPU throttle distributions]</a:t>
            </a:r>
            <a:br/>
            <a:br/>
            <a:r>
              <a:t>Box plots per strategy across churn runs:</a:t>
            </a:r>
            <a:br/>
            <a:r>
              <a:t>conntrack flush % (M1) and during-chaos</a:t>
            </a:r>
            <a:br/>
            <a:r>
              <a:t>throttle rate (M2) — tight, reproducible.</a:t>
            </a:r>
            <a:br/>
            <a:br/>
            <a:r>
              <a:t>Generated by: scripts/distribution_charts.py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Conntrack Churn &amp; CPU Throttling (M1, M2)</a:t>
            </a:r>
          </a:p>
        </p:txBody>
      </p:sp>
      <p:pic>
        <p:nvPicPr>
          <p:cNvPr id="6" name="Picture 5" descr="throughput_by_strate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80160"/>
            <a:ext cx="566928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I/O Throughput (Redis ops/s, Disk bytes/s)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M2 — co-location lowers CPU contention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Densest placement (colocate) throttles less than</a:t>
            </a:r>
            <a:br/>
            <a:r>
              <a:t>  default/spread — during-chaos rate 1.54 vs 1.90, 1.94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colocate &lt; default in 11 of 13 runs — reproducible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Opposite of Bubble-Up's dense=more-contention; the</a:t>
            </a:r>
            <a:br/>
            <a:r>
              <a:t>  contention model does not fit a churn fault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M1 — spreading flushes conn-state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Spread/default flush 36–39% of node conntrack</a:t>
            </a:r>
            <a:br/>
            <a:r>
              <a:t>  entries during churn; colocate stays flat (−1.6%)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Reproducible in all 12 runs measured — the primary,</a:t>
            </a:r>
            <a:br/>
            <a:r>
              <a:t>  large-effect fault-response metric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Spreading maximises the cross-node flows pod churn</a:t>
            </a:r>
            <a:br/>
            <a:r>
              <a:t>  tears down — both metrics favour co-location (M3)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trategy_comparis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9436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280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Hypothesis Evaluation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691640"/>
            <a:ext cx="640080" cy="73152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169164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170992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Colocate = worst resilience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1965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Score can't adjudicate (colocate 49.7–83</a:t>
            </a:r>
            <a:br/>
            <a:r>
              <a:t>across runs). Mechanism: colocate throttles</a:t>
            </a:r>
            <a:br/>
            <a:r>
              <a:t>LEAST and flushes no conn-state — not worst.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0" y="1874520"/>
            <a:ext cx="100584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Mech.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2697480"/>
            <a:ext cx="640080" cy="73152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L2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269748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71576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Spread = best fault isolation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297180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Score can't adjudicate (spread 33–88.7).</a:t>
            </a:r>
            <a:br/>
            <a:r>
              <a:t>Mechanism: spread flushes 28–52% of conntrack</a:t>
            </a:r>
            <a:br/>
            <a:r>
              <a:t>under churn — it amplifies, not isolates.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0" y="2880360"/>
            <a:ext cx="100584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Mech.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703320"/>
            <a:ext cx="640080" cy="7315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L3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370332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43800" y="372160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Recovery time predicts 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39776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Inapplicable on its own terms: the d2s/s2r split</a:t>
            </a:r>
            <a:br/>
            <a:r>
              <a:t>is unstable run-to-run and the score is</a:t>
            </a:r>
            <a:br/>
            <a:r>
              <a:t>non-reproducible. No stable relationship.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15600" y="3886200"/>
            <a:ext cx="100584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Inapplic.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120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39C12"/>
                </a:solidFill>
                <a:latin typeface="Calibri"/>
              </a:defRPr>
            </a:pPr>
            <a:r>
              <a:t>Key Insights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Calibri"/>
              </a:defRPr>
            </a:pPr>
            <a:r>
              <a:t>M4 — score is the wrong instrument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The aggregate resilience score is not reproducible: the same strategy spans 33–89 across 13 runs. It cannot rank placements — the binary-probe scoring discards the signal.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8056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  <a:latin typeface="Calibri"/>
              </a:defRPr>
            </a:pPr>
            <a:r>
              <a:t>M1/M2 — metrics reproduce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Where the score is noise, the kernel/network metrics are stable: conntrack flush (spread ≫ colocate, 12/12 runs) and CPU throttling (colocate &lt; default, 11/13). These carry the placement signal the score loses.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M3 — churn-driven, not contention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Pod-delete tears down cross-node conntrack state (measured directly). Cross-node hops exposed to the kill cycle become failure surfaces; co-located, same-node paths stay kernel-local and are spared.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Threats to Validity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Internal Validity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Single application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Results based on Google Online Boutique — a representative but single microservice benchmark. Other application topologies may yield different results.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Single replica per 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100% pod-delete guarantees unavailability, but production systems typically run multiple replicas. Results represent worst-case single-replica scenarios.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Virtualized environment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61772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Vagrant/libvirt (KVM/QEMU) introduces virtualization overhead. Bare-metal clusters may show different performance characteristics, especially for I/O metrics.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4864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Uneven strategy 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80644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Reproducible findings rest on 3 configs (colocate, spread, default). The 4 contention strategies (random, adversarial, best-fit, dependency-aware) appear in half the runs and no reproducible finding — a generality check, not validated signals, pending more cpu-hog runs.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371600"/>
            <a:ext cx="5486400" cy="5029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4173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External Validity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Cluster 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24028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5-node cluster (1 control plane @ 12 GiB + 4 uniform 4-GiB workers, 10 vCPU, 28 GiB). Larger clusters may show different placement effects.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1089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Fault types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42900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Only pod-delete and pod-cpu-hog tested. Network partitions, disk faults, and memory pressure may reveal different strategy rankings.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2976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Traffic pattern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61772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Steady-state load (50 users, 10/s). Bursty, ramping, or production-like traffic patterns may affect results differently.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4864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Metric portability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80644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PSI requires cgroup-v2, Felix requires Calico, etcd_debugging_* is K8s-version-fragile. metricAvailability surfaces which metrics were collected per 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29260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ChaosProbe framework: automated placement-</a:t>
            </a:r>
            <a:br/>
            <a:r>
              <a:t>  aware chaos testing for Kubernetes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Systematic evaluation of 6 placement strategies</a:t>
            </a:r>
            <a:br/>
            <a:r>
              <a:t>  under 2 fault types across 4 metric dimensions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Neo4j graph storage preserving causal</a:t>
            </a:r>
            <a:br/>
            <a:r>
              <a:t>  relationships for topology-aware analysis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Reproducible methodology: seeded randomness,</a:t>
            </a:r>
            <a:br/>
            <a:r>
              <a:t>  exact configs, automated comparison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29260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96D6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Aggregate resilience score is NOT</a:t>
            </a:r>
            <a:br/>
            <a:r>
              <a:t>  reproducible (strategy spans 33–89/13 runs)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But the mechanism layer IS: conntrack flush</a:t>
            </a:r>
            <a:br/>
            <a:r>
              <a:t>  (spread≫colocate, 12/12) + throttling (11/13)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Mechanism: pod-delete is churn-based, not</a:t>
            </a:r>
            <a:br/>
            <a:r>
              <a:t>  contention — co-location keeps paths local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Recovery's d2s/s2r split is unstable run-to-run,</a:t>
            </a:r>
            <a:br/>
            <a:r>
              <a:t>  so it can't predict the outcome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480560"/>
            <a:ext cx="1106424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4632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Multi-replica services — does locality still win</a:t>
            </a:r>
            <a:br/>
            <a:r>
              <a:t>  when restart can happen on a peer pod?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Larger cluster (20+ nodes), production-like traffic</a:t>
            </a:r>
            <a:br/>
            <a:r>
              <a:t>  &amp; service-mesh instrumentation (Istio/Linkerd)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Memory- and network-fault classes beyond CPU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4846320"/>
            <a:ext cx="5212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Per-fault-class placement guidance — choose strategy</a:t>
            </a:r>
            <a:br/>
            <a:r>
              <a:t>  by expected fault type, not by general 'best practice'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ML-based anomaly detection on collected dataset</a:t>
            </a:r>
            <a:br/>
            <a:r>
              <a:t>  (the Neo4j store is already structured for it)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Per-fault-class extensions to Borg / Medea schedulers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6126480"/>
            <a:ext cx="11064240" cy="640080"/>
          </a:xfrm>
          <a:prstGeom prst="roundRect">
            <a:avLst/>
          </a:prstGeom>
          <a:solidFill>
            <a:srgbClr val="121222"/>
          </a:solidFill>
          <a:ln w="381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172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Placement-vs-resilience intuition from the literature is fault-class-specific. Under churn-based faults (pod-delete), co-location wins because it minimises cross-node disruption during the kill cycle.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3017520"/>
            <a:ext cx="301752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38328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0096D6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ABC9C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Placement</a:t>
            </a:r>
            <a:br/>
            <a:r>
              <a:t>Strategies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Metric</a:t>
            </a:r>
            <a:br/>
            <a:r>
              <a:t>Dimensions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E74C3C"/>
                </a:solidFill>
                <a:latin typeface="Calibri"/>
              </a:defRPr>
            </a:pPr>
            <a:r>
              <a:t>3/3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Inapplicable</a:t>
            </a:r>
            <a:br/>
            <a:r>
              <a:t>under churn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59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59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6D6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59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Unified</a:t>
            </a:r>
            <a:br/>
            <a:r>
              <a:t>Mechanism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