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64592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  <a:latin typeface="Calibri"/>
              </a:defRPr>
            </a:pPr>
            <a:r>
              <a:t>ChaosProbe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743200"/>
            <a:ext cx="9418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96D6"/>
                </a:solidFill>
                <a:latin typeface="Calibri"/>
              </a:defRPr>
            </a:pPr>
            <a:r>
              <a:t>Measuring the Impact of Chaos in Differing</a:t>
            </a:r>
            <a:br/>
            <a:r>
              <a:t>Placement Strategies within Cloud Systems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0" y="3840480"/>
            <a:ext cx="39319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371600" y="4206240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DBDBD"/>
                </a:solidFill>
                <a:latin typeface="Calibri"/>
              </a:defRPr>
            </a:pPr>
            <a:r>
              <a:t>MSc Thesis Defense — University of Amsterdam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4846320"/>
            <a:ext cx="9418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9090A0"/>
                </a:solidFill>
                <a:latin typeface="Calibri"/>
              </a:defRPr>
            </a:pPr>
            <a: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Background &amp; Motivation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3498DB"/>
                </a:solidFill>
                <a:latin typeface="Calibri"/>
              </a:defRPr>
            </a:pPr>
            <a:r>
              <a:t>Microservice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Decomposed services with independent lifecycles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Communicate via network (HTTP / gRPC / Redis)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Deployed as containers orchestrated by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Independently scalable — but failures can cascade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18288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The Placement 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37360"/>
            <a:ext cx="49377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K8s scheduler optimizes for resource fit,</a:t>
            </a:r>
            <a:br/>
            <a:r>
              <a:t>  not for resilience or fault isolation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Pod placement determines which services share</a:t>
            </a:r>
            <a:br/>
            <a:r>
              <a:t>  node resources (CPU, memory, disk, network)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Co-located services suffer correlated failures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Discipline of experimenting on systems to build</a:t>
            </a:r>
            <a:br/>
            <a:r>
              <a:t>  confidence in resilience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Controlled fault injection reveals weaknesses</a:t>
            </a:r>
            <a:br/>
            <a:r>
              <a:t>  before they manifest in production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474720"/>
            <a:ext cx="530352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47472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Research Gap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84048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Existing work studies placement OR resilience,</a:t>
            </a:r>
            <a:br/>
            <a:r>
              <a:t>  but rarely their interaction under fault injection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No systematic framework to quantify how</a:t>
            </a:r>
            <a:br/>
            <a:r>
              <a:t>  placement topology affects chaos resilience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12080"/>
            <a:ext cx="11064240" cy="13716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21208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Our Approach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7784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BDBDBD"/>
                </a:solidFill>
                <a:latin typeface="Calibri"/>
              </a:defRPr>
            </a:pPr>
            <a:r>
              <a:t>ChaosProbe: an automated framework that systematically varies pod placement strategies, injects faults via LitmusChaos, and measures recovery time, inter-service latency, resource utilization, and I/O throughput to quantify placement's impact on resilience.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6126480"/>
            <a:ext cx="1828800" cy="32004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Deploy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017520" y="6126480"/>
            <a:ext cx="182880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Place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303520" y="6126480"/>
            <a:ext cx="182880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Inject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89520" y="6126480"/>
            <a:ext cx="182880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Measure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875520" y="6126480"/>
            <a:ext cx="182880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Compare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560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46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32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18320" y="6281928"/>
            <a:ext cx="45720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Research Question &amp; Hypotheses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11064240" cy="118872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41732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Research 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Calibri"/>
              </a:defRPr>
            </a:pPr>
            <a:r>
              <a:t>How does pod placement topology affect microservice resilience</a:t>
            </a:r>
            <a:br/>
            <a:r>
              <a:t>under fault injection in Kubernetes?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8346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Hypotheses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291840"/>
            <a:ext cx="914400" cy="82296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45920" y="3291840"/>
            <a:ext cx="9966960" cy="8229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0" y="331012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74C3C"/>
                </a:solidFill>
                <a:latin typeface="Calibri"/>
              </a:defRPr>
            </a:pPr>
            <a:r>
              <a:t>Maximum contention degrades resilience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63931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DBDBD"/>
                </a:solidFill>
                <a:latin typeface="Calibri"/>
              </a:defRPr>
            </a:pPr>
            <a:r>
              <a:t>Colocating all pods on a single node maximizes resource contention (CPU, memory, disk, network) and produces the worst resilience scores.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80560"/>
            <a:ext cx="914400" cy="82296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645920" y="4480560"/>
            <a:ext cx="9966960" cy="8229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0" y="449884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CC71"/>
                </a:solidFill>
                <a:latin typeface="Calibri"/>
              </a:defRPr>
            </a:pPr>
            <a:r>
              <a:t>Spreading improves fault isolation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482803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DBDBD"/>
                </a:solidFill>
                <a:latin typeface="Calibri"/>
              </a:defRPr>
            </a:pPr>
            <a:r>
              <a:t>Distributing pods evenly across nodes minimizes per-node contention and limits fault blast radius, yielding the best resilience scores.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669280"/>
            <a:ext cx="914400" cy="82296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800" b="1">
                <a:solidFill>
                  <a:srgbClr val="FFFFFF"/>
                </a:solidFill>
                <a:latin typeface="Calibri"/>
              </a:defRPr>
            </a:pPr>
            <a:r>
              <a:t>H3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45920" y="5669280"/>
            <a:ext cx="9966960" cy="8229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0" y="5687568"/>
            <a:ext cx="9601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39C12"/>
                </a:solidFill>
                <a:latin typeface="Calibri"/>
              </a:defRPr>
            </a:pPr>
            <a:r>
              <a:t>Recovery time predicts resilience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6016752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BDBDBD"/>
                </a:solidFill>
                <a:latin typeface="Calibri"/>
              </a:defRPr>
            </a:pPr>
            <a:r>
              <a:t>Faster pod recovery yields higher resilience scores — shorter unavailability windows mean fewer probe checks fall inside the fault window (Dean–Barroso 2013).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9090A0"/>
                </a:solidFill>
                <a:latin typeface="Calibri"/>
              </a:defRPr>
            </a:pPr>
            <a:r>
              <a:t>Measured Dimensions: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743200" y="6355080"/>
            <a:ext cx="19202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Recovery Time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846320" y="6355080"/>
            <a:ext cx="1920240" cy="32004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Inter-Service Latency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949440" y="6355080"/>
            <a:ext cx="192024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Resource Utilization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52559" y="6355080"/>
            <a:ext cx="1920240" cy="32004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I/O Throughput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Related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BC9C"/>
                </a:solidFill>
                <a:latin typeface="Calibri"/>
              </a:defRPr>
            </a:pPr>
            <a:r>
              <a:t>Pod Placement &amp; Scheduling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Borg (Verma et al., 2015)</a:t>
            </a:r>
            <a:br/>
            <a:r>
              <a:t>  Resource-aware bin-packing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Medea (Garefalakis et al., 2018)</a:t>
            </a:r>
            <a:br/>
            <a:r>
              <a:t>  Topology spread constraints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Sparrow (Ousterhout et al., 2013)</a:t>
            </a:r>
            <a:br/>
            <a:r>
              <a:t>  Decentralized random 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DeathStarBench (Gan et al., 2019)</a:t>
            </a:r>
            <a:br/>
            <a:r>
              <a:t>  Dependency-graph-aware placement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Mars (2011); Delimitrou (2014)</a:t>
            </a:r>
            <a:br/>
            <a:r>
              <a:t>  Contention-aware co-scheduling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38912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Chaos Engineering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Principles of Chaos Engineering</a:t>
            </a:r>
            <a:br/>
            <a:r>
              <a:t>  (Basiri et al., 2016)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LitmusChaos — CNCF sandbox</a:t>
            </a:r>
            <a:br/>
            <a:r>
              <a:t>  ChaosEngine CRDs + ChaosCenter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 Monkey (Netflix, 2011)</a:t>
            </a:r>
            <a:br/>
            <a:r>
              <a:t>  Random instance termination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Gremlin — fault injection SaaS</a:t>
            </a:r>
            <a:br/>
            <a:r>
              <a:t>  Commercial chaos platform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Tail at Scale (Dean &amp; Barroso,</a:t>
            </a:r>
            <a:br/>
            <a:r>
              <a:t>  2013) — latency sensitivity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79" y="1371600"/>
            <a:ext cx="34747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38160" y="14173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Gap — Our Contribution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1828800"/>
            <a:ext cx="31089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Existing work studies placement</a:t>
            </a:r>
            <a:br/>
            <a:r>
              <a:t>  OR resilience — not their interaction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No framework systematically varies</a:t>
            </a:r>
            <a:br/>
            <a:r>
              <a:t>  placement under controlled chaos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Missing: quantitative comparison</a:t>
            </a:r>
            <a:br/>
            <a:r>
              <a:t>  across multiple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ChaosProbe bridges this gap:</a:t>
            </a:r>
            <a:br/>
            <a:r>
              <a:t>  6 strategies × 2 faults × 4 metrics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Graph storage preserves causal</a:t>
            </a:r>
            <a:br/>
            <a:r>
              <a:t>  topology for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60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Expected Contention by Placement (Literature-Informed Hypotheses)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57200" y="5989320"/>
          <a:ext cx="11247120" cy="777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Category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Colocate Impact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Key Reference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CPU Contention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Millicores, throttle seconds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cores → throttling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Burns et al. (2016)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Memory Pressure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Working set bytes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memory → evictions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Verma et al. (2015)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Network Latency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HTTP response time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network stack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Gan et al. (2019)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15544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Disk I/O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Sequential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Shared bandwidth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Dean &amp; Barroso (2013)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Placement Strategies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DBDBD"/>
                </a:solidFill>
                <a:latin typeface="Calibri"/>
              </a:defRPr>
            </a:pPr>
            <a:r>
              <a:t>Independent variable: 6 strategies + baseline + default scheduler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017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Null-injection control</a:t>
            </a:r>
            <a:br/>
            <a:r>
              <a:t>Default scheduler + trivial fault</a:t>
            </a:r>
            <a:br/>
            <a:r>
              <a:t>(1% CPU, 1s) — validates methodology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56816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500884" y="2139696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56816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00884" y="2395728"/>
            <a:ext cx="164592" cy="164592"/>
          </a:xfrm>
          <a:prstGeom prst="round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17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None (control)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100% score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Basiri et al., IEEE SW 2016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35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  <a:latin typeface="Calibri"/>
              </a:defRPr>
            </a:pPr>
            <a:r>
              <a:t>Default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35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Default K8s scheduler</a:t>
            </a:r>
            <a:br/>
            <a:r>
              <a:t>Full chaos injection</a:t>
            </a:r>
            <a:br/>
            <a:r>
              <a:t>Scheduler-determined placement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928616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472683" y="2139696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28616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472683" y="2395728"/>
            <a:ext cx="164592" cy="164592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2735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Scheduler-set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735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Placement null hypothesis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735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Burns et al., ACM Queue 2016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453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Colocate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53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All pods pinned to a single node</a:t>
            </a:r>
            <a:br/>
            <a:r>
              <a:t>via podAffinity</a:t>
            </a:r>
            <a:br/>
            <a:r>
              <a:t>Maximal co-location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900416" y="2139696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094726" y="2235708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00416" y="2331720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094726" y="2427732"/>
            <a:ext cx="164592" cy="164592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453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Maximum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453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worst resilience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453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Mars 2011; Delimitrou 2014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144000" y="155448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17152" y="160020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Spread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7152" y="190195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Even distribution across workers</a:t>
            </a:r>
            <a:br/>
            <a:r>
              <a:t>via topologySpreadConstraints</a:t>
            </a:r>
            <a:br/>
            <a:r>
              <a:t>Minimal per-node contention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716768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1027664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11338560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11649456" y="226771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17152" y="297180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Contention: Minimum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17152" y="318211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Expected: best isolation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17152" y="340156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Medea (Garefalakis 2018)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2286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017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39C12"/>
                </a:solidFill>
                <a:latin typeface="Calibri"/>
              </a:defRPr>
            </a:pPr>
            <a:r>
              <a:t>Random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17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Seeded random assignment</a:t>
            </a:r>
            <a:br/>
            <a:r>
              <a:t>Reproducible null baseline</a:t>
            </a:r>
            <a:br/>
            <a:r>
              <a:t>for topology effects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092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2423160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879092" y="4864608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2423160" y="4608576"/>
            <a:ext cx="164592" cy="164592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017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Variable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017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Seeded; reproducible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017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Sparrow (Ousterhout SOSP 2013)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2004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735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9B59B6"/>
                </a:solidFill>
                <a:latin typeface="Calibri"/>
              </a:defRPr>
            </a:pPr>
            <a:r>
              <a:t>Adversarial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735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Heavy pods → single node (worst-fit)</a:t>
            </a:r>
            <a:br/>
            <a:r>
              <a:t>Light pods → remaining nodes</a:t>
            </a:r>
            <a:br/>
            <a:r>
              <a:t>Intentional CPU/mem hotspot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850892" y="4608576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ounded Rectangle 58"/>
          <p:cNvSpPr/>
          <p:nvPr/>
        </p:nvSpPr>
        <p:spPr>
          <a:xfrm>
            <a:off x="5045202" y="470458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ounded Rectangle 59"/>
          <p:cNvSpPr/>
          <p:nvPr/>
        </p:nvSpPr>
        <p:spPr>
          <a:xfrm>
            <a:off x="5394959" y="4736592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628131" y="4864608"/>
            <a:ext cx="164592" cy="164592"/>
          </a:xfrm>
          <a:prstGeom prst="round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735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E74C3C"/>
                </a:solidFill>
                <a:latin typeface="Calibri"/>
              </a:defRPr>
            </a:pPr>
            <a:r>
              <a:t>Contention: High (asymmetric)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2735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Resource-weighted hotspot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735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Worst-fit; Cortez 2017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1722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453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Best-fit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453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Pack into fewest nodes</a:t>
            </a:r>
            <a:br/>
            <a:r>
              <a:t>(bin-packing decreasing)</a:t>
            </a:r>
            <a:br/>
            <a:r>
              <a:t>Borg-style resource scoring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7822692" y="4608576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8017002" y="4704588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900416" y="4832604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8561070" y="4736592"/>
            <a:ext cx="164592" cy="164592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2453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(packed)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453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Minimizes nodes used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2453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Borg (Verma 2015; Burns 2016)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9144000" y="4023360"/>
            <a:ext cx="2788920" cy="219456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9217152" y="4069080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Dependency-aware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17152" y="4370832"/>
            <a:ext cx="1325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Co-locate communicating services</a:t>
            </a:r>
            <a:br/>
            <a:r>
              <a:t>via service-graph partitioning</a:t>
            </a:r>
            <a:br/>
            <a:r>
              <a:t>(BFS from entry-point root)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0794492" y="4640580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ounded Rectangle 78"/>
          <p:cNvSpPr/>
          <p:nvPr/>
        </p:nvSpPr>
        <p:spPr>
          <a:xfrm>
            <a:off x="10988802" y="4736592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11416284" y="467258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11571732" y="4832604"/>
            <a:ext cx="164592" cy="164592"/>
          </a:xfrm>
          <a:prstGeom prst="round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17152" y="5440680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39C12"/>
                </a:solidFill>
                <a:latin typeface="Calibri"/>
              </a:defRPr>
            </a:pPr>
            <a:r>
              <a:t>Contention: Moderate (grouped)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217152" y="5650992"/>
            <a:ext cx="2642615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9090A0"/>
                </a:solidFill>
                <a:latin typeface="Calibri"/>
              </a:defRPr>
            </a:pPr>
            <a:r>
              <a:t>Preserves service-graph edges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217152" y="5870448"/>
            <a:ext cx="264261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00" b="0">
                <a:solidFill>
                  <a:srgbClr val="0096D6"/>
                </a:solidFill>
                <a:latin typeface="Calibri"/>
              </a:defRPr>
            </a:pPr>
            <a:r>
              <a:t>DeathStarBench (Gan ASPLOS 2019)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Experimental Setup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3200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96D6"/>
                </a:solidFill>
                <a:latin typeface="Calibri"/>
              </a:defRPr>
            </a:pPr>
            <a:r>
              <a:t>Target Application — Google Online Boutique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828800"/>
            <a:ext cx="1645920" cy="365760"/>
          </a:xfrm>
          <a:prstGeom prst="round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productcatalog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1188719" y="2194560"/>
            <a:ext cx="2194561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0116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currency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560320" y="2194560"/>
            <a:ext cx="82296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83280" y="237744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383280" y="2194560"/>
            <a:ext cx="548640" cy="18288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554480" y="292608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checkout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103120" y="2194560"/>
            <a:ext cx="1280160" cy="73152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200400" y="2926080"/>
            <a:ext cx="109728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redis-cart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108960" y="2697480"/>
            <a:ext cx="640079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6400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email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1188719" y="3246120"/>
            <a:ext cx="914401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0116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payment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103120" y="3246120"/>
            <a:ext cx="4572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383280" y="3474720"/>
            <a:ext cx="1097280" cy="32004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shipping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103120" y="3246120"/>
            <a:ext cx="1828800" cy="228600"/>
          </a:xfrm>
          <a:prstGeom prst="line">
            <a:avLst/>
          </a:prstGeom>
          <a:ln w="127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40080" y="393192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11 services (10 polyglot microservices + Redis)</a:t>
            </a:r>
            <a:br/>
            <a:r>
              <a:t>Single replica per service — 100% pod-delete = full unavailability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371600"/>
            <a:ext cx="5303520" cy="201168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13716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F8C8D"/>
                </a:solidFill>
                <a:latin typeface="Calibri"/>
              </a:defRPr>
            </a:pPr>
            <a:r>
              <a:t>Cluster Topology (Proxmox / KVM)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1737360"/>
            <a:ext cx="1554480" cy="640080"/>
          </a:xfrm>
          <a:prstGeom prst="roundRect">
            <a:avLst/>
          </a:prstGeom>
          <a:solidFill>
            <a:srgbClr val="223355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92240" y="17373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96D6"/>
                </a:solidFill>
                <a:latin typeface="Calibri"/>
              </a:defRPr>
            </a:pPr>
            <a:r>
              <a:t>cp1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196596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2 GiB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2 GiB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6968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91540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91540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2 GiB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69264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73836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73836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515600" y="1737360"/>
            <a:ext cx="731520" cy="640080"/>
          </a:xfrm>
          <a:prstGeom prst="roundRect">
            <a:avLst/>
          </a:prstGeom>
          <a:solidFill>
            <a:srgbClr val="2244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61320" y="1737360"/>
            <a:ext cx="6400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2ECC71"/>
                </a:solidFill>
                <a:latin typeface="Calibri"/>
              </a:defRPr>
            </a:pPr>
            <a:r>
              <a:t>w4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61320" y="1965960"/>
            <a:ext cx="640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BDBDBD"/>
                </a:solidFill>
                <a:latin typeface="Calibri"/>
              </a:defRPr>
            </a:pPr>
            <a:r>
              <a:t>2 vCPU</a:t>
            </a:r>
            <a:br/>
            <a:r>
              <a:t>4 GiB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8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9090A0"/>
                </a:solidFill>
                <a:latin typeface="Calibri"/>
              </a:defRPr>
            </a:pPr>
            <a:r>
              <a:t>K8s v1.28.6 • Calico CNI • containerd 1.7.11 • Total: 10 vCPU, 14 GiB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754880"/>
            <a:ext cx="548640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47548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Placement-Matrix Fault Injection</a:t>
            </a:r>
          </a:p>
        </p:txBody>
      </p:sp>
      <p:graphicFrame>
        <p:nvGraphicFramePr>
          <p:cNvPr id="44" name="Table 43"/>
          <p:cNvGraphicFramePr>
            <a:graphicFrameLocks noGrp="1"/>
          </p:cNvGraphicFramePr>
          <p:nvPr/>
        </p:nvGraphicFramePr>
        <p:xfrm>
          <a:off x="640080" y="5074920"/>
          <a:ext cx="51206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6880"/>
                <a:gridCol w="1706880"/>
                <a:gridCol w="1706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Matrix fault (pod-delete)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Baseline (trivial pod-cpu-hog)</a:t>
                      </a:r>
                    </a:p>
                  </a:txBody>
                  <a:tcPr marL="76200" marR="76200" marT="38100" marB="38100">
                    <a:solidFill>
                      <a:srgbClr val="E74C3C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Target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productcatalogservice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Duration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120s (CHAOS_INTERVAL=15s)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1s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Parameters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FORCE=true, 100% pods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CPU_LOAD=1%, 1 core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7 httpProbes + 5 cmdProbes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Same probe set (control)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45" name="Rounded Rectangle 44"/>
          <p:cNvSpPr/>
          <p:nvPr/>
        </p:nvSpPr>
        <p:spPr>
          <a:xfrm>
            <a:off x="6217920" y="3566160"/>
            <a:ext cx="5303520" cy="10058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7F8C8D"/>
                </a:solidFill>
                <a:latin typeface="Calibri"/>
              </a:defRPr>
            </a:pPr>
            <a:r>
              <a:t>Baseline — Methodology Control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88620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Swaps pod-delete → trivial pod-cpu-hog (DURATION=1s, CPU_LOAD=1%).</a:t>
            </a:r>
            <a:br/>
            <a:r>
              <a:t>Validates probes &amp; scoring: expected 100%, 0 recovery cycles — any drift</a:t>
            </a:r>
            <a:br/>
            <a:r>
              <a:t>indicates pre-existing instability rather than placement effects.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754880"/>
            <a:ext cx="5303520" cy="192024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00800" y="47548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9B59B6"/>
                </a:solidFill>
                <a:latin typeface="Calibri"/>
              </a:defRPr>
            </a:pPr>
            <a:r>
              <a:t>Infrastructure Components</a:t>
            </a:r>
          </a:p>
        </p:txBody>
      </p:sp>
      <p:graphicFrame>
        <p:nvGraphicFramePr>
          <p:cNvPr id="50" name="Table 49"/>
          <p:cNvGraphicFramePr>
            <a:graphicFrameLocks noGrp="1"/>
          </p:cNvGraphicFramePr>
          <p:nvPr/>
        </p:nvGraphicFramePr>
        <p:xfrm>
          <a:off x="6400800" y="5074920"/>
          <a:ext cx="49377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24688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Purpose</a:t>
                      </a:r>
                    </a:p>
                  </a:txBody>
                  <a:tcPr marL="76200" marR="76200" marT="38100" marB="38100">
                    <a:solidFill>
                      <a:srgbClr val="9B59B6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LitmusChaos + ChaosCenter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Fault injection engine (Helm)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Prometheus + kube-state-metrics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Cluster metrics (PromQL)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Neo4j 5 Community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Graph storage (14 node types, 18 rels)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Locust (steady: 50 users, 10/s)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Load generation (120s)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ChaosProbe — 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ChaosProbe (our contribution)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Placement</a:t>
            </a:r>
            <a:br/>
            <a:r>
              <a:t>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6 strategies: mutate nodeSelector</a:t>
            </a:r>
            <a:br/>
            <a:r>
              <a:t>per deployment to target nodes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Metrics</a:t>
            </a:r>
            <a:br/>
            <a:r>
              <a:t>Collection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6 continuous probers (threads):</a:t>
            </a:r>
            <a:br/>
            <a:r>
              <a:t>recovery, latency, resources,</a:t>
            </a:r>
            <a:br/>
            <a:r>
              <a:t>Redis, disk, Prometheus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2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Result</a:t>
            </a:r>
            <a:br/>
            <a:r>
              <a:t>Aggregation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ChaosResult CRDs, probe verdicts,</a:t>
            </a:r>
            <a:br/>
            <a:r>
              <a:t>resilience scoring, phase tracking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10896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Orchestrator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Strategy runner, run phases,</a:t>
            </a:r>
            <a:br/>
            <a:r>
              <a:t>preflight checks, port-forward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10896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004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Graph</a:t>
            </a:r>
            <a:br/>
            <a:r>
              <a:t>Storage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Neo4j writer/reader: 14 node types,</a:t>
            </a:r>
            <a:br/>
            <a:r>
              <a:t>18 relationships, Cypher queries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10896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39C12"/>
                </a:solidFill>
                <a:latin typeface="Calibri"/>
              </a:defRPr>
            </a:pPr>
            <a:r>
              <a:t>Visualization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matplotlib charts, HTML report,</a:t>
            </a:r>
            <a:br/>
            <a:r>
              <a:t>ML export (CSV/Parquet)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F8C8D"/>
                </a:solidFill>
                <a:latin typeface="Calibri"/>
              </a:defRPr>
            </a:pPr>
            <a:r>
              <a:t>Infrastructure (existing tools)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59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74C3C"/>
                </a:solidFill>
                <a:latin typeface="Calibri"/>
              </a:defRPr>
            </a:pPr>
            <a:r>
              <a:t>LitmusChaos +</a:t>
            </a:r>
            <a:br/>
            <a:r>
              <a:t>ChaosCenter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59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Fault injection engine.</a:t>
            </a:r>
            <a:br/>
            <a:r>
              <a:t>ChaosEngine CRDs, Argo Workflows,</a:t>
            </a:r>
            <a:br/>
            <a:r>
              <a:t>ChaosCenter dashboard + API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1792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59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ECC71"/>
                </a:solidFill>
                <a:latin typeface="Calibri"/>
              </a:defRPr>
            </a:pPr>
            <a:r>
              <a:t>Prometheus +</a:t>
            </a:r>
            <a:br/>
            <a:r>
              <a:t>kube-state-metrics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59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Cluster monitoring.</a:t>
            </a:r>
            <a:br/>
            <a:r>
              <a:t>PromQL queries for pod_ready,</a:t>
            </a:r>
            <a:br/>
            <a:r>
              <a:t>CPU throttle, memory, network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1792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59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9B59B6"/>
                </a:solidFill>
                <a:latin typeface="Calibri"/>
              </a:defRPr>
            </a:pPr>
            <a:r>
              <a:t>Neo4j 5</a:t>
            </a:r>
            <a:br/>
            <a:r>
              <a:t>Community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59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Graph database.</a:t>
            </a:r>
            <a:br/>
            <a:r>
              <a:t>14 node types, 18 relationships.</a:t>
            </a:r>
            <a:br/>
            <a:r>
              <a:t>Cypher query language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052560" y="164592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0" y="16916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ABC9C"/>
                </a:solidFill>
                <a:latin typeface="Calibri"/>
              </a:defRPr>
            </a:pPr>
            <a:r>
              <a:t>Kubernetes</a:t>
            </a:r>
            <a:br/>
            <a:r>
              <a:t>v1.28.6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0" y="205740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Container orchestration.</a:t>
            </a:r>
            <a:br/>
            <a:r>
              <a:t>containerd runtime, Metrics API,</a:t>
            </a:r>
            <a:br/>
            <a:r>
              <a:t>Watch API for recovery tracking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052560" y="274320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0" y="2788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3498DB"/>
                </a:solidFill>
                <a:latin typeface="Calibri"/>
              </a:defRPr>
            </a:pPr>
            <a:r>
              <a:t>Locust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0" y="31546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Load generation.</a:t>
            </a:r>
            <a:br/>
            <a:r>
              <a:t>Configurable user count, spawn rate.</a:t>
            </a:r>
            <a:br/>
            <a:r>
              <a:t>HTTP traffic to entry-point service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52560" y="3840480"/>
            <a:ext cx="25603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0" y="388620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7F8C8D"/>
                </a:solidFill>
                <a:latin typeface="Calibri"/>
              </a:defRPr>
            </a:pPr>
            <a:r>
              <a:t>Proxmox</a:t>
            </a:r>
            <a:br/>
            <a:r>
              <a:t>(KVM/QEMU)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0" y="42519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Virtualization host.</a:t>
            </a:r>
            <a:br/>
            <a:r>
              <a:t>5 VMs: 1 control plane +</a:t>
            </a:r>
            <a:br/>
            <a:r>
              <a:t>4 worker nodes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669280" y="210312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669280" y="320040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669280" y="4297680"/>
            <a:ext cx="548640" cy="0"/>
          </a:xfrm>
          <a:prstGeom prst="line">
            <a:avLst/>
          </a:prstGeom>
          <a:ln w="25400">
            <a:solidFill>
              <a:srgbClr val="009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5669280" y="1874519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uses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0" y="297180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queries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0" y="4069080"/>
            <a:ext cx="54864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9090A0"/>
                </a:solidFill>
                <a:latin typeface="Calibri"/>
              </a:defRPr>
            </a:pPr>
            <a:r>
              <a:t>stores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7432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Experiment Lifecycle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274320" y="5394960"/>
            <a:ext cx="2011680" cy="914400"/>
          </a:xfrm>
          <a:prstGeom prst="roundRect">
            <a:avLst/>
          </a:prstGeom>
          <a:solidFill>
            <a:srgbClr val="3498DB"/>
          </a:solidFill>
          <a:ln w="12700">
            <a:solidFill>
              <a:srgbClr val="3498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20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1. Configure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5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Load YAML</a:t>
            </a:r>
            <a:br/>
            <a:r>
              <a:t>Validate specs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2560320" y="5394960"/>
            <a:ext cx="2011680" cy="914400"/>
          </a:xfrm>
          <a:prstGeom prst="roundRect">
            <a:avLst/>
          </a:prstGeom>
          <a:solidFill>
            <a:srgbClr val="1ABC9C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606039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2. Place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651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Apply strategy</a:t>
            </a:r>
            <a:br/>
            <a:r>
              <a:t>Patch nodeSelector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846320" y="5394960"/>
            <a:ext cx="2011680" cy="914400"/>
          </a:xfrm>
          <a:prstGeom prst="roundRect">
            <a:avLst/>
          </a:prstGeom>
          <a:solidFill>
            <a:srgbClr val="E74C3C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892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3. Inject Chaos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37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ChaosEngine</a:t>
            </a:r>
            <a:br/>
            <a:r>
              <a:t>via ChaosCenter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132320" y="5394960"/>
            <a:ext cx="2011680" cy="914400"/>
          </a:xfrm>
          <a:prstGeom prst="roundRect">
            <a:avLst/>
          </a:prstGeom>
          <a:solidFill>
            <a:srgbClr val="2ECC71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78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4. Measure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59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6 probers</a:t>
            </a:r>
            <a:br/>
            <a:r>
              <a:t>+ load generator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418320" y="5394960"/>
            <a:ext cx="2011680" cy="914400"/>
          </a:xfrm>
          <a:prstGeom prst="roundRect">
            <a:avLst/>
          </a:prstGeom>
          <a:solidFill>
            <a:srgbClr val="9B59B6"/>
          </a:solidFill>
          <a:ln w="12700">
            <a:solidFill>
              <a:srgbClr val="9B59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9464040" y="539496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5. Store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5669280"/>
            <a:ext cx="1828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0F0F8"/>
                </a:solidFill>
                <a:latin typeface="Calibri"/>
              </a:defRPr>
            </a:pPr>
            <a:r>
              <a:t>Neo4j sync</a:t>
            </a:r>
            <a:br/>
            <a:r>
              <a:t>Charts + export</a:t>
            </a:r>
          </a:p>
        </p:txBody>
      </p:sp>
      <p:cxnSp>
        <p:nvCxnSpPr>
          <p:cNvPr id="64" name="Connector 63"/>
          <p:cNvCxnSpPr/>
          <p:nvPr/>
        </p:nvCxnSpPr>
        <p:spPr>
          <a:xfrm>
            <a:off x="2286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>
            <a:off x="4572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>
            <a:off x="6858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9144000" y="5852160"/>
            <a:ext cx="274320" cy="0"/>
          </a:xfrm>
          <a:prstGeom prst="line">
            <a:avLst/>
          </a:prstGeom>
          <a:ln w="25400">
            <a:solidFill>
              <a:srgbClr val="BDBDB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Measurement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Three-Phase Measurement Window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08760"/>
            <a:ext cx="3200400" cy="411480"/>
          </a:xfrm>
          <a:prstGeom prst="roundRect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PreChaos — steady state (60s)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40480" y="1508760"/>
            <a:ext cx="4114800" cy="41148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DuringChaos — fault active (120s)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8160" y="1508760"/>
            <a:ext cx="3474720" cy="41148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PostChaos — recovery sampling (60s)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6 Continuous Probers (Background Threads)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274320" y="2560320"/>
          <a:ext cx="6858000" cy="21945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4500"/>
                <a:gridCol w="1714500"/>
                <a:gridCol w="1714500"/>
                <a:gridCol w="1714500"/>
              </a:tblGrid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Prober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Measures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Data Source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Interval</a:t>
                      </a:r>
                    </a:p>
                  </a:txBody>
                  <a:tcPr marL="76200" marR="76200" marT="38100" marB="38100">
                    <a:solidFill>
                      <a:srgbClr val="0096D6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RecoveryWatcher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Pod deletion → scheduled → ready (ms)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K8s Watch API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Real-time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LatencyProber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HTTP route latency + error rates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python3/wget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3.5s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RedisProber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Redis ops/s (GET/SET throughput)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redis-cli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DiskProber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Sequential disk R/W bytes/s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kubectl exec → dd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ResourceProber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Node/pod CPU (millicores) + memory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Metrics API (v1beta1)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5s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3135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PrometheusProber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pod_ready, CPU/memory, throttle, net rx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PromQL queries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FFFFFF"/>
                          </a:solidFill>
                          <a:latin typeface="Calibri"/>
                        </a:rPr>
                        <a:t>10s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498079" y="219456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Resilience Probes (LitmusChaos)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98079" y="2560320"/>
          <a:ext cx="438912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463040"/>
                <a:gridCol w="1463040"/>
              </a:tblGrid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Probe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Mode (interval)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Timeout / retries</a:t>
                      </a:r>
                    </a:p>
                  </a:txBody>
                  <a:tcPr marL="76200" marR="76200" marT="38100" marB="38100">
                    <a:solidFill>
                      <a:srgbClr val="F39C12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frontend-homepage-strict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(2s)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1 retry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frontend-product-moderate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(5s)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3s,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frontend-cart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frontend-homepage-loose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(6s)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4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  <a:tr h="24003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frontend-healthz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Continuous (4s)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FFFFFF"/>
                          </a:solidFill>
                          <a:latin typeface="Calibri"/>
                        </a:rPr>
                        <a:t>5s, 3 retries</a:t>
                      </a:r>
                    </a:p>
                  </a:txBody>
                  <a:tcPr marL="76200" marR="76200" marT="38100" marB="38100">
                    <a:solidFill>
                      <a:srgbClr val="2A2A3E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98079" y="452628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DBDBD"/>
                </a:solidFill>
                <a:latin typeface="Calibri"/>
              </a:defRPr>
            </a:pPr>
            <a:r>
              <a:t>+ 5 Rust cmdProbes: check-redis, check-http-latency,</a:t>
            </a:r>
            <a:br/>
            <a:r>
              <a:t>  check-dns-latency, check-tcp-connect, check-cart-flow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Resilience Scoring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394960"/>
            <a:ext cx="5029200" cy="457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4406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score = Σ(probeSuccess%) / N    verdict = PASS iff all probes pass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0%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1228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17%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5394960"/>
            <a:ext cx="731520" cy="45720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33%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54964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50%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5394960"/>
            <a:ext cx="731520" cy="457200"/>
          </a:xfrm>
          <a:prstGeom prst="round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67%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8700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83%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155680" y="5394960"/>
            <a:ext cx="731520" cy="457200"/>
          </a:xfrm>
          <a:prstGeom prst="round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100%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897880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9090A0"/>
                </a:solidFill>
                <a:latin typeface="Calibri"/>
              </a:defRPr>
            </a:pPr>
            <a:r>
              <a:t>Total disruption  ←                              →  No visible impact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5 probers extend ContinuousProberBase; RecoveryWatcher uses K8s Watch API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Phase-aware: measurements tagged PreChaos / DuringChaos / PostChaos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17920" y="603504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4 sensitivity tiers (strict → moderate-tight → moderate-loose → control)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Healthz control probe detects node-level contention even when chaos is local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Resilience Scores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ilience_s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68580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772400" y="1280160"/>
            <a:ext cx="3931920" cy="41148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32588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Key Observations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691640"/>
            <a:ext cx="356616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Baseline: 100.0% (stddev 0) —</a:t>
            </a:r>
            <a:br/>
            <a:r>
              <a:t>  methodology control holds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83.0% (stddev 0) — BEST</a:t>
            </a:r>
            <a:br/>
            <a:r>
              <a:t>  non-baseline; stable across iterations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best-fit / adversarial / dep-aware:</a:t>
            </a:r>
            <a:br/>
            <a:r>
              <a:t>  ~69% (stddev 24–31)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52.3% — among the WORST</a:t>
            </a:r>
            <a:br/>
            <a:r>
              <a:t>  non-baseline strategies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Default / random: ~50% — broadest</a:t>
            </a:r>
            <a:br/>
            <a:r>
              <a:t>  probe-failure footprint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Ordering inverts the literature</a:t>
            </a:r>
            <a:br/>
            <a:r>
              <a:t>  intuition encoded in H1 + H2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5669280"/>
            <a:ext cx="11247120" cy="9144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5669280"/>
            <a:ext cx="10881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Hypothesis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H1 (colocate = worst): REFUTED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H2 (spread = best): REFUTED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5989320"/>
            <a:ext cx="3657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H3 (recovery → score): REFUTED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Recovery Time &amp; Latency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covery_tim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Recovery Time (pod deletion → ready)</a:t>
            </a:r>
          </a:p>
        </p:txBody>
      </p:sp>
      <p:pic>
        <p:nvPicPr>
          <p:cNvPr id="6" name="Picture 5" descr="latency_degra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Latency Degradation (Pre-Chaos vs During-Chaos)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74C3C"/>
                </a:solidFill>
                <a:latin typeface="Calibri"/>
              </a:defRPr>
            </a:pPr>
            <a:r>
              <a:t>Recovery Time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longest recovery — scheduler contention</a:t>
            </a:r>
            <a:br/>
            <a:r>
              <a:t>  on the saturated node delays rescheduling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fastest recovery — dedicated node resources</a:t>
            </a:r>
            <a:br/>
            <a:r>
              <a:t>  allow immediate rescheduling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Baseline: 0 recovery cycles (no pods deleted) — control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Latency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highest degradation — shared CPU, memory,</a:t>
            </a:r>
            <a:br/>
            <a:r>
              <a:t>  and network stack amplify latency during fault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minimal increase — fault isolation contains</a:t>
            </a:r>
            <a:br/>
            <a:r>
              <a:t>  impact to the targeted service's node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Adversarial: high — resource-heavy hotspot node</a:t>
            </a:r>
            <a:br/>
            <a:r>
              <a:t>  amplifies cross-service contention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Results — Resources &amp; Throughput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source_uti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66928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Resource Utilization (CPU &amp; Memory)</a:t>
            </a:r>
          </a:p>
        </p:txBody>
      </p:sp>
      <p:pic>
        <p:nvPicPr>
          <p:cNvPr id="6" name="Picture 5" descr="throughput_by_strateg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280160"/>
            <a:ext cx="5669280" cy="320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217920" y="4526280"/>
            <a:ext cx="5669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96D6"/>
                </a:solidFill>
                <a:latin typeface="Calibri"/>
              </a:defRPr>
            </a:pPr>
            <a:r>
              <a:t>I/O Throughput (Redis ops/s, Disk bytes/s)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ECC71"/>
                </a:solidFill>
                <a:latin typeface="Calibri"/>
              </a:defRPr>
            </a:pPr>
            <a:r>
              <a:t>Resource 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Colocate: highest CPU throttling — all services</a:t>
            </a:r>
            <a:br/>
            <a:r>
              <a:t>  compete for shared cores on a single node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most stable resource usage — dedicated</a:t>
            </a:r>
            <a:br/>
            <a:r>
              <a:t>  per-node capacity minimizes contention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Memory pressure correlates with placement density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5029200"/>
            <a:ext cx="5669280" cy="164592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5029200"/>
            <a:ext cx="5303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39C12"/>
                </a:solidFill>
                <a:latin typeface="Calibri"/>
              </a:defRPr>
            </a:pPr>
            <a:r>
              <a:t>Throughput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5349240"/>
            <a:ext cx="53035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Disk I/O: colocate shows degraded throughput due</a:t>
            </a:r>
            <a:br/>
            <a:r>
              <a:t>  to shared disk bandwidth across all services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Redis: throughput varies with network locality —</a:t>
            </a:r>
            <a:br/>
            <a:r>
              <a:t>  co-located cart+redis may benefit from low latency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Spread: consistent throughput — isolated I/O paths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trategy_comparis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280160"/>
            <a:ext cx="5943600" cy="3200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2801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  <a:latin typeface="Calibri"/>
              </a:defRPr>
            </a:pPr>
            <a:r>
              <a:t>Hypothesis Evaluation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0" y="169164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06640" y="169164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43800" y="170992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Colocate = worst 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43800" y="196596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Inverted: colocate scored 83.0 (best non-baseline,</a:t>
            </a:r>
            <a:br/>
            <a:r>
              <a:t>stddev 0); spread scored 52.3 (among the worst).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0" y="187452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Refuted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0" y="269748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269748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1576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Spread = best fault isolation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43800" y="297180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Inverted: spread had highest during-chaos latency</a:t>
            </a:r>
            <a:br/>
            <a:r>
              <a:t>(229ms vs colocate 99ms) and widest probe failure set.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515600" y="288036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Refuted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703320"/>
            <a:ext cx="640080" cy="73152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H3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3703320"/>
            <a:ext cx="4206240" cy="73152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43800" y="3721608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74C3C"/>
                </a:solidFill>
                <a:latin typeface="Calibri"/>
              </a:defRPr>
            </a:pPr>
            <a:r>
              <a:t>Recovery time predicts score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3977640"/>
            <a:ext cx="3017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Refuted: dep-aware fastest (1229ms) but score 69;</a:t>
            </a:r>
            <a:br/>
            <a:r>
              <a:t>colocate slower (1333ms) but score 83. No correlation.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15600" y="3886200"/>
            <a:ext cx="1005840" cy="320040"/>
          </a:xfrm>
          <a:prstGeom prst="round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 tIns="25400" bIns="25400"/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Refuted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1206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Key Insights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E74C3C"/>
                </a:solidFill>
                <a:latin typeface="Calibri"/>
              </a:defRPr>
            </a:pPr>
            <a:r>
              <a:t>Churn ≠ Contention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Literature assumes faults create resource contention. Pod-delete creates rescheduling churn — a different mechanism with opposite placement implications.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8056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096D6"/>
                </a:solidFill>
                <a:latin typeface="Calibri"/>
              </a:defRPr>
            </a:pPr>
            <a:r>
              <a:t>Locality &gt; Recovery Speed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6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Recovery times cluster in 1.2–1.6s for all strategies, yet scores span 52–83. What matters is whether probe paths stay node-local during the kill cycle — not how fast the replacement pod becomes ready.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8160" y="5486400"/>
            <a:ext cx="3566160" cy="10972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21040" y="54864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ECC71"/>
                </a:solidFill>
                <a:latin typeface="Calibri"/>
              </a:defRPr>
            </a:pPr>
            <a:r>
              <a:t>Cross-Node = Failure Surface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576072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DBDBD"/>
                </a:solidFill>
                <a:latin typeface="Calibri"/>
              </a:defRPr>
            </a:pPr>
            <a:r>
              <a:t>Spread maximises cross-node traffic, which is exactly what pod-delete churn disrupts — every cross-node hop becomes a failure surface during the kill cycle.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Threats to Validity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Internal Validity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application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Results based on Google Online Boutique — a representative but single microservice benchmark. Other application topologies may yield different results.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3832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Single replica per service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7033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100% pod-delete guarantees unavailability, but production systems typically run multiple replicas. Results represent worst-case single-replica scenarios.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846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Virtualized environment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KVM/QEMU introduces virtualization overhead. Bare-metal clusters may show different performance characteristics, especially for I/O metrics.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371600"/>
            <a:ext cx="5486400" cy="5029200"/>
          </a:xfrm>
          <a:prstGeom prst="roundRect">
            <a:avLst/>
          </a:prstGeom>
          <a:solidFill>
            <a:srgbClr val="121222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1732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External Validity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Cluster scale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4028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5-node cluster (1 control plane + 4 workers, 10 vCPU, 14 GiB). Larger clusters with more nodes and resources may show different placement effects.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38328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Fault types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70332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Only pod-delete and pod-cpu-hog tested. Network partitions, disk faults, and memory pressure faults may reveal different strategy rankings.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84632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Traffic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5166360"/>
            <a:ext cx="51206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DBDBD"/>
                </a:solidFill>
                <a:latin typeface="Calibri"/>
              </a:defRPr>
            </a:pPr>
            <a:r>
              <a:t>Steady-state load (50 users, 10/s). Bursty, ramping, or production-like traffic patterns may affect results differently.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FFFFFF"/>
                </a:solidFill>
                <a:latin typeface="Calibri"/>
              </a:defRPr>
            </a:pPr>
            <a:r>
              <a:t>Conclusion &amp; 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274320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45720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ChaosProbe framework: automated placement-</a:t>
            </a:r>
            <a:br/>
            <a:r>
              <a:t>  aware chaos testing for Kubernetes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Systematic evaluation of 6 placement strategies</a:t>
            </a:r>
            <a:br/>
            <a:r>
              <a:t>  under 2 fault types across 4 metric dimensions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Neo4j graph storage preserving causal</a:t>
            </a:r>
            <a:br/>
            <a:r>
              <a:t>  relationships for topology-aware analysis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Reproducible methodology: seeded randomness,</a:t>
            </a:r>
            <a:br/>
            <a:r>
              <a:t>  exact configs, automated comparison pipeline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303520" cy="292608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3716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D6"/>
                </a:solidFill>
                <a:latin typeface="Calibri"/>
              </a:defRPr>
            </a:pPr>
            <a:r>
              <a:t>Key Findings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1783080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All three literature-derived hypotheses</a:t>
            </a:r>
            <a:br/>
            <a:r>
              <a:t>  REFUTED — colocate 83 &gt; spread 52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Mechanism: pod-delete is churn-based,</a:t>
            </a:r>
            <a:br/>
            <a:r>
              <a:t>  not contention-based — locality wins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Recovery time does not predict score —</a:t>
            </a:r>
            <a:br/>
            <a:r>
              <a:t>  what matters is in-flight cross-node hops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200">
                <a:solidFill>
                  <a:srgbClr val="BDBDBD"/>
                </a:solidFill>
                <a:latin typeface="Calibri"/>
              </a:defRPr>
            </a:pPr>
            <a:r>
              <a:t>• Methodology control held: baseline = 100,</a:t>
            </a:r>
            <a:br/>
            <a:r>
              <a:t>  stddev 0 — refutations are real, not noise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4480560"/>
            <a:ext cx="11064240" cy="146304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480560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Future Work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846320"/>
            <a:ext cx="51206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Test contention-based faults (pod-cpu-hog,</a:t>
            </a:r>
            <a:br/>
            <a:r>
              <a:t>  memory-hog) — predict ordering flips back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Multi-replica services — does locality still win</a:t>
            </a:r>
            <a:br/>
            <a:r>
              <a:t>  when restart can happen on a peer pod?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Larger cluster + production-like traffic patterns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4846320"/>
            <a:ext cx="52120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placement guidance — choose strategy</a:t>
            </a:r>
            <a:br/>
            <a:r>
              <a:t>  by expected fault type, not by general 'best practice'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ML-based anomaly detection on collected dataset</a:t>
            </a:r>
          </a:p>
          <a:p>
            <a:pPr>
              <a:spcBef>
                <a:spcPts val="200"/>
              </a:spcBef>
              <a:spcAft>
                <a:spcPts val="200"/>
              </a:spcAft>
              <a:defRPr sz="1100">
                <a:solidFill>
                  <a:srgbClr val="BDBDBD"/>
                </a:solidFill>
                <a:latin typeface="Calibri"/>
              </a:defRPr>
            </a:pPr>
            <a:r>
              <a:t>• Per-fault-class extensions to Borg / Medea schedulers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6126480"/>
            <a:ext cx="11064240" cy="640080"/>
          </a:xfrm>
          <a:prstGeom prst="roundRect">
            <a:avLst/>
          </a:prstGeom>
          <a:solidFill>
            <a:srgbClr val="121222"/>
          </a:solidFill>
          <a:ln w="381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6172200"/>
            <a:ext cx="10698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Placement-vs-resilience intuition from the literature is fault-class-specific. Under churn-based faults (pod-delete), co-location wins because it minimises cross-node disruption during the kill cycle.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1B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0" y="1828800"/>
            <a:ext cx="9418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0" y="3017520"/>
            <a:ext cx="3017520" cy="38100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3383280"/>
            <a:ext cx="9418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0">
                <a:solidFill>
                  <a:srgbClr val="0096D6"/>
                </a:solidFill>
                <a:latin typeface="Calibri"/>
              </a:defRPr>
            </a:pPr>
            <a:r>
              <a:t>Questions?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28600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1ABC9C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Placement</a:t>
            </a:r>
            <a:br/>
            <a:r>
              <a:t>Strategies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2ECC7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2ECC71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Metric</a:t>
            </a:r>
            <a:br/>
            <a:r>
              <a:t>Dimensions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E74C3C"/>
                </a:solidFill>
                <a:latin typeface="Calibri"/>
              </a:defRPr>
            </a:pPr>
            <a:r>
              <a:t>3/3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Hypotheses</a:t>
            </a:r>
            <a:br/>
            <a:r>
              <a:t>Refuted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59" y="4754880"/>
            <a:ext cx="1645920" cy="914400"/>
          </a:xfrm>
          <a:prstGeom prst="roundRect">
            <a:avLst/>
          </a:prstGeom>
          <a:solidFill>
            <a:srgbClr val="121222"/>
          </a:solidFill>
          <a:ln w="12700">
            <a:solidFill>
              <a:srgbClr val="0096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95359" y="4754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0096D6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95359" y="516636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BDBDBD"/>
                </a:solidFill>
                <a:latin typeface="Calibri"/>
              </a:defRPr>
            </a:pPr>
            <a:r>
              <a:t>Unified</a:t>
            </a:r>
            <a:br/>
            <a:r>
              <a:t>Mechanism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