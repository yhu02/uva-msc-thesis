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Rounded Rectangle 1"/>
          <p:cNvSpPr/>
          <p:nvPr/>
        </p:nvSpPr>
        <p:spPr>
          <a:xfrm>
            <a:off x="0" y="0"/>
            <a:ext cx="12191695" cy="2194560"/>
          </a:xfrm>
          <a:prstGeom prst="roundRect">
            <a:avLst/>
          </a:prstGeom>
          <a:solidFill>
            <a:srgbClr val="121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777240"/>
            <a:ext cx="10698480" cy="914400"/>
          </a:xfrm>
          <a:prstGeom prst="rect">
            <a:avLst/>
          </a:prstGeom>
          <a:noFill/>
        </p:spPr>
        <p:txBody>
          <a:bodyPr wrap="square">
            <a:spAutoFit/>
          </a:bodyPr>
          <a:lstStyle/>
          <a:p>
            <a:pPr algn="ctr">
              <a:defRPr sz="5400" b="1">
                <a:solidFill>
                  <a:srgbClr val="0096D6"/>
                </a:solidFill>
                <a:latin typeface="Calibri"/>
              </a:defRPr>
            </a:pPr>
            <a:r>
              <a:t>ChaosProbe</a:t>
            </a:r>
          </a:p>
        </p:txBody>
      </p:sp>
      <p:sp>
        <p:nvSpPr>
          <p:cNvPr id="4" name="TextBox 3"/>
          <p:cNvSpPr txBox="1"/>
          <p:nvPr/>
        </p:nvSpPr>
        <p:spPr>
          <a:xfrm>
            <a:off x="731520" y="1600200"/>
            <a:ext cx="10698480" cy="548640"/>
          </a:xfrm>
          <a:prstGeom prst="rect">
            <a:avLst/>
          </a:prstGeom>
          <a:noFill/>
        </p:spPr>
        <p:txBody>
          <a:bodyPr wrap="square">
            <a:spAutoFit/>
          </a:bodyPr>
          <a:lstStyle/>
          <a:p>
            <a:pPr algn="ctr">
              <a:defRPr sz="2200" b="1">
                <a:solidFill>
                  <a:srgbClr val="FFFFFF"/>
                </a:solidFill>
                <a:latin typeface="Calibri"/>
              </a:defRPr>
            </a:pPr>
            <a:r>
              <a:t>Measuring Placement-Sensitive Resilience under Chaos</a:t>
            </a:r>
          </a:p>
        </p:txBody>
      </p:sp>
      <p:sp>
        <p:nvSpPr>
          <p:cNvPr id="5" name="TextBox 4"/>
          <p:cNvSpPr txBox="1"/>
          <p:nvPr/>
        </p:nvSpPr>
        <p:spPr>
          <a:xfrm>
            <a:off x="731520" y="2468880"/>
            <a:ext cx="10698480" cy="457200"/>
          </a:xfrm>
          <a:prstGeom prst="rect">
            <a:avLst/>
          </a:prstGeom>
          <a:noFill/>
        </p:spPr>
        <p:txBody>
          <a:bodyPr wrap="square">
            <a:spAutoFit/>
          </a:bodyPr>
          <a:lstStyle/>
          <a:p>
            <a:pPr algn="ctr">
              <a:defRPr sz="1800" b="0">
                <a:solidFill>
                  <a:srgbClr val="BDBDBD"/>
                </a:solidFill>
                <a:latin typeface="Calibri"/>
              </a:defRPr>
            </a:pPr>
            <a:r>
              <a:t>A pre-registered, layered study in Kubernetes</a:t>
            </a:r>
          </a:p>
        </p:txBody>
      </p:sp>
      <p:sp>
        <p:nvSpPr>
          <p:cNvPr id="6" name="Rounded Rectangle 5"/>
          <p:cNvSpPr/>
          <p:nvPr/>
        </p:nvSpPr>
        <p:spPr>
          <a:xfrm>
            <a:off x="2194560" y="3291840"/>
            <a:ext cx="7772400" cy="502920"/>
          </a:xfrm>
          <a:prstGeom prst="roundRect">
            <a:avLst/>
          </a:prstGeom>
          <a:solidFill>
            <a:srgbClr val="121222"/>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400" b="1">
                <a:solidFill>
                  <a:srgbClr val="E74C3C"/>
                </a:solidFill>
                <a:latin typeface="Calibri"/>
              </a:defRPr>
            </a:pPr>
            <a:r>
              <a:t>A single score is blind to placement</a:t>
            </a:r>
          </a:p>
        </p:txBody>
      </p:sp>
      <p:sp>
        <p:nvSpPr>
          <p:cNvPr id="7" name="Rounded Rectangle 6"/>
          <p:cNvSpPr/>
          <p:nvPr/>
        </p:nvSpPr>
        <p:spPr>
          <a:xfrm>
            <a:off x="2194560" y="3931920"/>
            <a:ext cx="7772400" cy="50292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400" b="1">
                <a:solidFill>
                  <a:srgbClr val="F39C12"/>
                </a:solidFill>
                <a:latin typeface="Calibri"/>
              </a:defRPr>
            </a:pPr>
            <a:r>
              <a:t>Placement moves a real kernel mechanism — that does not reach the user</a:t>
            </a:r>
          </a:p>
        </p:txBody>
      </p:sp>
      <p:sp>
        <p:nvSpPr>
          <p:cNvPr id="8" name="Rounded Rectangle 7"/>
          <p:cNvSpPr/>
          <p:nvPr/>
        </p:nvSpPr>
        <p:spPr>
          <a:xfrm>
            <a:off x="2194560" y="4572000"/>
            <a:ext cx="7772400" cy="50292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400" b="1">
                <a:solidFill>
                  <a:srgbClr val="2ECC71"/>
                </a:solidFill>
                <a:latin typeface="Calibri"/>
              </a:defRPr>
            </a:pPr>
            <a:r>
              <a:t>Where it does reach users is availability under node failure — predictably</a:t>
            </a:r>
          </a:p>
        </p:txBody>
      </p:sp>
      <p:sp>
        <p:nvSpPr>
          <p:cNvPr id="9" name="TextBox 8"/>
          <p:cNvSpPr txBox="1"/>
          <p:nvPr/>
        </p:nvSpPr>
        <p:spPr>
          <a:xfrm>
            <a:off x="731520" y="5715000"/>
            <a:ext cx="10698480" cy="365760"/>
          </a:xfrm>
          <a:prstGeom prst="rect">
            <a:avLst/>
          </a:prstGeom>
          <a:noFill/>
        </p:spPr>
        <p:txBody>
          <a:bodyPr wrap="square">
            <a:spAutoFit/>
          </a:bodyPr>
          <a:lstStyle/>
          <a:p>
            <a:pPr algn="ctr">
              <a:defRPr sz="1600" b="1">
                <a:solidFill>
                  <a:srgbClr val="FFFFFF"/>
                </a:solidFill>
                <a:latin typeface="Calibri"/>
              </a:defRPr>
            </a:pPr>
            <a:r>
              <a:t>Yvo Hu  ·  MSc Thesis Defense  ·  University of Amsterdam</a:t>
            </a:r>
          </a:p>
        </p:txBody>
      </p:sp>
      <p:sp>
        <p:nvSpPr>
          <p:cNvPr id="10" name="TextBox 9"/>
          <p:cNvSpPr txBox="1"/>
          <p:nvPr/>
        </p:nvSpPr>
        <p:spPr>
          <a:xfrm>
            <a:off x="731520" y="6126480"/>
            <a:ext cx="10698480" cy="365760"/>
          </a:xfrm>
          <a:prstGeom prst="rect">
            <a:avLst/>
          </a:prstGeom>
          <a:noFill/>
        </p:spPr>
        <p:txBody>
          <a:bodyPr wrap="square">
            <a:spAutoFit/>
          </a:bodyPr>
          <a:lstStyle/>
          <a:p>
            <a:pPr algn="ctr">
              <a:defRPr sz="1200" b="0">
                <a:solidFill>
                  <a:srgbClr val="9090A0"/>
                </a:solidFill>
                <a:latin typeface="Calibri"/>
              </a:defRPr>
            </a:pPr>
            <a:r>
              <a:t>Supervisor: [TODO]   ·   Examiner: [TODO]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defRPr sz="3000" b="1">
                <a:solidFill>
                  <a:srgbClr val="FFFFFF"/>
                </a:solidFill>
                <a:latin typeface="Calibri"/>
              </a:defRPr>
            </a:pPr>
            <a:r>
              <a:t>The Operator's Decision</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60120"/>
            <a:ext cx="11155680" cy="457200"/>
          </a:xfrm>
          <a:prstGeom prst="rect">
            <a:avLst/>
          </a:prstGeom>
          <a:noFill/>
        </p:spPr>
        <p:txBody>
          <a:bodyPr wrap="square">
            <a:spAutoFit/>
          </a:bodyPr>
          <a:lstStyle/>
          <a:p>
            <a:pPr algn="l">
              <a:defRPr sz="1500" b="0">
                <a:solidFill>
                  <a:srgbClr val="BDBDBD"/>
                </a:solidFill>
                <a:latin typeface="Calibri"/>
              </a:defRPr>
            </a:pPr>
            <a:r>
              <a:t>Pack the services onto few nodes, or spread them across many?</a:t>
            </a:r>
          </a:p>
        </p:txBody>
      </p:sp>
      <p:sp>
        <p:nvSpPr>
          <p:cNvPr id="5" name="Rounded Rectangle 4"/>
          <p:cNvSpPr/>
          <p:nvPr/>
        </p:nvSpPr>
        <p:spPr>
          <a:xfrm>
            <a:off x="548640" y="1600200"/>
            <a:ext cx="5394960" cy="141732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91640"/>
            <a:ext cx="5029200" cy="1280160"/>
          </a:xfrm>
          <a:prstGeom prst="rect">
            <a:avLst/>
          </a:prstGeom>
          <a:noFill/>
        </p:spPr>
        <p:txBody>
          <a:bodyPr wrap="square">
            <a:spAutoFit/>
          </a:bodyPr>
          <a:lstStyle/>
          <a:p>
            <a:pPr>
              <a:spcAft>
                <a:spcPts val="600"/>
              </a:spcAft>
              <a:defRPr sz="1500" b="1">
                <a:solidFill>
                  <a:srgbClr val="2ECC71"/>
                </a:solidFill>
                <a:latin typeface="Calibri"/>
              </a:defRPr>
            </a:pPr>
            <a:r>
              <a:t>Pack — the locality literature</a:t>
            </a:r>
          </a:p>
          <a:p>
            <a:pPr>
              <a:spcBef>
                <a:spcPts val="200"/>
              </a:spcBef>
              <a:spcAft>
                <a:spcPts val="200"/>
              </a:spcAft>
              <a:defRPr sz="1250">
                <a:solidFill>
                  <a:srgbClr val="BDBDBD"/>
                </a:solidFill>
                <a:latin typeface="Calibri"/>
              </a:defRPr>
            </a:pPr>
            <a:r>
              <a:t>• Locality lowers inter-service latency — co-located calls stay</a:t>
            </a:r>
          </a:p>
          <a:p>
            <a:pPr>
              <a:spcBef>
                <a:spcPts val="200"/>
              </a:spcBef>
              <a:spcAft>
                <a:spcPts val="200"/>
              </a:spcAft>
              <a:defRPr sz="1250">
                <a:solidFill>
                  <a:srgbClr val="BDBDBD"/>
                </a:solidFill>
                <a:latin typeface="Calibri"/>
              </a:defRPr>
            </a:pPr>
            <a:r>
              <a:t>   node-local (NetMARKS reports up to 37% faster responses)</a:t>
            </a:r>
          </a:p>
          <a:p>
            <a:pPr>
              <a:spcBef>
                <a:spcPts val="200"/>
              </a:spcBef>
              <a:spcAft>
                <a:spcPts val="200"/>
              </a:spcAft>
              <a:defRPr sz="1250">
                <a:solidFill>
                  <a:srgbClr val="BDBDBD"/>
                </a:solidFill>
                <a:latin typeface="Calibri"/>
              </a:defRPr>
            </a:pPr>
            <a:r>
              <a:t>• Schedulers from Borg to Medea encode this as resource fit</a:t>
            </a:r>
          </a:p>
        </p:txBody>
      </p:sp>
      <p:sp>
        <p:nvSpPr>
          <p:cNvPr id="7" name="Rounded Rectangle 6"/>
          <p:cNvSpPr/>
          <p:nvPr/>
        </p:nvSpPr>
        <p:spPr>
          <a:xfrm>
            <a:off x="6217920" y="1600200"/>
            <a:ext cx="5394960" cy="141732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5029200" cy="1280160"/>
          </a:xfrm>
          <a:prstGeom prst="rect">
            <a:avLst/>
          </a:prstGeom>
          <a:noFill/>
        </p:spPr>
        <p:txBody>
          <a:bodyPr wrap="square">
            <a:spAutoFit/>
          </a:bodyPr>
          <a:lstStyle/>
          <a:p>
            <a:pPr>
              <a:spcAft>
                <a:spcPts val="600"/>
              </a:spcAft>
              <a:defRPr sz="1500" b="1">
                <a:solidFill>
                  <a:srgbClr val="F39C12"/>
                </a:solidFill>
                <a:latin typeface="Calibri"/>
              </a:defRPr>
            </a:pPr>
            <a:r>
              <a:t>Spread — the availability literature</a:t>
            </a:r>
          </a:p>
          <a:p>
            <a:pPr>
              <a:spcBef>
                <a:spcPts val="200"/>
              </a:spcBef>
              <a:spcAft>
                <a:spcPts val="200"/>
              </a:spcAft>
              <a:defRPr sz="1250">
                <a:solidFill>
                  <a:srgbClr val="BDBDBD"/>
                </a:solidFill>
                <a:latin typeface="Calibri"/>
              </a:defRPr>
            </a:pPr>
            <a:r>
              <a:t>• Services in distinct failure domains survive the loss of any</a:t>
            </a:r>
          </a:p>
          <a:p>
            <a:pPr>
              <a:spcBef>
                <a:spcPts val="200"/>
              </a:spcBef>
              <a:spcAft>
                <a:spcPts val="200"/>
              </a:spcAft>
              <a:defRPr sz="1250">
                <a:solidFill>
                  <a:srgbClr val="BDBDBD"/>
                </a:solidFill>
                <a:latin typeface="Calibri"/>
              </a:defRPr>
            </a:pPr>
            <a:r>
              <a:t>   one node (Medea topology spread)</a:t>
            </a:r>
          </a:p>
          <a:p>
            <a:pPr>
              <a:spcBef>
                <a:spcPts val="200"/>
              </a:spcBef>
              <a:spcAft>
                <a:spcPts val="200"/>
              </a:spcAft>
              <a:defRPr sz="1250">
                <a:solidFill>
                  <a:srgbClr val="BDBDBD"/>
                </a:solidFill>
                <a:latin typeface="Calibri"/>
              </a:defRPr>
            </a:pPr>
            <a:r>
              <a:t>• Co-location invites resource contention (Bubble-Up, Quasar)</a:t>
            </a:r>
          </a:p>
        </p:txBody>
      </p:sp>
      <p:sp>
        <p:nvSpPr>
          <p:cNvPr id="9" name="Rounded Rectangle 8"/>
          <p:cNvSpPr/>
          <p:nvPr/>
        </p:nvSpPr>
        <p:spPr>
          <a:xfrm>
            <a:off x="548640" y="3246120"/>
            <a:ext cx="11064240" cy="1143000"/>
          </a:xfrm>
          <a:prstGeom prst="roundRect">
            <a:avLst/>
          </a:prstGeom>
          <a:solidFill>
            <a:srgbClr val="2A2A3E"/>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337560"/>
            <a:ext cx="10698480" cy="1005840"/>
          </a:xfrm>
          <a:prstGeom prst="rect">
            <a:avLst/>
          </a:prstGeom>
          <a:noFill/>
        </p:spPr>
        <p:txBody>
          <a:bodyPr wrap="square">
            <a:spAutoFit/>
          </a:bodyPr>
          <a:lstStyle/>
          <a:p>
            <a:pPr>
              <a:spcAft>
                <a:spcPts val="600"/>
              </a:spcAft>
              <a:defRPr sz="1500" b="1">
                <a:solidFill>
                  <a:srgbClr val="E74C3C"/>
                </a:solidFill>
                <a:latin typeface="Calibri"/>
              </a:defRPr>
            </a:pPr>
            <a:r>
              <a:t>What does today's tooling tell this operator?</a:t>
            </a:r>
          </a:p>
          <a:p>
            <a:pPr>
              <a:spcBef>
                <a:spcPts val="200"/>
              </a:spcBef>
              <a:spcAft>
                <a:spcPts val="200"/>
              </a:spcAft>
              <a:defRPr sz="1300">
                <a:solidFill>
                  <a:srgbClr val="BDBDBD"/>
                </a:solidFill>
                <a:latin typeface="Calibri"/>
              </a:defRPr>
            </a:pPr>
            <a:r>
              <a:t>• The Kubernetes scheduler scores nodes on resource fit, not fault isolation — it answers a different question</a:t>
            </a:r>
          </a:p>
          <a:p>
            <a:pPr>
              <a:spcBef>
                <a:spcPts val="200"/>
              </a:spcBef>
              <a:spcAft>
                <a:spcPts val="200"/>
              </a:spcAft>
              <a:defRPr sz="1300">
                <a:solidFill>
                  <a:srgbClr val="BDBDBD"/>
                </a:solidFill>
                <a:latin typeface="Calibri"/>
              </a:defRPr>
            </a:pPr>
            <a:r>
              <a:t>• Chaos-engineering tools answer the resilience question — but collapse the outcome into a single aggregate score</a:t>
            </a:r>
          </a:p>
          <a:p>
            <a:pPr>
              <a:spcBef>
                <a:spcPts val="200"/>
              </a:spcBef>
              <a:spcAft>
                <a:spcPts val="200"/>
              </a:spcAft>
              <a:defRPr sz="1300">
                <a:solidFill>
                  <a:srgbClr val="BDBDBD"/>
                </a:solidFill>
                <a:latin typeface="Calibri"/>
              </a:defRPr>
            </a:pPr>
            <a:r>
              <a:t>• Whether that score can even discriminate between placements — signal vs run-to-run noise — is unexamined</a:t>
            </a:r>
          </a:p>
        </p:txBody>
      </p:sp>
      <p:sp>
        <p:nvSpPr>
          <p:cNvPr id="11" name="Rounded Rectangle 10"/>
          <p:cNvSpPr/>
          <p:nvPr/>
        </p:nvSpPr>
        <p:spPr>
          <a:xfrm>
            <a:off x="548640" y="4617720"/>
            <a:ext cx="11064240" cy="173736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709160"/>
            <a:ext cx="10698480" cy="411480"/>
          </a:xfrm>
          <a:prstGeom prst="rect">
            <a:avLst/>
          </a:prstGeom>
          <a:noFill/>
        </p:spPr>
        <p:txBody>
          <a:bodyPr wrap="square">
            <a:spAutoFit/>
          </a:bodyPr>
          <a:lstStyle/>
          <a:p>
            <a:pPr algn="l">
              <a:defRPr sz="1600" b="1">
                <a:solidFill>
                  <a:srgbClr val="0096D6"/>
                </a:solidFill>
                <a:latin typeface="Calibri"/>
              </a:defRPr>
            </a:pPr>
            <a:r>
              <a:t>The research gap</a:t>
            </a:r>
          </a:p>
        </p:txBody>
      </p:sp>
      <p:sp>
        <p:nvSpPr>
          <p:cNvPr id="13" name="TextBox 12"/>
          <p:cNvSpPr txBox="1"/>
          <p:nvPr/>
        </p:nvSpPr>
        <p:spPr>
          <a:xfrm>
            <a:off x="777240" y="5120640"/>
            <a:ext cx="10698480" cy="1143000"/>
          </a:xfrm>
          <a:prstGeom prst="rect">
            <a:avLst/>
          </a:prstGeom>
          <a:noFill/>
        </p:spPr>
        <p:txBody>
          <a:bodyPr wrap="square">
            <a:spAutoFit/>
          </a:bodyPr>
          <a:lstStyle/>
          <a:p>
            <a:pPr algn="l">
              <a:defRPr sz="1400" b="0">
                <a:solidFill>
                  <a:srgbClr val="F0F0F8"/>
                </a:solidFill>
                <a:latin typeface="Calibri"/>
              </a:defRPr>
            </a:pPr>
            <a:r>
              <a:t>Two bodies of practice — placement and chaos engineering — have never been connected. Nobody has measured AT WHICH LAYER a placement effect appears under a given fault class, whether it reaches the user-visible outcome, and whether an aggregate score can see it at all. If placement moves a kernel mechanism but not the user outcome, a single score is the wrong instrument — and placement advice derived from it is unreliable.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defRPr sz="3000" b="1">
                <a:solidFill>
                  <a:srgbClr val="FFFFFF"/>
                </a:solidFill>
                <a:latin typeface="Calibri"/>
              </a:defRPr>
            </a:pPr>
            <a:r>
              <a:t>Research Question</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60120"/>
            <a:ext cx="11155680" cy="457200"/>
          </a:xfrm>
          <a:prstGeom prst="rect">
            <a:avLst/>
          </a:prstGeom>
          <a:noFill/>
        </p:spPr>
        <p:txBody>
          <a:bodyPr wrap="square">
            <a:spAutoFit/>
          </a:bodyPr>
          <a:lstStyle/>
          <a:p>
            <a:pPr algn="l">
              <a:defRPr sz="1500" b="0">
                <a:solidFill>
                  <a:srgbClr val="BDBDBD"/>
                </a:solidFill>
                <a:latin typeface="Calibri"/>
              </a:defRPr>
            </a:pPr>
            <a:r>
              <a:t>A fault-class × measurement-layer study — not a placement ranking</a:t>
            </a:r>
          </a:p>
        </p:txBody>
      </p:sp>
      <p:sp>
        <p:nvSpPr>
          <p:cNvPr id="5" name="Rounded Rectangle 4"/>
          <p:cNvSpPr/>
          <p:nvPr/>
        </p:nvSpPr>
        <p:spPr>
          <a:xfrm>
            <a:off x="548640" y="1554480"/>
            <a:ext cx="11064240" cy="109728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691640"/>
            <a:ext cx="10515600" cy="914400"/>
          </a:xfrm>
          <a:prstGeom prst="rect">
            <a:avLst/>
          </a:prstGeom>
          <a:noFill/>
        </p:spPr>
        <p:txBody>
          <a:bodyPr wrap="square">
            <a:spAutoFit/>
          </a:bodyPr>
          <a:lstStyle/>
          <a:p>
            <a:pPr algn="l">
              <a:defRPr sz="1700" b="1">
                <a:solidFill>
                  <a:srgbClr val="FFFFFF"/>
                </a:solidFill>
                <a:latin typeface="Calibri"/>
              </a:defRPr>
            </a:pPr>
            <a:r>
              <a:t>Under which chaos fault classes does pod placement measurably affect mechanism-level behaviour and user-visible outcomes in a Kubernetes microservice application — and when do aggregate resilience scores obscure those effects?</a:t>
            </a:r>
          </a:p>
        </p:txBody>
      </p:sp>
      <p:sp>
        <p:nvSpPr>
          <p:cNvPr id="7" name="TextBox 6"/>
          <p:cNvSpPr txBox="1"/>
          <p:nvPr/>
        </p:nvSpPr>
        <p:spPr>
          <a:xfrm>
            <a:off x="548640" y="2834640"/>
            <a:ext cx="5486400" cy="365760"/>
          </a:xfrm>
          <a:prstGeom prst="rect">
            <a:avLst/>
          </a:prstGeom>
          <a:noFill/>
        </p:spPr>
        <p:txBody>
          <a:bodyPr wrap="square">
            <a:spAutoFit/>
          </a:bodyPr>
          <a:lstStyle/>
          <a:p>
            <a:pPr algn="l">
              <a:defRPr sz="1400" b="1">
                <a:solidFill>
                  <a:srgbClr val="0096D6"/>
                </a:solidFill>
                <a:latin typeface="Calibri"/>
              </a:defRPr>
            </a:pPr>
            <a:r>
              <a:t>An effect can appear at three layers — they need not agree:</a:t>
            </a:r>
          </a:p>
        </p:txBody>
      </p:sp>
      <p:sp>
        <p:nvSpPr>
          <p:cNvPr id="8" name="Rounded Rectangle 7"/>
          <p:cNvSpPr/>
          <p:nvPr/>
        </p:nvSpPr>
        <p:spPr>
          <a:xfrm>
            <a:off x="548640" y="3291840"/>
            <a:ext cx="5486400" cy="566928"/>
          </a:xfrm>
          <a:prstGeom prst="roundRect">
            <a:avLst/>
          </a:prstGeom>
          <a:solidFill>
            <a:srgbClr val="121222"/>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28416"/>
            <a:ext cx="3657600" cy="457200"/>
          </a:xfrm>
          <a:prstGeom prst="rect">
            <a:avLst/>
          </a:prstGeom>
          <a:noFill/>
        </p:spPr>
        <p:txBody>
          <a:bodyPr wrap="square">
            <a:spAutoFit/>
          </a:bodyPr>
          <a:lstStyle/>
          <a:p>
            <a:pPr algn="l">
              <a:defRPr sz="1350" b="1">
                <a:solidFill>
                  <a:srgbClr val="E74C3C"/>
                </a:solidFill>
                <a:latin typeface="Calibri"/>
              </a:defRPr>
            </a:pPr>
            <a:r>
              <a:t>(a) Aggregate score</a:t>
            </a:r>
          </a:p>
        </p:txBody>
      </p:sp>
      <p:sp>
        <p:nvSpPr>
          <p:cNvPr id="10" name="TextBox 9"/>
          <p:cNvSpPr txBox="1"/>
          <p:nvPr/>
        </p:nvSpPr>
        <p:spPr>
          <a:xfrm>
            <a:off x="4160520" y="3355848"/>
            <a:ext cx="1828800" cy="365760"/>
          </a:xfrm>
          <a:prstGeom prst="rect">
            <a:avLst/>
          </a:prstGeom>
          <a:noFill/>
        </p:spPr>
        <p:txBody>
          <a:bodyPr wrap="square">
            <a:spAutoFit/>
          </a:bodyPr>
          <a:lstStyle/>
          <a:p>
            <a:pPr algn="l">
              <a:defRPr sz="1100" b="0">
                <a:solidFill>
                  <a:srgbClr val="9090A0"/>
                </a:solidFill>
                <a:latin typeface="Calibri"/>
              </a:defRPr>
            </a:pPr>
            <a:r>
              <a:t>one resilience number</a:t>
            </a:r>
          </a:p>
        </p:txBody>
      </p:sp>
      <p:sp>
        <p:nvSpPr>
          <p:cNvPr id="11" name="Rounded Rectangle 10"/>
          <p:cNvSpPr/>
          <p:nvPr/>
        </p:nvSpPr>
        <p:spPr>
          <a:xfrm>
            <a:off x="548640" y="3968496"/>
            <a:ext cx="5486400" cy="566928"/>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005072"/>
            <a:ext cx="3657600" cy="457200"/>
          </a:xfrm>
          <a:prstGeom prst="rect">
            <a:avLst/>
          </a:prstGeom>
          <a:noFill/>
        </p:spPr>
        <p:txBody>
          <a:bodyPr wrap="square">
            <a:spAutoFit/>
          </a:bodyPr>
          <a:lstStyle/>
          <a:p>
            <a:pPr algn="l">
              <a:defRPr sz="1350" b="1">
                <a:solidFill>
                  <a:srgbClr val="F39C12"/>
                </a:solidFill>
                <a:latin typeface="Calibri"/>
              </a:defRPr>
            </a:pPr>
            <a:r>
              <a:t>(b) Kernel / network mechanism</a:t>
            </a:r>
          </a:p>
        </p:txBody>
      </p:sp>
      <p:sp>
        <p:nvSpPr>
          <p:cNvPr id="13" name="TextBox 12"/>
          <p:cNvSpPr txBox="1"/>
          <p:nvPr/>
        </p:nvSpPr>
        <p:spPr>
          <a:xfrm>
            <a:off x="4160520" y="4032504"/>
            <a:ext cx="1828800" cy="365760"/>
          </a:xfrm>
          <a:prstGeom prst="rect">
            <a:avLst/>
          </a:prstGeom>
          <a:noFill/>
        </p:spPr>
        <p:txBody>
          <a:bodyPr wrap="square">
            <a:spAutoFit/>
          </a:bodyPr>
          <a:lstStyle/>
          <a:p>
            <a:pPr algn="l">
              <a:defRPr sz="1100" b="0">
                <a:solidFill>
                  <a:srgbClr val="9090A0"/>
                </a:solidFill>
                <a:latin typeface="Calibri"/>
              </a:defRPr>
            </a:pPr>
            <a:r>
              <a:t>conntrack, kube-proxy SLO</a:t>
            </a:r>
          </a:p>
        </p:txBody>
      </p:sp>
      <p:sp>
        <p:nvSpPr>
          <p:cNvPr id="14" name="Rounded Rectangle 13"/>
          <p:cNvSpPr/>
          <p:nvPr/>
        </p:nvSpPr>
        <p:spPr>
          <a:xfrm>
            <a:off x="548640" y="4645152"/>
            <a:ext cx="5486400" cy="566928"/>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681728"/>
            <a:ext cx="3657600" cy="457200"/>
          </a:xfrm>
          <a:prstGeom prst="rect">
            <a:avLst/>
          </a:prstGeom>
          <a:noFill/>
        </p:spPr>
        <p:txBody>
          <a:bodyPr wrap="square">
            <a:spAutoFit/>
          </a:bodyPr>
          <a:lstStyle/>
          <a:p>
            <a:pPr algn="l">
              <a:defRPr sz="1350" b="1">
                <a:solidFill>
                  <a:srgbClr val="2ECC71"/>
                </a:solidFill>
                <a:latin typeface="Calibri"/>
              </a:defRPr>
            </a:pPr>
            <a:r>
              <a:t>(c) User-visible outcome</a:t>
            </a:r>
          </a:p>
        </p:txBody>
      </p:sp>
      <p:sp>
        <p:nvSpPr>
          <p:cNvPr id="16" name="TextBox 15"/>
          <p:cNvSpPr txBox="1"/>
          <p:nvPr/>
        </p:nvSpPr>
        <p:spPr>
          <a:xfrm>
            <a:off x="4160520" y="4709160"/>
            <a:ext cx="1828800" cy="365760"/>
          </a:xfrm>
          <a:prstGeom prst="rect">
            <a:avLst/>
          </a:prstGeom>
          <a:noFill/>
        </p:spPr>
        <p:txBody>
          <a:bodyPr wrap="square">
            <a:spAutoFit/>
          </a:bodyPr>
          <a:lstStyle/>
          <a:p>
            <a:pPr algn="l">
              <a:defRPr sz="1100" b="0">
                <a:solidFill>
                  <a:srgbClr val="9090A0"/>
                </a:solidFill>
                <a:latin typeface="Calibri"/>
              </a:defRPr>
            </a:pPr>
            <a:r>
              <a:t>route latency + error rate</a:t>
            </a:r>
          </a:p>
        </p:txBody>
      </p:sp>
      <p:sp>
        <p:nvSpPr>
          <p:cNvPr id="17" name="TextBox 16"/>
          <p:cNvSpPr txBox="1"/>
          <p:nvPr/>
        </p:nvSpPr>
        <p:spPr>
          <a:xfrm>
            <a:off x="6400800" y="2834640"/>
            <a:ext cx="5212080" cy="365760"/>
          </a:xfrm>
          <a:prstGeom prst="rect">
            <a:avLst/>
          </a:prstGeom>
          <a:noFill/>
        </p:spPr>
        <p:txBody>
          <a:bodyPr wrap="square">
            <a:spAutoFit/>
          </a:bodyPr>
          <a:lstStyle/>
          <a:p>
            <a:pPr algn="l">
              <a:defRPr sz="1400" b="1">
                <a:solidFill>
                  <a:srgbClr val="0096D6"/>
                </a:solidFill>
                <a:latin typeface="Calibri"/>
              </a:defRPr>
            </a:pPr>
            <a:r>
              <a:t>Placement is manipulated by two orthogonal knobs:</a:t>
            </a:r>
          </a:p>
        </p:txBody>
      </p:sp>
      <p:sp>
        <p:nvSpPr>
          <p:cNvPr id="18" name="Rounded Rectangle 17"/>
          <p:cNvSpPr/>
          <p:nvPr/>
        </p:nvSpPr>
        <p:spPr>
          <a:xfrm>
            <a:off x="6400800" y="3291840"/>
            <a:ext cx="5212080" cy="713232"/>
          </a:xfrm>
          <a:prstGeom prst="roundRect">
            <a:avLst/>
          </a:prstGeom>
          <a:solidFill>
            <a:srgbClr val="121222"/>
          </a:solidFill>
          <a:ln w="127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0" y="3346704"/>
            <a:ext cx="4846320" cy="640080"/>
          </a:xfrm>
          <a:prstGeom prst="rect">
            <a:avLst/>
          </a:prstGeom>
          <a:noFill/>
        </p:spPr>
        <p:txBody>
          <a:bodyPr wrap="square">
            <a:spAutoFit/>
          </a:bodyPr>
          <a:lstStyle/>
          <a:p>
            <a:pPr algn="l">
              <a:defRPr sz="1300" b="1">
                <a:solidFill>
                  <a:srgbClr val="FFFFFF"/>
                </a:solidFill>
                <a:latin typeface="Calibri"/>
              </a:defRPr>
            </a:pPr>
            <a:r>
              <a:t>f  — cross-node dependency-edge fraction</a:t>
            </a:r>
            <a:br/>
            <a:r>
              <a:t>     (packing f=0  →  spreading f=1)</a:t>
            </a:r>
          </a:p>
        </p:txBody>
      </p:sp>
      <p:sp>
        <p:nvSpPr>
          <p:cNvPr id="20" name="Rounded Rectangle 19"/>
          <p:cNvSpPr/>
          <p:nvPr/>
        </p:nvSpPr>
        <p:spPr>
          <a:xfrm>
            <a:off x="6400800" y="4114800"/>
            <a:ext cx="5212080" cy="713232"/>
          </a:xfrm>
          <a:prstGeom prst="roundRect">
            <a:avLst/>
          </a:prstGeom>
          <a:solidFill>
            <a:srgbClr val="121222"/>
          </a:solidFill>
          <a:ln w="127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4169663"/>
            <a:ext cx="4846320" cy="640080"/>
          </a:xfrm>
          <a:prstGeom prst="rect">
            <a:avLst/>
          </a:prstGeom>
          <a:noFill/>
        </p:spPr>
        <p:txBody>
          <a:bodyPr wrap="square">
            <a:spAutoFit/>
          </a:bodyPr>
          <a:lstStyle/>
          <a:p>
            <a:pPr algn="l">
              <a:defRPr sz="1300" b="1">
                <a:solidFill>
                  <a:srgbClr val="FFFFFF"/>
                </a:solidFill>
                <a:latin typeface="Calibri"/>
              </a:defRPr>
            </a:pPr>
            <a:r>
              <a:t>r  — replication degree</a:t>
            </a:r>
            <a:br/>
            <a:r>
              <a:t>     (packed vs anti-affine)</a:t>
            </a:r>
          </a:p>
        </p:txBody>
      </p:sp>
      <p:sp>
        <p:nvSpPr>
          <p:cNvPr id="22" name="TextBox 21"/>
          <p:cNvSpPr txBox="1"/>
          <p:nvPr/>
        </p:nvSpPr>
        <p:spPr>
          <a:xfrm>
            <a:off x="6400800" y="4937760"/>
            <a:ext cx="5212080" cy="731520"/>
          </a:xfrm>
          <a:prstGeom prst="rect">
            <a:avLst/>
          </a:prstGeom>
          <a:noFill/>
        </p:spPr>
        <p:txBody>
          <a:bodyPr wrap="square">
            <a:spAutoFit/>
          </a:bodyPr>
          <a:lstStyle/>
          <a:p>
            <a:pPr algn="l">
              <a:defRPr sz="1200" b="0">
                <a:solidFill>
                  <a:srgbClr val="BDBDBD"/>
                </a:solidFill>
                <a:latin typeface="Calibri"/>
              </a:defRPr>
            </a:pPr>
            <a:r>
              <a:t>+ two interventional arms: NodeLocal DNSCache (executed) and kube-proxy mode (de-scoped to ipvs, not run).</a:t>
            </a:r>
          </a:p>
        </p:txBody>
      </p:sp>
      <p:sp>
        <p:nvSpPr>
          <p:cNvPr id="23" name="Rounded Rectangle 22"/>
          <p:cNvSpPr/>
          <p:nvPr/>
        </p:nvSpPr>
        <p:spPr>
          <a:xfrm>
            <a:off x="548640" y="5806440"/>
            <a:ext cx="11064240" cy="685800"/>
          </a:xfrm>
          <a:prstGeom prst="roundRect">
            <a:avLst/>
          </a:prstGeom>
          <a:solidFill>
            <a:srgbClr val="2A2A3E"/>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897880"/>
            <a:ext cx="10698480" cy="548640"/>
          </a:xfrm>
          <a:prstGeom prst="rect">
            <a:avLst/>
          </a:prstGeom>
          <a:noFill/>
        </p:spPr>
        <p:txBody>
          <a:bodyPr wrap="square">
            <a:spAutoFit/>
          </a:bodyPr>
          <a:lstStyle/>
          <a:p>
            <a:pPr algn="l">
              <a:defRPr sz="1250" b="0">
                <a:solidFill>
                  <a:srgbClr val="F0F0F8"/>
                </a:solidFill>
                <a:latin typeface="Calibri"/>
              </a:defRPr>
            </a:pPr>
            <a:r>
              <a:t>Reliability first (H5): if a single score could rank placements reliably, the layered design would be a refinement. Because its availability layer cannot in this regime, the layered design is what produces the findings.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defRPr sz="3000" b="1">
                <a:solidFill>
                  <a:srgbClr val="FFFFFF"/>
                </a:solidFill>
                <a:latin typeface="Calibri"/>
              </a:defRPr>
            </a:pPr>
            <a:r>
              <a:t>Pre-Registration &amp; Provenance</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60120"/>
            <a:ext cx="11155680" cy="457200"/>
          </a:xfrm>
          <a:prstGeom prst="rect">
            <a:avLst/>
          </a:prstGeom>
          <a:noFill/>
        </p:spPr>
        <p:txBody>
          <a:bodyPr wrap="square">
            <a:spAutoFit/>
          </a:bodyPr>
          <a:lstStyle/>
          <a:p>
            <a:pPr algn="l">
              <a:defRPr sz="1500" b="0">
                <a:solidFill>
                  <a:srgbClr val="BDBDBD"/>
                </a:solidFill>
                <a:latin typeface="Calibri"/>
              </a:defRPr>
            </a:pPr>
            <a:r>
              <a:t>The methodological backbone — removing the freedom to choose tests after seeing the data</a:t>
            </a:r>
          </a:p>
        </p:txBody>
      </p:sp>
      <p:sp>
        <p:nvSpPr>
          <p:cNvPr id="5" name="Rounded Rectangle 4"/>
          <p:cNvSpPr/>
          <p:nvPr/>
        </p:nvSpPr>
        <p:spPr>
          <a:xfrm>
            <a:off x="548640" y="1554480"/>
            <a:ext cx="5394960" cy="420624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91640"/>
            <a:ext cx="5029200" cy="4023360"/>
          </a:xfrm>
          <a:prstGeom prst="rect">
            <a:avLst/>
          </a:prstGeom>
          <a:noFill/>
        </p:spPr>
        <p:txBody>
          <a:bodyPr wrap="square">
            <a:spAutoFit/>
          </a:bodyPr>
          <a:lstStyle/>
          <a:p>
            <a:pPr>
              <a:spcAft>
                <a:spcPts val="600"/>
              </a:spcAft>
              <a:defRPr sz="1600" b="1">
                <a:solidFill>
                  <a:srgbClr val="0096D6"/>
                </a:solidFill>
                <a:latin typeface="Calibri"/>
              </a:defRPr>
            </a:pPr>
            <a:r>
              <a:t>Frozen before collection</a:t>
            </a:r>
          </a:p>
          <a:p>
            <a:pPr>
              <a:spcBef>
                <a:spcPts val="200"/>
              </a:spcBef>
              <a:spcAft>
                <a:spcPts val="200"/>
              </a:spcAft>
              <a:defRPr sz="1300">
                <a:solidFill>
                  <a:srgbClr val="BDBDBD"/>
                </a:solidFill>
                <a:latin typeface="Calibri"/>
              </a:defRPr>
            </a:pPr>
            <a:r>
              <a:t>• Hypotheses, smallest effect sizes of interest (SESOIs),</a:t>
            </a:r>
          </a:p>
          <a:p>
            <a:pPr>
              <a:spcBef>
                <a:spcPts val="200"/>
              </a:spcBef>
              <a:spcAft>
                <a:spcPts val="200"/>
              </a:spcAft>
              <a:defRPr sz="1300">
                <a:solidFill>
                  <a:srgbClr val="BDBDBD"/>
                </a:solidFill>
                <a:latin typeface="Calibri"/>
              </a:defRPr>
            </a:pPr>
            <a:r>
              <a:t>   per-cell sample sizes, and the analysis CODE were frozen</a:t>
            </a:r>
          </a:p>
          <a:p>
            <a:pPr>
              <a:spcBef>
                <a:spcPts val="200"/>
              </a:spcBef>
              <a:spcAft>
                <a:spcPts val="200"/>
              </a:spcAft>
              <a:defRPr sz="1300">
                <a:solidFill>
                  <a:srgbClr val="BDBDBD"/>
                </a:solidFill>
                <a:latin typeface="Calibri"/>
              </a:defRPr>
            </a:pPr>
            <a:r>
              <a:t>   and deposited BEFORE any confirmatory data was collected</a:t>
            </a:r>
          </a:p>
          <a:p>
            <a:pPr>
              <a:spcBef>
                <a:spcPts val="200"/>
              </a:spcBef>
              <a:spcAft>
                <a:spcPts val="200"/>
              </a:spcAft>
              <a:defRPr sz="1300">
                <a:solidFill>
                  <a:srgbClr val="BDBDBD"/>
                </a:solidFill>
                <a:latin typeface="Calibri"/>
              </a:defRPr>
            </a:pPr>
          </a:p>
          <a:p>
            <a:pPr>
              <a:spcBef>
                <a:spcPts val="200"/>
              </a:spcBef>
              <a:spcAft>
                <a:spcPts val="200"/>
              </a:spcAft>
              <a:defRPr sz="1300">
                <a:solidFill>
                  <a:srgbClr val="BDBDBD"/>
                </a:solidFill>
                <a:latin typeface="Calibri"/>
              </a:defRPr>
            </a:pPr>
            <a:r>
              <a:t>• Frozen pre-registration deposited at its freeze commit</a:t>
            </a:r>
          </a:p>
          <a:p>
            <a:pPr>
              <a:spcBef>
                <a:spcPts val="200"/>
              </a:spcBef>
              <a:spcAft>
                <a:spcPts val="200"/>
              </a:spcAft>
              <a:defRPr sz="1300">
                <a:solidFill>
                  <a:srgbClr val="BDBDBD"/>
                </a:solidFill>
                <a:latin typeface="Calibri"/>
              </a:defRPr>
            </a:pPr>
            <a:r>
              <a:t>   (DOI 10.5281/zenodo.20690836, commit 20097c1)</a:t>
            </a:r>
          </a:p>
          <a:p>
            <a:pPr>
              <a:spcBef>
                <a:spcPts val="200"/>
              </a:spcBef>
              <a:spcAft>
                <a:spcPts val="200"/>
              </a:spcAft>
              <a:defRPr sz="1300">
                <a:solidFill>
                  <a:srgbClr val="BDBDBD"/>
                </a:solidFill>
                <a:latin typeface="Calibri"/>
              </a:defRPr>
            </a:pPr>
          </a:p>
          <a:p>
            <a:pPr>
              <a:spcBef>
                <a:spcPts val="200"/>
              </a:spcBef>
              <a:spcAft>
                <a:spcPts val="200"/>
              </a:spcAft>
              <a:defRPr sz="1300">
                <a:solidFill>
                  <a:srgbClr val="BDBDBD"/>
                </a:solidFill>
                <a:latin typeface="Calibri"/>
              </a:defRPr>
            </a:pPr>
            <a:r>
              <a:t>• Each member carries a registered effect-size / reliability</a:t>
            </a:r>
          </a:p>
          <a:p>
            <a:pPr>
              <a:spcBef>
                <a:spcPts val="200"/>
              </a:spcBef>
              <a:spcAft>
                <a:spcPts val="200"/>
              </a:spcAft>
              <a:defRPr sz="1300">
                <a:solidFill>
                  <a:srgbClr val="BDBDBD"/>
                </a:solidFill>
                <a:latin typeface="Calibri"/>
              </a:defRPr>
            </a:pPr>
            <a:r>
              <a:t>   bar — Holm-significance is necessary, not sufficient</a:t>
            </a:r>
          </a:p>
          <a:p>
            <a:pPr>
              <a:spcBef>
                <a:spcPts val="200"/>
              </a:spcBef>
              <a:spcAft>
                <a:spcPts val="200"/>
              </a:spcAft>
              <a:defRPr sz="1300">
                <a:solidFill>
                  <a:srgbClr val="BDBDBD"/>
                </a:solidFill>
                <a:latin typeface="Calibri"/>
              </a:defRPr>
            </a:pPr>
          </a:p>
          <a:p>
            <a:pPr>
              <a:spcBef>
                <a:spcPts val="200"/>
              </a:spcBef>
              <a:spcAft>
                <a:spcPts val="200"/>
              </a:spcAft>
              <a:defRPr sz="1300">
                <a:solidFill>
                  <a:srgbClr val="BDBDBD"/>
                </a:solidFill>
                <a:latin typeface="Calibri"/>
              </a:defRPr>
            </a:pPr>
            <a:r>
              <a:t>• The one non-blind deviation (D3) is logged in full in the</a:t>
            </a:r>
          </a:p>
          <a:p>
            <a:pPr>
              <a:spcBef>
                <a:spcPts val="200"/>
              </a:spcBef>
              <a:spcAft>
                <a:spcPts val="200"/>
              </a:spcAft>
              <a:defRPr sz="1300">
                <a:solidFill>
                  <a:srgbClr val="BDBDBD"/>
                </a:solidFill>
                <a:latin typeface="Calibri"/>
              </a:defRPr>
            </a:pPr>
            <a:r>
              <a:t>   deviations log — disclosed, not hidden</a:t>
            </a:r>
          </a:p>
        </p:txBody>
      </p:sp>
      <p:sp>
        <p:nvSpPr>
          <p:cNvPr id="7" name="Rounded Rectangle 6"/>
          <p:cNvSpPr/>
          <p:nvPr/>
        </p:nvSpPr>
        <p:spPr>
          <a:xfrm>
            <a:off x="6217920" y="1554480"/>
            <a:ext cx="5394960" cy="420624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691640"/>
            <a:ext cx="5029200" cy="4023360"/>
          </a:xfrm>
          <a:prstGeom prst="rect">
            <a:avLst/>
          </a:prstGeom>
          <a:noFill/>
        </p:spPr>
        <p:txBody>
          <a:bodyPr wrap="square">
            <a:spAutoFit/>
          </a:bodyPr>
          <a:lstStyle/>
          <a:p>
            <a:pPr>
              <a:spcAft>
                <a:spcPts val="600"/>
              </a:spcAft>
              <a:defRPr sz="1600" b="1">
                <a:solidFill>
                  <a:srgbClr val="2ECC71"/>
                </a:solidFill>
                <a:latin typeface="Calibri"/>
              </a:defRPr>
            </a:pPr>
            <a:r>
              <a:t>Provenance-gated replication</a:t>
            </a:r>
          </a:p>
          <a:p>
            <a:pPr>
              <a:spcBef>
                <a:spcPts val="200"/>
              </a:spcBef>
              <a:spcAft>
                <a:spcPts val="200"/>
              </a:spcAft>
              <a:defRPr sz="1300">
                <a:solidFill>
                  <a:srgbClr val="BDBDBD"/>
                </a:solidFill>
                <a:latin typeface="Calibri"/>
              </a:defRPr>
            </a:pPr>
            <a:r>
              <a:t>• Independent single-commit sessions are the unit of</a:t>
            </a:r>
          </a:p>
          <a:p>
            <a:pPr>
              <a:spcBef>
                <a:spcPts val="200"/>
              </a:spcBef>
              <a:spcAft>
                <a:spcPts val="200"/>
              </a:spcAft>
              <a:defRPr sz="1300">
                <a:solidFill>
                  <a:srgbClr val="BDBDBD"/>
                </a:solidFill>
                <a:latin typeface="Calibri"/>
              </a:defRPr>
            </a:pPr>
            <a:r>
              <a:t>   analysis — no pooling across code versions</a:t>
            </a:r>
          </a:p>
          <a:p>
            <a:pPr>
              <a:spcBef>
                <a:spcPts val="200"/>
              </a:spcBef>
              <a:spcAft>
                <a:spcPts val="200"/>
              </a:spcAft>
              <a:defRPr sz="1300">
                <a:solidFill>
                  <a:srgbClr val="BDBDBD"/>
                </a:solidFill>
                <a:latin typeface="Calibri"/>
              </a:defRPr>
            </a:pPr>
          </a:p>
          <a:p>
            <a:pPr>
              <a:spcBef>
                <a:spcPts val="200"/>
              </a:spcBef>
              <a:spcAft>
                <a:spcPts val="200"/>
              </a:spcAft>
              <a:defRPr sz="1300">
                <a:solidFill>
                  <a:srgbClr val="BDBDBD"/>
                </a:solidFill>
                <a:latin typeface="Calibri"/>
              </a:defRPr>
            </a:pPr>
            <a:r>
              <a:t>• Every session gated by doctor --strict: clean tree,</a:t>
            </a:r>
          </a:p>
          <a:p>
            <a:pPr>
              <a:spcBef>
                <a:spcPts val="200"/>
              </a:spcBef>
              <a:spcAft>
                <a:spcPts val="200"/>
              </a:spcAft>
              <a:defRPr sz="1300">
                <a:solidFill>
                  <a:srgbClr val="BDBDBD"/>
                </a:solidFill>
                <a:latin typeface="Calibri"/>
              </a:defRPr>
            </a:pPr>
            <a:r>
              <a:t>   scenario-hash present, runMetadata present, git.dirty=false</a:t>
            </a:r>
          </a:p>
          <a:p>
            <a:pPr>
              <a:spcBef>
                <a:spcPts val="200"/>
              </a:spcBef>
              <a:spcAft>
                <a:spcPts val="200"/>
              </a:spcAft>
              <a:defRPr sz="1300">
                <a:solidFill>
                  <a:srgbClr val="BDBDBD"/>
                </a:solidFill>
                <a:latin typeface="Calibri"/>
              </a:defRPr>
            </a:pPr>
          </a:p>
          <a:p>
            <a:pPr>
              <a:spcBef>
                <a:spcPts val="200"/>
              </a:spcBef>
              <a:spcAft>
                <a:spcPts val="200"/>
              </a:spcAft>
              <a:defRPr sz="1300">
                <a:solidFill>
                  <a:srgbClr val="BDBDBD"/>
                </a:solidFill>
                <a:latin typeface="Calibri"/>
              </a:defRPr>
            </a:pPr>
            <a:r>
              <a:t>• Deposit-before-analysis: each campaign's raw data is</a:t>
            </a:r>
          </a:p>
          <a:p>
            <a:pPr>
              <a:spcBef>
                <a:spcPts val="200"/>
              </a:spcBef>
              <a:spcAft>
                <a:spcPts val="200"/>
              </a:spcAft>
              <a:defRPr sz="1300">
                <a:solidFill>
                  <a:srgbClr val="BDBDBD"/>
                </a:solidFill>
                <a:latin typeface="Calibri"/>
              </a:defRPr>
            </a:pPr>
            <a:r>
              <a:t>   deposited under a DOI before its analysis is written</a:t>
            </a:r>
          </a:p>
          <a:p>
            <a:pPr>
              <a:spcBef>
                <a:spcPts val="200"/>
              </a:spcBef>
              <a:spcAft>
                <a:spcPts val="200"/>
              </a:spcAft>
              <a:defRPr sz="1300">
                <a:solidFill>
                  <a:srgbClr val="BDBDBD"/>
                </a:solidFill>
                <a:latin typeface="Calibri"/>
              </a:defRPr>
            </a:pPr>
          </a:p>
          <a:p>
            <a:pPr>
              <a:spcBef>
                <a:spcPts val="200"/>
              </a:spcBef>
              <a:spcAft>
                <a:spcPts val="200"/>
              </a:spcAft>
              <a:defRPr sz="1300">
                <a:solidFill>
                  <a:srgbClr val="BDBDBD"/>
                </a:solidFill>
                <a:latin typeface="Calibri"/>
              </a:defRPr>
            </a:pPr>
            <a:r>
              <a:t>• Every quoted number traces to an archived, hash-stamped</a:t>
            </a:r>
          </a:p>
          <a:p>
            <a:pPr>
              <a:spcBef>
                <a:spcPts val="200"/>
              </a:spcBef>
              <a:spcAft>
                <a:spcPts val="200"/>
              </a:spcAft>
              <a:defRPr sz="1300">
                <a:solidFill>
                  <a:srgbClr val="BDBDBD"/>
                </a:solidFill>
                <a:latin typeface="Calibri"/>
              </a:defRPr>
            </a:pPr>
            <a:r>
              <a:t>   run (artifact-manifest.json, SHA-256 per file)</a:t>
            </a:r>
          </a:p>
        </p:txBody>
      </p:sp>
      <p:sp>
        <p:nvSpPr>
          <p:cNvPr id="9" name="Rounded Rectangle 8"/>
          <p:cNvSpPr/>
          <p:nvPr/>
        </p:nvSpPr>
        <p:spPr>
          <a:xfrm>
            <a:off x="548640" y="5897880"/>
            <a:ext cx="11064240" cy="594360"/>
          </a:xfrm>
          <a:prstGeom prst="roundRect">
            <a:avLst/>
          </a:prstGeom>
          <a:solidFill>
            <a:srgbClr val="2A2A3E"/>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971032"/>
            <a:ext cx="10698480" cy="457200"/>
          </a:xfrm>
          <a:prstGeom prst="rect">
            <a:avLst/>
          </a:prstGeom>
          <a:noFill/>
        </p:spPr>
        <p:txBody>
          <a:bodyPr wrap="square">
            <a:spAutoFit/>
          </a:bodyPr>
          <a:lstStyle/>
          <a:p>
            <a:pPr algn="l">
              <a:defRPr sz="1300" b="1">
                <a:solidFill>
                  <a:srgbClr val="F0F0F8"/>
                </a:solidFill>
                <a:latin typeface="Calibri"/>
              </a:defRPr>
            </a:pPr>
            <a:r>
              <a:t>This converts “we observed placement effects” into the more honest “here is exactly which effects survive a strict bar, and which do not.”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defRPr sz="3000" b="1">
                <a:solidFill>
                  <a:srgbClr val="FFFFFF"/>
                </a:solidFill>
                <a:latin typeface="Calibri"/>
              </a:defRPr>
            </a:pPr>
            <a:r>
              <a:t>ChaosProbe — The Framework</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60120"/>
            <a:ext cx="11155680" cy="457200"/>
          </a:xfrm>
          <a:prstGeom prst="rect">
            <a:avLst/>
          </a:prstGeom>
          <a:noFill/>
        </p:spPr>
        <p:txBody>
          <a:bodyPr wrap="square">
            <a:spAutoFit/>
          </a:bodyPr>
          <a:lstStyle/>
          <a:p>
            <a:pPr algn="l">
              <a:defRPr sz="1500" b="0">
                <a:solidFill>
                  <a:srgbClr val="BDBDBD"/>
                </a:solidFill>
                <a:latin typeface="Calibri"/>
              </a:defRPr>
            </a:pPr>
            <a:r>
              <a:t>Contribution 1: a placement-aware, pre-registered, provenance-gated chaos-evaluation method</a:t>
            </a:r>
          </a:p>
        </p:txBody>
      </p:sp>
      <p:sp>
        <p:nvSpPr>
          <p:cNvPr id="5" name="Rounded Rectangle 4"/>
          <p:cNvSpPr/>
          <p:nvPr/>
        </p:nvSpPr>
        <p:spPr>
          <a:xfrm>
            <a:off x="548640" y="1645920"/>
            <a:ext cx="2670048" cy="1554480"/>
          </a:xfrm>
          <a:prstGeom prst="roundRect">
            <a:avLst/>
          </a:prstGeom>
          <a:solidFill>
            <a:srgbClr val="121222"/>
          </a:solidFill>
          <a:ln w="12700">
            <a:solidFill>
              <a:srgbClr val="1ABC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37360"/>
            <a:ext cx="2395728" cy="457200"/>
          </a:xfrm>
          <a:prstGeom prst="rect">
            <a:avLst/>
          </a:prstGeom>
          <a:noFill/>
        </p:spPr>
        <p:txBody>
          <a:bodyPr wrap="square">
            <a:spAutoFit/>
          </a:bodyPr>
          <a:lstStyle/>
          <a:p>
            <a:pPr algn="l">
              <a:defRPr sz="1400" b="1">
                <a:solidFill>
                  <a:srgbClr val="1ABC9C"/>
                </a:solidFill>
                <a:latin typeface="Calibri"/>
              </a:defRPr>
            </a:pPr>
            <a:r>
              <a:t>Placement solver</a:t>
            </a:r>
          </a:p>
        </p:txBody>
      </p:sp>
      <p:sp>
        <p:nvSpPr>
          <p:cNvPr id="7" name="TextBox 6"/>
          <p:cNvSpPr txBox="1"/>
          <p:nvPr/>
        </p:nvSpPr>
        <p:spPr>
          <a:xfrm>
            <a:off x="685800" y="2194560"/>
            <a:ext cx="2395728" cy="960120"/>
          </a:xfrm>
          <a:prstGeom prst="rect">
            <a:avLst/>
          </a:prstGeom>
          <a:noFill/>
        </p:spPr>
        <p:txBody>
          <a:bodyPr wrap="square">
            <a:spAutoFit/>
          </a:bodyPr>
          <a:lstStyle/>
          <a:p>
            <a:pPr algn="l">
              <a:defRPr sz="1100" b="0">
                <a:solidFill>
                  <a:srgbClr val="BDBDBD"/>
                </a:solidFill>
                <a:latin typeface="Calibri"/>
              </a:defRPr>
            </a:pPr>
            <a:r>
              <a:t>drives the two knobs (f, r) by</a:t>
            </a:r>
            <a:br/>
            <a:r>
              <a:t>deployment-level nodeSelector mutation</a:t>
            </a:r>
          </a:p>
        </p:txBody>
      </p:sp>
      <p:sp>
        <p:nvSpPr>
          <p:cNvPr id="8" name="Rounded Rectangle 7"/>
          <p:cNvSpPr/>
          <p:nvPr/>
        </p:nvSpPr>
        <p:spPr>
          <a:xfrm>
            <a:off x="3328416" y="1645920"/>
            <a:ext cx="2670048" cy="155448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65576" y="1737360"/>
            <a:ext cx="2395728" cy="457200"/>
          </a:xfrm>
          <a:prstGeom prst="rect">
            <a:avLst/>
          </a:prstGeom>
          <a:noFill/>
        </p:spPr>
        <p:txBody>
          <a:bodyPr wrap="square">
            <a:spAutoFit/>
          </a:bodyPr>
          <a:lstStyle/>
          <a:p>
            <a:pPr algn="l">
              <a:defRPr sz="1400" b="1">
                <a:solidFill>
                  <a:srgbClr val="2ECC71"/>
                </a:solidFill>
                <a:latin typeface="Calibri"/>
              </a:defRPr>
            </a:pPr>
            <a:r>
              <a:t>Cross-layer probers</a:t>
            </a:r>
          </a:p>
        </p:txBody>
      </p:sp>
      <p:sp>
        <p:nvSpPr>
          <p:cNvPr id="10" name="TextBox 9"/>
          <p:cNvSpPr txBox="1"/>
          <p:nvPr/>
        </p:nvSpPr>
        <p:spPr>
          <a:xfrm>
            <a:off x="3465576" y="2194560"/>
            <a:ext cx="2395728" cy="960120"/>
          </a:xfrm>
          <a:prstGeom prst="rect">
            <a:avLst/>
          </a:prstGeom>
          <a:noFill/>
        </p:spPr>
        <p:txBody>
          <a:bodyPr wrap="square">
            <a:spAutoFit/>
          </a:bodyPr>
          <a:lstStyle/>
          <a:p>
            <a:pPr algn="l">
              <a:defRPr sz="1100" b="0">
                <a:solidFill>
                  <a:srgbClr val="BDBDBD"/>
                </a:solidFill>
                <a:latin typeface="Calibri"/>
              </a:defRPr>
            </a:pPr>
            <a:r>
              <a:t>Prometheus mechanism metrics,</a:t>
            </a:r>
            <a:br/>
            <a:r>
              <a:t>route latency (dependent vs control),</a:t>
            </a:r>
            <a:br/>
            <a:r>
              <a:t>EndpointSlice availability snapshots</a:t>
            </a:r>
          </a:p>
        </p:txBody>
      </p:sp>
      <p:sp>
        <p:nvSpPr>
          <p:cNvPr id="11" name="Rounded Rectangle 10"/>
          <p:cNvSpPr/>
          <p:nvPr/>
        </p:nvSpPr>
        <p:spPr>
          <a:xfrm>
            <a:off x="6108192" y="1645920"/>
            <a:ext cx="2670048" cy="1554480"/>
          </a:xfrm>
          <a:prstGeom prst="roundRect">
            <a:avLst/>
          </a:prstGeom>
          <a:solidFill>
            <a:srgbClr val="121222"/>
          </a:solidFill>
          <a:ln w="127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45352" y="1737360"/>
            <a:ext cx="2395728" cy="457200"/>
          </a:xfrm>
          <a:prstGeom prst="rect">
            <a:avLst/>
          </a:prstGeom>
          <a:noFill/>
        </p:spPr>
        <p:txBody>
          <a:bodyPr wrap="square">
            <a:spAutoFit/>
          </a:bodyPr>
          <a:lstStyle/>
          <a:p>
            <a:pPr algn="l">
              <a:defRPr sz="1400" b="1">
                <a:solidFill>
                  <a:srgbClr val="9B59B6"/>
                </a:solidFill>
                <a:latin typeface="Calibri"/>
              </a:defRPr>
            </a:pPr>
            <a:r>
              <a:t>Cross-node fraction</a:t>
            </a:r>
          </a:p>
        </p:txBody>
      </p:sp>
      <p:sp>
        <p:nvSpPr>
          <p:cNvPr id="13" name="TextBox 12"/>
          <p:cNvSpPr txBox="1"/>
          <p:nvPr/>
        </p:nvSpPr>
        <p:spPr>
          <a:xfrm>
            <a:off x="6245352" y="2194560"/>
            <a:ext cx="2395728" cy="960120"/>
          </a:xfrm>
          <a:prstGeom prst="rect">
            <a:avLst/>
          </a:prstGeom>
          <a:noFill/>
        </p:spPr>
        <p:txBody>
          <a:bodyPr wrap="square">
            <a:spAutoFit/>
          </a:bodyPr>
          <a:lstStyle/>
          <a:p>
            <a:pPr algn="l">
              <a:defRPr sz="1100" b="0">
                <a:solidFill>
                  <a:srgbClr val="BDBDBD"/>
                </a:solidFill>
                <a:latin typeface="Calibri"/>
              </a:defRPr>
            </a:pPr>
            <a:r>
              <a:t>computed from the Neo4j dependency</a:t>
            </a:r>
            <a:br/>
            <a:r>
              <a:t>graph + the realized placement</a:t>
            </a:r>
          </a:p>
        </p:txBody>
      </p:sp>
      <p:sp>
        <p:nvSpPr>
          <p:cNvPr id="14" name="Rounded Rectangle 13"/>
          <p:cNvSpPr/>
          <p:nvPr/>
        </p:nvSpPr>
        <p:spPr>
          <a:xfrm>
            <a:off x="8887967" y="1645920"/>
            <a:ext cx="2670048" cy="155448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5128" y="1737360"/>
            <a:ext cx="2395728" cy="457200"/>
          </a:xfrm>
          <a:prstGeom prst="rect">
            <a:avLst/>
          </a:prstGeom>
          <a:noFill/>
        </p:spPr>
        <p:txBody>
          <a:bodyPr wrap="square">
            <a:spAutoFit/>
          </a:bodyPr>
          <a:lstStyle/>
          <a:p>
            <a:pPr algn="l">
              <a:defRPr sz="1400" b="1">
                <a:solidFill>
                  <a:srgbClr val="F39C12"/>
                </a:solidFill>
                <a:latin typeface="Calibri"/>
              </a:defRPr>
            </a:pPr>
            <a:r>
              <a:t>Layered scorecard</a:t>
            </a:r>
          </a:p>
        </p:txBody>
      </p:sp>
      <p:sp>
        <p:nvSpPr>
          <p:cNvPr id="16" name="TextBox 15"/>
          <p:cNvSpPr txBox="1"/>
          <p:nvPr/>
        </p:nvSpPr>
        <p:spPr>
          <a:xfrm>
            <a:off x="9025128" y="2194560"/>
            <a:ext cx="2395728" cy="960120"/>
          </a:xfrm>
          <a:prstGeom prst="rect">
            <a:avLst/>
          </a:prstGeom>
          <a:noFill/>
        </p:spPr>
        <p:txBody>
          <a:bodyPr wrap="square">
            <a:spAutoFit/>
          </a:bodyPr>
          <a:lstStyle/>
          <a:p>
            <a:pPr algn="l">
              <a:defRPr sz="1100" b="0">
                <a:solidFill>
                  <a:srgbClr val="BDBDBD"/>
                </a:solidFill>
                <a:latin typeface="Calibri"/>
              </a:defRPr>
            </a:pPr>
            <a:r>
              <a:t>availability / mechanism / user-tail</a:t>
            </a:r>
            <a:br/>
            <a:r>
              <a:t>sub-scores — not one number</a:t>
            </a:r>
          </a:p>
        </p:txBody>
      </p:sp>
      <p:sp>
        <p:nvSpPr>
          <p:cNvPr id="17" name="TextBox 16"/>
          <p:cNvSpPr txBox="1"/>
          <p:nvPr/>
        </p:nvSpPr>
        <p:spPr>
          <a:xfrm>
            <a:off x="548640" y="3429000"/>
            <a:ext cx="11064240" cy="365760"/>
          </a:xfrm>
          <a:prstGeom prst="rect">
            <a:avLst/>
          </a:prstGeom>
          <a:noFill/>
        </p:spPr>
        <p:txBody>
          <a:bodyPr wrap="square">
            <a:spAutoFit/>
          </a:bodyPr>
          <a:lstStyle/>
          <a:p>
            <a:pPr algn="ctr">
              <a:defRPr sz="1300" b="1">
                <a:solidFill>
                  <a:srgbClr val="9090A0"/>
                </a:solidFill>
                <a:latin typeface="Calibri"/>
              </a:defRPr>
            </a:pPr>
            <a:r>
              <a:t>↓   driving and reading off-the-shelf infrastructure   ↓</a:t>
            </a:r>
          </a:p>
        </p:txBody>
      </p:sp>
      <p:sp>
        <p:nvSpPr>
          <p:cNvPr id="18" name="Rounded Rectangle 17"/>
          <p:cNvSpPr/>
          <p:nvPr/>
        </p:nvSpPr>
        <p:spPr>
          <a:xfrm>
            <a:off x="548640" y="3886200"/>
            <a:ext cx="2670048" cy="914400"/>
          </a:xfrm>
          <a:prstGeom prst="roundRect">
            <a:avLst/>
          </a:prstGeom>
          <a:solidFill>
            <a:srgbClr val="242436"/>
          </a:solidFill>
          <a:ln w="12700">
            <a:solidFill>
              <a:srgbClr val="7F8C8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959352"/>
            <a:ext cx="2395728" cy="502920"/>
          </a:xfrm>
          <a:prstGeom prst="rect">
            <a:avLst/>
          </a:prstGeom>
          <a:noFill/>
        </p:spPr>
        <p:txBody>
          <a:bodyPr wrap="square">
            <a:spAutoFit/>
          </a:bodyPr>
          <a:lstStyle/>
          <a:p>
            <a:pPr algn="l">
              <a:defRPr sz="1250" b="1">
                <a:solidFill>
                  <a:srgbClr val="FFFFFF"/>
                </a:solidFill>
                <a:latin typeface="Calibri"/>
              </a:defRPr>
            </a:pPr>
            <a:r>
              <a:t>LitmusChaos</a:t>
            </a:r>
            <a:br/>
            <a:r>
              <a:t>+ ChaosCenter</a:t>
            </a:r>
          </a:p>
        </p:txBody>
      </p:sp>
      <p:sp>
        <p:nvSpPr>
          <p:cNvPr id="20" name="TextBox 19"/>
          <p:cNvSpPr txBox="1"/>
          <p:nvPr/>
        </p:nvSpPr>
        <p:spPr>
          <a:xfrm>
            <a:off x="685800" y="4462272"/>
            <a:ext cx="2395728" cy="320040"/>
          </a:xfrm>
          <a:prstGeom prst="rect">
            <a:avLst/>
          </a:prstGeom>
          <a:noFill/>
        </p:spPr>
        <p:txBody>
          <a:bodyPr wrap="square">
            <a:spAutoFit/>
          </a:bodyPr>
          <a:lstStyle/>
          <a:p>
            <a:pPr algn="l">
              <a:defRPr sz="1050" b="0">
                <a:solidFill>
                  <a:srgbClr val="9090A0"/>
                </a:solidFill>
                <a:latin typeface="Calibri"/>
              </a:defRPr>
            </a:pPr>
            <a:r>
              <a:t>fault execution</a:t>
            </a:r>
          </a:p>
        </p:txBody>
      </p:sp>
      <p:sp>
        <p:nvSpPr>
          <p:cNvPr id="21" name="Rounded Rectangle 20"/>
          <p:cNvSpPr/>
          <p:nvPr/>
        </p:nvSpPr>
        <p:spPr>
          <a:xfrm>
            <a:off x="3328416" y="3886200"/>
            <a:ext cx="2670048" cy="914400"/>
          </a:xfrm>
          <a:prstGeom prst="roundRect">
            <a:avLst/>
          </a:prstGeom>
          <a:solidFill>
            <a:srgbClr val="242436"/>
          </a:solidFill>
          <a:ln w="12700">
            <a:solidFill>
              <a:srgbClr val="7F8C8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65576" y="3959352"/>
            <a:ext cx="2395728" cy="502920"/>
          </a:xfrm>
          <a:prstGeom prst="rect">
            <a:avLst/>
          </a:prstGeom>
          <a:noFill/>
        </p:spPr>
        <p:txBody>
          <a:bodyPr wrap="square">
            <a:spAutoFit/>
          </a:bodyPr>
          <a:lstStyle/>
          <a:p>
            <a:pPr algn="l">
              <a:defRPr sz="1250" b="1">
                <a:solidFill>
                  <a:srgbClr val="FFFFFF"/>
                </a:solidFill>
                <a:latin typeface="Calibri"/>
              </a:defRPr>
            </a:pPr>
            <a:r>
              <a:t>Prometheus</a:t>
            </a:r>
            <a:br/>
            <a:r>
              <a:t>+ Locust</a:t>
            </a:r>
          </a:p>
        </p:txBody>
      </p:sp>
      <p:sp>
        <p:nvSpPr>
          <p:cNvPr id="23" name="TextBox 22"/>
          <p:cNvSpPr txBox="1"/>
          <p:nvPr/>
        </p:nvSpPr>
        <p:spPr>
          <a:xfrm>
            <a:off x="3465576" y="4462272"/>
            <a:ext cx="2395728" cy="320040"/>
          </a:xfrm>
          <a:prstGeom prst="rect">
            <a:avLst/>
          </a:prstGeom>
          <a:noFill/>
        </p:spPr>
        <p:txBody>
          <a:bodyPr wrap="square">
            <a:spAutoFit/>
          </a:bodyPr>
          <a:lstStyle/>
          <a:p>
            <a:pPr algn="l">
              <a:defRPr sz="1050" b="0">
                <a:solidFill>
                  <a:srgbClr val="9090A0"/>
                </a:solidFill>
                <a:latin typeface="Calibri"/>
              </a:defRPr>
            </a:pPr>
            <a:r>
              <a:t>metrics &amp; load</a:t>
            </a:r>
          </a:p>
        </p:txBody>
      </p:sp>
      <p:sp>
        <p:nvSpPr>
          <p:cNvPr id="24" name="Rounded Rectangle 23"/>
          <p:cNvSpPr/>
          <p:nvPr/>
        </p:nvSpPr>
        <p:spPr>
          <a:xfrm>
            <a:off x="6108192" y="3886200"/>
            <a:ext cx="2670048" cy="914400"/>
          </a:xfrm>
          <a:prstGeom prst="roundRect">
            <a:avLst/>
          </a:prstGeom>
          <a:solidFill>
            <a:srgbClr val="242436"/>
          </a:solidFill>
          <a:ln w="12700">
            <a:solidFill>
              <a:srgbClr val="7F8C8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5352" y="3959352"/>
            <a:ext cx="2395728" cy="502920"/>
          </a:xfrm>
          <a:prstGeom prst="rect">
            <a:avLst/>
          </a:prstGeom>
          <a:noFill/>
        </p:spPr>
        <p:txBody>
          <a:bodyPr wrap="square">
            <a:spAutoFit/>
          </a:bodyPr>
          <a:lstStyle/>
          <a:p>
            <a:pPr algn="l">
              <a:defRPr sz="1250" b="1">
                <a:solidFill>
                  <a:srgbClr val="FFFFFF"/>
                </a:solidFill>
                <a:latin typeface="Calibri"/>
              </a:defRPr>
            </a:pPr>
            <a:r>
              <a:t>Neo4j 5</a:t>
            </a:r>
          </a:p>
        </p:txBody>
      </p:sp>
      <p:sp>
        <p:nvSpPr>
          <p:cNvPr id="26" name="TextBox 25"/>
          <p:cNvSpPr txBox="1"/>
          <p:nvPr/>
        </p:nvSpPr>
        <p:spPr>
          <a:xfrm>
            <a:off x="6245352" y="4462272"/>
            <a:ext cx="2395728" cy="320040"/>
          </a:xfrm>
          <a:prstGeom prst="rect">
            <a:avLst/>
          </a:prstGeom>
          <a:noFill/>
        </p:spPr>
        <p:txBody>
          <a:bodyPr wrap="square">
            <a:spAutoFit/>
          </a:bodyPr>
          <a:lstStyle/>
          <a:p>
            <a:pPr algn="l">
              <a:defRPr sz="1050" b="0">
                <a:solidFill>
                  <a:srgbClr val="9090A0"/>
                </a:solidFill>
                <a:latin typeface="Calibri"/>
              </a:defRPr>
            </a:pPr>
            <a:r>
              <a:t>graph storage</a:t>
            </a:r>
          </a:p>
        </p:txBody>
      </p:sp>
      <p:sp>
        <p:nvSpPr>
          <p:cNvPr id="27" name="Rounded Rectangle 26"/>
          <p:cNvSpPr/>
          <p:nvPr/>
        </p:nvSpPr>
        <p:spPr>
          <a:xfrm>
            <a:off x="8887967" y="3886200"/>
            <a:ext cx="2670048" cy="914400"/>
          </a:xfrm>
          <a:prstGeom prst="roundRect">
            <a:avLst/>
          </a:prstGeom>
          <a:solidFill>
            <a:srgbClr val="242436"/>
          </a:solidFill>
          <a:ln w="12700">
            <a:solidFill>
              <a:srgbClr val="7F8C8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25128" y="3959352"/>
            <a:ext cx="2395728" cy="502920"/>
          </a:xfrm>
          <a:prstGeom prst="rect">
            <a:avLst/>
          </a:prstGeom>
          <a:noFill/>
        </p:spPr>
        <p:txBody>
          <a:bodyPr wrap="square">
            <a:spAutoFit/>
          </a:bodyPr>
          <a:lstStyle/>
          <a:p>
            <a:pPr algn="l">
              <a:defRPr sz="1250" b="1">
                <a:solidFill>
                  <a:srgbClr val="FFFFFF"/>
                </a:solidFill>
                <a:latin typeface="Calibri"/>
              </a:defRPr>
            </a:pPr>
            <a:r>
              <a:t>Online Boutique</a:t>
            </a:r>
          </a:p>
        </p:txBody>
      </p:sp>
      <p:sp>
        <p:nvSpPr>
          <p:cNvPr id="29" name="TextBox 28"/>
          <p:cNvSpPr txBox="1"/>
          <p:nvPr/>
        </p:nvSpPr>
        <p:spPr>
          <a:xfrm>
            <a:off x="9025128" y="4462272"/>
            <a:ext cx="2395728" cy="320040"/>
          </a:xfrm>
          <a:prstGeom prst="rect">
            <a:avLst/>
          </a:prstGeom>
          <a:noFill/>
        </p:spPr>
        <p:txBody>
          <a:bodyPr wrap="square">
            <a:spAutoFit/>
          </a:bodyPr>
          <a:lstStyle/>
          <a:p>
            <a:pPr algn="l">
              <a:defRPr sz="1050" b="0">
                <a:solidFill>
                  <a:srgbClr val="9090A0"/>
                </a:solidFill>
                <a:latin typeface="Calibri"/>
              </a:defRPr>
            </a:pPr>
            <a:r>
              <a:t>system under test</a:t>
            </a:r>
          </a:p>
        </p:txBody>
      </p:sp>
      <p:sp>
        <p:nvSpPr>
          <p:cNvPr id="30" name="Rounded Rectangle 29"/>
          <p:cNvSpPr/>
          <p:nvPr/>
        </p:nvSpPr>
        <p:spPr>
          <a:xfrm>
            <a:off x="548640" y="5074920"/>
            <a:ext cx="11064240" cy="132588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5166360"/>
            <a:ext cx="10698480" cy="365760"/>
          </a:xfrm>
          <a:prstGeom prst="rect">
            <a:avLst/>
          </a:prstGeom>
          <a:noFill/>
        </p:spPr>
        <p:txBody>
          <a:bodyPr wrap="square">
            <a:spAutoFit/>
          </a:bodyPr>
          <a:lstStyle/>
          <a:p>
            <a:pPr algn="l">
              <a:defRPr sz="1500" b="1">
                <a:solidFill>
                  <a:srgbClr val="0096D6"/>
                </a:solidFill>
                <a:latin typeface="Calibri"/>
              </a:defRPr>
            </a:pPr>
            <a:r>
              <a:t>What the candidate did vs what the tooling did</a:t>
            </a:r>
          </a:p>
        </p:txBody>
      </p:sp>
      <p:sp>
        <p:nvSpPr>
          <p:cNvPr id="32" name="TextBox 31"/>
          <p:cNvSpPr txBox="1"/>
          <p:nvPr/>
        </p:nvSpPr>
        <p:spPr>
          <a:xfrm>
            <a:off x="777240" y="5532120"/>
            <a:ext cx="10698480" cy="868680"/>
          </a:xfrm>
          <a:prstGeom prst="rect">
            <a:avLst/>
          </a:prstGeom>
          <a:noFill/>
        </p:spPr>
        <p:txBody>
          <a:bodyPr wrap="square">
            <a:spAutoFit/>
          </a:bodyPr>
          <a:lstStyle/>
          <a:p>
            <a:pPr algn="l">
              <a:defRPr sz="1250" b="0">
                <a:solidFill>
                  <a:srgbClr val="F0F0F8"/>
                </a:solidFill>
                <a:latin typeface="Calibri"/>
              </a:defRPr>
            </a:pPr>
            <a:r>
              <a:t>Authored: the placement solver and two-knob design; the three-layer measurement design with its dependent-vs-control route confound check; the cross-node-fraction metric and EndpointSlice trough; the layered scorecard; the pre-registration, doctor --strict gate, discard-not-patch rule, deposit-before-analysis protocol; and every analysis script.   Integrated off-the-shelf: LitmusChaos, Prometheus/Locust, Neo4j, and the Online Boutique application execute the science — they do not define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defRPr sz="3000" b="1">
                <a:solidFill>
                  <a:srgbClr val="FFFFFF"/>
                </a:solidFill>
                <a:latin typeface="Calibri"/>
              </a:defRPr>
            </a:pPr>
            <a:r>
              <a:t>Three-Layer Measurement Design</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60120"/>
            <a:ext cx="11155680" cy="457200"/>
          </a:xfrm>
          <a:prstGeom prst="rect">
            <a:avLst/>
          </a:prstGeom>
          <a:noFill/>
        </p:spPr>
        <p:txBody>
          <a:bodyPr wrap="square">
            <a:spAutoFit/>
          </a:bodyPr>
          <a:lstStyle/>
          <a:p>
            <a:pPr algn="l">
              <a:defRPr sz="1500" b="0">
                <a:solidFill>
                  <a:srgbClr val="BDBDBD"/>
                </a:solidFill>
                <a:latin typeface="Calibri"/>
              </a:defRPr>
            </a:pPr>
            <a:r>
              <a:t>60s steady state  →  120s fault active  →  60s recovery — read at every layer</a:t>
            </a:r>
          </a:p>
        </p:txBody>
      </p:sp>
      <p:graphicFrame>
        <p:nvGraphicFramePr>
          <p:cNvPr id="5" name="Table 4"/>
          <p:cNvGraphicFramePr>
            <a:graphicFrameLocks noGrp="1"/>
          </p:cNvGraphicFramePr>
          <p:nvPr/>
        </p:nvGraphicFramePr>
        <p:xfrm>
          <a:off x="548640" y="1600200"/>
          <a:ext cx="7406640" cy="3200400"/>
        </p:xfrm>
        <a:graphic>
          <a:graphicData uri="http://schemas.openxmlformats.org/drawingml/2006/table">
            <a:tbl>
              <a:tblPr firstRow="1" bandRow="1">
                <a:tableStyleId>{5C22544A-7EE6-4342-B048-85BDC9FD1C3A}</a:tableStyleId>
              </a:tblPr>
              <a:tblGrid>
                <a:gridCol w="2468880"/>
                <a:gridCol w="2468880"/>
                <a:gridCol w="2468880"/>
              </a:tblGrid>
              <a:tr h="640080">
                <a:tc>
                  <a:txBody>
                    <a:bodyPr wrap="square"/>
                    <a:lstStyle/>
                    <a:p>
                      <a:pPr algn="l"/>
                      <a:r>
                        <a:rPr sz="1150" b="1">
                          <a:solidFill>
                            <a:srgbClr val="FFFFFF"/>
                          </a:solidFill>
                          <a:latin typeface="Calibri"/>
                        </a:rPr>
                        <a:t>Layer</a:t>
                      </a:r>
                    </a:p>
                  </a:txBody>
                  <a:tcPr marL="76200" marR="76200" marT="38100" marB="38100">
                    <a:solidFill>
                      <a:srgbClr val="0096D6"/>
                    </a:solidFill>
                  </a:tcPr>
                </a:tc>
                <a:tc>
                  <a:txBody>
                    <a:bodyPr wrap="square"/>
                    <a:lstStyle/>
                    <a:p>
                      <a:pPr algn="l"/>
                      <a:r>
                        <a:rPr sz="1150" b="1">
                          <a:solidFill>
                            <a:srgbClr val="FFFFFF"/>
                          </a:solidFill>
                          <a:latin typeface="Calibri"/>
                        </a:rPr>
                        <a:t>What is measured</a:t>
                      </a:r>
                    </a:p>
                  </a:txBody>
                  <a:tcPr marL="76200" marR="76200" marT="38100" marB="38100">
                    <a:solidFill>
                      <a:srgbClr val="0096D6"/>
                    </a:solidFill>
                  </a:tcPr>
                </a:tc>
                <a:tc>
                  <a:txBody>
                    <a:bodyPr wrap="square"/>
                    <a:lstStyle/>
                    <a:p>
                      <a:pPr algn="l"/>
                      <a:r>
                        <a:rPr sz="1150" b="1">
                          <a:solidFill>
                            <a:srgbClr val="FFFFFF"/>
                          </a:solidFill>
                          <a:latin typeface="Calibri"/>
                        </a:rPr>
                        <a:t>How</a:t>
                      </a:r>
                    </a:p>
                  </a:txBody>
                  <a:tcPr marL="76200" marR="76200" marT="38100" marB="38100">
                    <a:solidFill>
                      <a:srgbClr val="0096D6"/>
                    </a:solidFill>
                  </a:tcPr>
                </a:tc>
              </a:tr>
              <a:tr h="640080">
                <a:tc>
                  <a:txBody>
                    <a:bodyPr wrap="square"/>
                    <a:lstStyle/>
                    <a:p>
                      <a:pPr algn="l"/>
                      <a:r>
                        <a:rPr sz="1150" b="0">
                          <a:solidFill>
                            <a:srgbClr val="FFFFFF"/>
                          </a:solidFill>
                          <a:latin typeface="Calibri"/>
                        </a:rPr>
                        <a:t>Aggregate score</a:t>
                      </a:r>
                    </a:p>
                  </a:txBody>
                  <a:tcPr marL="76200" marR="76200" marT="38100" marB="38100">
                    <a:solidFill>
                      <a:srgbClr val="2A2A3E"/>
                    </a:solidFill>
                  </a:tcPr>
                </a:tc>
                <a:tc>
                  <a:txBody>
                    <a:bodyPr wrap="square"/>
                    <a:lstStyle/>
                    <a:p>
                      <a:pPr algn="l"/>
                      <a:r>
                        <a:rPr sz="1150" b="0">
                          <a:solidFill>
                            <a:srgbClr val="FFFFFF"/>
                          </a:solidFill>
                          <a:latin typeface="Calibri"/>
                        </a:rPr>
                        <a:t>Layered resilience scorecard (mean of probe success %), reported with bootstrap CIs</a:t>
                      </a:r>
                    </a:p>
                  </a:txBody>
                  <a:tcPr marL="76200" marR="76200" marT="38100" marB="38100">
                    <a:solidFill>
                      <a:srgbClr val="2A2A3E"/>
                    </a:solidFill>
                  </a:tcPr>
                </a:tc>
                <a:tc>
                  <a:txBody>
                    <a:bodyPr wrap="square"/>
                    <a:lstStyle/>
                    <a:p>
                      <a:pPr algn="l"/>
                      <a:r>
                        <a:rPr sz="1150" b="0">
                          <a:solidFill>
                            <a:srgbClr val="FFFFFF"/>
                          </a:solidFill>
                          <a:latin typeface="Calibri"/>
                        </a:rPr>
                        <a:t>LitmusChaos resilience probes + 5 Rust cmdProbes</a:t>
                      </a:r>
                    </a:p>
                  </a:txBody>
                  <a:tcPr marL="76200" marR="76200" marT="38100" marB="38100">
                    <a:solidFill>
                      <a:srgbClr val="2A2A3E"/>
                    </a:solidFill>
                  </a:tcPr>
                </a:tc>
              </a:tr>
              <a:tr h="640080">
                <a:tc>
                  <a:txBody>
                    <a:bodyPr wrap="square"/>
                    <a:lstStyle/>
                    <a:p>
                      <a:pPr algn="l"/>
                      <a:r>
                        <a:rPr sz="1150" b="0">
                          <a:solidFill>
                            <a:srgbClr val="FFFFFF"/>
                          </a:solidFill>
                          <a:latin typeface="Calibri"/>
                        </a:rPr>
                        <a:t>Kernel / network
mechanism</a:t>
                      </a:r>
                    </a:p>
                  </a:txBody>
                  <a:tcPr marL="76200" marR="76200" marT="38100" marB="38100">
                    <a:solidFill>
                      <a:srgbClr val="2A2A3E"/>
                    </a:solidFill>
                  </a:tcPr>
                </a:tc>
                <a:tc>
                  <a:txBody>
                    <a:bodyPr wrap="square"/>
                    <a:lstStyle/>
                    <a:p>
                      <a:pPr algn="l"/>
                      <a:r>
                        <a:rPr sz="1150" b="0">
                          <a:solidFill>
                            <a:srgbClr val="FFFFFF"/>
                          </a:solidFill>
                          <a:latin typeface="Calibri"/>
                        </a:rPr>
                        <a:t>UDP-conntrack drop, kube-proxy SLO p99, CoreDNS p99, CPU throttle (SIG-Scalability)</a:t>
                      </a:r>
                    </a:p>
                  </a:txBody>
                  <a:tcPr marL="76200" marR="76200" marT="38100" marB="38100">
                    <a:solidFill>
                      <a:srgbClr val="2A2A3E"/>
                    </a:solidFill>
                  </a:tcPr>
                </a:tc>
                <a:tc>
                  <a:txBody>
                    <a:bodyPr wrap="square"/>
                    <a:lstStyle/>
                    <a:p>
                      <a:pPr algn="l"/>
                      <a:r>
                        <a:rPr sz="1150" b="0">
                          <a:solidFill>
                            <a:srgbClr val="FFFFFF"/>
                          </a:solidFill>
                          <a:latin typeface="Calibri"/>
                        </a:rPr>
                        <a:t>Prometheus PromQL, churn-prober</a:t>
                      </a:r>
                    </a:p>
                  </a:txBody>
                  <a:tcPr marL="76200" marR="76200" marT="38100" marB="38100">
                    <a:solidFill>
                      <a:srgbClr val="2A2A3E"/>
                    </a:solidFill>
                  </a:tcPr>
                </a:tc>
              </a:tr>
              <a:tr h="640080">
                <a:tc>
                  <a:txBody>
                    <a:bodyPr wrap="square"/>
                    <a:lstStyle/>
                    <a:p>
                      <a:pPr algn="l"/>
                      <a:r>
                        <a:rPr sz="1150" b="0">
                          <a:solidFill>
                            <a:srgbClr val="FFFFFF"/>
                          </a:solidFill>
                          <a:latin typeface="Calibri"/>
                        </a:rPr>
                        <a:t>User-visible
outcome</a:t>
                      </a:r>
                    </a:p>
                  </a:txBody>
                  <a:tcPr marL="76200" marR="76200" marT="38100" marB="38100">
                    <a:solidFill>
                      <a:srgbClr val="2A2A3E"/>
                    </a:solidFill>
                  </a:tcPr>
                </a:tc>
                <a:tc>
                  <a:txBody>
                    <a:bodyPr wrap="square"/>
                    <a:lstStyle/>
                    <a:p>
                      <a:pPr algn="l"/>
                      <a:r>
                        <a:rPr sz="1150" b="0">
                          <a:solidFill>
                            <a:srgbClr val="FFFFFF"/>
                          </a:solidFill>
                          <a:latin typeface="Calibri"/>
                        </a:rPr>
                        <a:t>HTTP route p95 latency + error rate, split dependent-vs-control route; east-west p95</a:t>
                      </a:r>
                    </a:p>
                  </a:txBody>
                  <a:tcPr marL="76200" marR="76200" marT="38100" marB="38100">
                    <a:solidFill>
                      <a:srgbClr val="2A2A3E"/>
                    </a:solidFill>
                  </a:tcPr>
                </a:tc>
                <a:tc>
                  <a:txBody>
                    <a:bodyPr wrap="square"/>
                    <a:lstStyle/>
                    <a:p>
                      <a:pPr algn="l"/>
                      <a:r>
                        <a:rPr sz="1150" b="0">
                          <a:solidFill>
                            <a:srgbClr val="FFFFFF"/>
                          </a:solidFill>
                          <a:latin typeface="Calibri"/>
                        </a:rPr>
                        <a:t>kubectl exec → wget/python3, 3.5s interval</a:t>
                      </a:r>
                    </a:p>
                  </a:txBody>
                  <a:tcPr marL="76200" marR="76200" marT="38100" marB="38100">
                    <a:solidFill>
                      <a:srgbClr val="2A2A3E"/>
                    </a:solidFill>
                  </a:tcPr>
                </a:tc>
              </a:tr>
              <a:tr h="640080">
                <a:tc>
                  <a:txBody>
                    <a:bodyPr wrap="square"/>
                    <a:lstStyle/>
                    <a:p>
                      <a:pPr algn="l"/>
                      <a:r>
                        <a:rPr sz="1150" b="0">
                          <a:solidFill>
                            <a:srgbClr val="FFFFFF"/>
                          </a:solidFill>
                          <a:latin typeface="Calibri"/>
                        </a:rPr>
                        <a:t>Availability
(node-drain)</a:t>
                      </a:r>
                    </a:p>
                  </a:txBody>
                  <a:tcPr marL="76200" marR="76200" marT="38100" marB="38100">
                    <a:solidFill>
                      <a:srgbClr val="2A2A3E"/>
                    </a:solidFill>
                  </a:tcPr>
                </a:tc>
                <a:tc>
                  <a:txBody>
                    <a:bodyPr wrap="square"/>
                    <a:lstStyle/>
                    <a:p>
                      <a:pPr algn="l"/>
                      <a:r>
                        <a:rPr sz="1150" b="0">
                          <a:solidFill>
                            <a:srgbClr val="FFFFFF"/>
                          </a:solidFill>
                          <a:latin typeface="Calibri"/>
                        </a:rPr>
                        <a:t>EndpointSlice trough = fraction of app-ready endpoints lost when the node drains</a:t>
                      </a:r>
                    </a:p>
                  </a:txBody>
                  <a:tcPr marL="76200" marR="76200" marT="38100" marB="38100">
                    <a:solidFill>
                      <a:srgbClr val="2A2A3E"/>
                    </a:solidFill>
                  </a:tcPr>
                </a:tc>
                <a:tc>
                  <a:txBody>
                    <a:bodyPr wrap="square"/>
                    <a:lstStyle/>
                    <a:p>
                      <a:pPr algn="l"/>
                      <a:r>
                        <a:rPr sz="1150" b="0">
                          <a:solidFill>
                            <a:srgbClr val="FFFFFF"/>
                          </a:solidFill>
                          <a:latin typeface="Calibri"/>
                        </a:rPr>
                        <a:t>K8s EndpointSlice snapshots</a:t>
                      </a:r>
                    </a:p>
                  </a:txBody>
                  <a:tcPr marL="76200" marR="76200" marT="38100" marB="38100">
                    <a:solidFill>
                      <a:srgbClr val="2A2A3E"/>
                    </a:solidFill>
                  </a:tcPr>
                </a:tc>
              </a:tr>
            </a:tbl>
          </a:graphicData>
        </a:graphic>
      </p:graphicFrame>
      <p:sp>
        <p:nvSpPr>
          <p:cNvPr id="6" name="Rounded Rectangle 5"/>
          <p:cNvSpPr/>
          <p:nvPr/>
        </p:nvSpPr>
        <p:spPr>
          <a:xfrm>
            <a:off x="8183879" y="1600200"/>
            <a:ext cx="3429000" cy="3200400"/>
          </a:xfrm>
          <a:prstGeom prst="roundRect">
            <a:avLst/>
          </a:prstGeom>
          <a:solidFill>
            <a:srgbClr val="121222"/>
          </a:solidFill>
          <a:ln w="127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66760" y="1691640"/>
            <a:ext cx="3108960" cy="3063240"/>
          </a:xfrm>
          <a:prstGeom prst="rect">
            <a:avLst/>
          </a:prstGeom>
          <a:noFill/>
        </p:spPr>
        <p:txBody>
          <a:bodyPr wrap="square">
            <a:spAutoFit/>
          </a:bodyPr>
          <a:lstStyle/>
          <a:p>
            <a:pPr>
              <a:spcAft>
                <a:spcPts val="600"/>
              </a:spcAft>
              <a:defRPr sz="1400" b="1">
                <a:solidFill>
                  <a:srgbClr val="9B59B6"/>
                </a:solidFill>
                <a:latin typeface="Calibri"/>
              </a:defRPr>
            </a:pPr>
            <a:r>
              <a:t>The instrument</a:t>
            </a:r>
          </a:p>
          <a:p>
            <a:pPr>
              <a:spcBef>
                <a:spcPts val="200"/>
              </a:spcBef>
              <a:spcAft>
                <a:spcPts val="200"/>
              </a:spcAft>
              <a:defRPr sz="1150">
                <a:solidFill>
                  <a:srgbClr val="BDBDBD"/>
                </a:solidFill>
                <a:latin typeface="Calibri"/>
              </a:defRPr>
            </a:pPr>
            <a:r>
              <a:t>• 6 continuous probers run as background threads</a:t>
            </a:r>
          </a:p>
          <a:p>
            <a:pPr>
              <a:spcBef>
                <a:spcPts val="200"/>
              </a:spcBef>
              <a:spcAft>
                <a:spcPts val="200"/>
              </a:spcAft>
              <a:defRPr sz="1150">
                <a:solidFill>
                  <a:srgbClr val="BDBDBD"/>
                </a:solidFill>
                <a:latin typeface="Calibri"/>
              </a:defRPr>
            </a:pPr>
            <a:r>
              <a:t>   through all three phases</a:t>
            </a:r>
          </a:p>
          <a:p>
            <a:pPr>
              <a:spcBef>
                <a:spcPts val="200"/>
              </a:spcBef>
              <a:spcAft>
                <a:spcPts val="200"/>
              </a:spcAft>
              <a:defRPr sz="1150">
                <a:solidFill>
                  <a:srgbClr val="BDBDBD"/>
                </a:solidFill>
                <a:latin typeface="Calibri"/>
              </a:defRPr>
            </a:pPr>
          </a:p>
          <a:p>
            <a:pPr>
              <a:spcBef>
                <a:spcPts val="200"/>
              </a:spcBef>
              <a:spcAft>
                <a:spcPts val="200"/>
              </a:spcAft>
              <a:defRPr sz="1150">
                <a:solidFill>
                  <a:srgbClr val="BDBDBD"/>
                </a:solidFill>
                <a:latin typeface="Calibri"/>
              </a:defRPr>
            </a:pPr>
            <a:r>
              <a:t>• Recovery split: deletion→scheduled (d2s) vs</a:t>
            </a:r>
          </a:p>
          <a:p>
            <a:pPr>
              <a:spcBef>
                <a:spcPts val="200"/>
              </a:spcBef>
              <a:spcAft>
                <a:spcPts val="200"/>
              </a:spcAft>
              <a:defRPr sz="1150">
                <a:solidFill>
                  <a:srgbClr val="BDBDBD"/>
                </a:solidFill>
                <a:latin typeface="Calibri"/>
              </a:defRPr>
            </a:pPr>
            <a:r>
              <a:t>   scheduled→ready (s2r)</a:t>
            </a:r>
          </a:p>
          <a:p>
            <a:pPr>
              <a:spcBef>
                <a:spcPts val="200"/>
              </a:spcBef>
              <a:spcAft>
                <a:spcPts val="200"/>
              </a:spcAft>
              <a:defRPr sz="1150">
                <a:solidFill>
                  <a:srgbClr val="BDBDBD"/>
                </a:solidFill>
                <a:latin typeface="Calibri"/>
              </a:defRPr>
            </a:pPr>
          </a:p>
          <a:p>
            <a:pPr>
              <a:spcBef>
                <a:spcPts val="200"/>
              </a:spcBef>
              <a:spcAft>
                <a:spcPts val="200"/>
              </a:spcAft>
              <a:defRPr sz="1150">
                <a:solidFill>
                  <a:srgbClr val="BDBDBD"/>
                </a:solidFill>
                <a:latin typeface="Calibri"/>
              </a:defRPr>
            </a:pPr>
            <a:r>
              <a:t>• Cross-node fraction f computed pre-chaos</a:t>
            </a:r>
          </a:p>
          <a:p>
            <a:pPr>
              <a:spcBef>
                <a:spcPts val="200"/>
              </a:spcBef>
              <a:spcAft>
                <a:spcPts val="200"/>
              </a:spcAft>
              <a:defRPr sz="1150">
                <a:solidFill>
                  <a:srgbClr val="BDBDBD"/>
                </a:solidFill>
                <a:latin typeface="Calibri"/>
              </a:defRPr>
            </a:pPr>
            <a:r>
              <a:t>   from the dependency graph + placement</a:t>
            </a:r>
          </a:p>
          <a:p>
            <a:pPr>
              <a:spcBef>
                <a:spcPts val="200"/>
              </a:spcBef>
              <a:spcAft>
                <a:spcPts val="200"/>
              </a:spcAft>
              <a:defRPr sz="1150">
                <a:solidFill>
                  <a:srgbClr val="BDBDBD"/>
                </a:solidFill>
                <a:latin typeface="Calibri"/>
              </a:defRPr>
            </a:pPr>
          </a:p>
          <a:p>
            <a:pPr>
              <a:spcBef>
                <a:spcPts val="200"/>
              </a:spcBef>
              <a:spcAft>
                <a:spcPts val="200"/>
              </a:spcAft>
              <a:defRPr sz="1150">
                <a:solidFill>
                  <a:srgbClr val="BDBDBD"/>
                </a:solidFill>
                <a:latin typeface="Calibri"/>
              </a:defRPr>
            </a:pPr>
            <a:r>
              <a:t>• The layered scorecard separates the layer</a:t>
            </a:r>
          </a:p>
          <a:p>
            <a:pPr>
              <a:spcBef>
                <a:spcPts val="200"/>
              </a:spcBef>
              <a:spcAft>
                <a:spcPts val="200"/>
              </a:spcAft>
              <a:defRPr sz="1150">
                <a:solidFill>
                  <a:srgbClr val="BDBDBD"/>
                </a:solidFill>
                <a:latin typeface="Calibri"/>
              </a:defRPr>
            </a:pPr>
            <a:r>
              <a:t>   that carries signal from the one that does not</a:t>
            </a:r>
          </a:p>
          <a:p>
            <a:pPr>
              <a:spcBef>
                <a:spcPts val="200"/>
              </a:spcBef>
              <a:spcAft>
                <a:spcPts val="200"/>
              </a:spcAft>
              <a:defRPr sz="1150">
                <a:solidFill>
                  <a:srgbClr val="BDBDBD"/>
                </a:solidFill>
                <a:latin typeface="Calibri"/>
              </a:defRPr>
            </a:pPr>
            <a:r>
              <a:t>   — rather than averaging them into one number</a:t>
            </a:r>
          </a:p>
        </p:txBody>
      </p:sp>
      <p:sp>
        <p:nvSpPr>
          <p:cNvPr id="8" name="Rounded Rectangle 7"/>
          <p:cNvSpPr/>
          <p:nvPr/>
        </p:nvSpPr>
        <p:spPr>
          <a:xfrm>
            <a:off x="548640" y="5029200"/>
            <a:ext cx="11064240" cy="1371600"/>
          </a:xfrm>
          <a:prstGeom prst="roundRect">
            <a:avLst/>
          </a:prstGeom>
          <a:solidFill>
            <a:srgbClr val="2A2A3E"/>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120640"/>
            <a:ext cx="10698480" cy="365760"/>
          </a:xfrm>
          <a:prstGeom prst="rect">
            <a:avLst/>
          </a:prstGeom>
          <a:noFill/>
        </p:spPr>
        <p:txBody>
          <a:bodyPr wrap="square">
            <a:spAutoFit/>
          </a:bodyPr>
          <a:lstStyle/>
          <a:p>
            <a:pPr algn="l">
              <a:defRPr sz="1500" b="1">
                <a:solidFill>
                  <a:srgbClr val="2ECC71"/>
                </a:solidFill>
                <a:latin typeface="Calibri"/>
              </a:defRPr>
            </a:pPr>
            <a:r>
              <a:t>Why three layers, not one score</a:t>
            </a:r>
          </a:p>
        </p:txBody>
      </p:sp>
      <p:sp>
        <p:nvSpPr>
          <p:cNvPr id="10" name="TextBox 9"/>
          <p:cNvSpPr txBox="1"/>
          <p:nvPr/>
        </p:nvSpPr>
        <p:spPr>
          <a:xfrm>
            <a:off x="777240" y="5486400"/>
            <a:ext cx="10698480" cy="914400"/>
          </a:xfrm>
          <a:prstGeom prst="rect">
            <a:avLst/>
          </a:prstGeom>
          <a:noFill/>
        </p:spPr>
        <p:txBody>
          <a:bodyPr wrap="square">
            <a:spAutoFit/>
          </a:bodyPr>
          <a:lstStyle/>
          <a:p>
            <a:pPr algn="l">
              <a:defRPr sz="1250" b="0">
                <a:solidFill>
                  <a:srgbClr val="F0F0F8"/>
                </a:solidFill>
                <a:latin typeface="Calibri"/>
              </a:defRPr>
            </a:pPr>
            <a:r>
              <a:t>A single aggregate score's failure modes compound rather than cancel. Under churn it is NOISY — the availability layer it leans on has little reproducible between-condition signal. Under node-drain it is ABSENT — the drain takes down the infrastructure the probes depend on, every probe returns Unknown, and the score is undefined exactly when the availability outcome is most dramatic. So availability is read directly from EndpointSlice troughs.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defRPr sz="3000" b="1">
                <a:solidFill>
                  <a:srgbClr val="FFFFFF"/>
                </a:solidFill>
                <a:latin typeface="Calibri"/>
              </a:defRPr>
            </a:pPr>
            <a:r>
              <a:t>Campaigns &amp; Hypotheses</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60120"/>
            <a:ext cx="11155680" cy="457200"/>
          </a:xfrm>
          <a:prstGeom prst="rect">
            <a:avLst/>
          </a:prstGeom>
          <a:noFill/>
        </p:spPr>
        <p:txBody>
          <a:bodyPr wrap="square">
            <a:spAutoFit/>
          </a:bodyPr>
          <a:lstStyle/>
          <a:p>
            <a:pPr algn="l">
              <a:defRPr sz="1500" b="0">
                <a:solidFill>
                  <a:srgbClr val="BDBDBD"/>
                </a:solidFill>
                <a:latin typeface="Calibri"/>
              </a:defRPr>
            </a:pPr>
            <a:r>
              <a:t>Three pre-registered campaigns, each deposited under a DOI before analysis</a:t>
            </a:r>
          </a:p>
        </p:txBody>
      </p:sp>
      <p:graphicFrame>
        <p:nvGraphicFramePr>
          <p:cNvPr id="5" name="Table 4"/>
          <p:cNvGraphicFramePr>
            <a:graphicFrameLocks noGrp="1"/>
          </p:cNvGraphicFramePr>
          <p:nvPr/>
        </p:nvGraphicFramePr>
        <p:xfrm>
          <a:off x="548640" y="1600200"/>
          <a:ext cx="11064240" cy="1828800"/>
        </p:xfrm>
        <a:graphic>
          <a:graphicData uri="http://schemas.openxmlformats.org/drawingml/2006/table">
            <a:tbl>
              <a:tblPr firstRow="1" bandRow="1">
                <a:tableStyleId>{5C22544A-7EE6-4342-B048-85BDC9FD1C3A}</a:tableStyleId>
              </a:tblPr>
              <a:tblGrid>
                <a:gridCol w="1844040"/>
                <a:gridCol w="1844040"/>
                <a:gridCol w="1844040"/>
                <a:gridCol w="1844040"/>
                <a:gridCol w="1844040"/>
                <a:gridCol w="1844040"/>
              </a:tblGrid>
              <a:tr h="457200">
                <a:tc>
                  <a:txBody>
                    <a:bodyPr wrap="square"/>
                    <a:lstStyle/>
                    <a:p>
                      <a:pPr algn="l"/>
                      <a:r>
                        <a:rPr sz="1100" b="1">
                          <a:solidFill>
                            <a:srgbClr val="FFFFFF"/>
                          </a:solidFill>
                          <a:latin typeface="Calibri"/>
                        </a:rPr>
                        <a:t>Campaign</a:t>
                      </a:r>
                    </a:p>
                  </a:txBody>
                  <a:tcPr marL="76200" marR="76200" marT="38100" marB="38100">
                    <a:solidFill>
                      <a:srgbClr val="0096D6"/>
                    </a:solidFill>
                  </a:tcPr>
                </a:tc>
                <a:tc>
                  <a:txBody>
                    <a:bodyPr wrap="square"/>
                    <a:lstStyle/>
                    <a:p>
                      <a:pPr algn="l"/>
                      <a:r>
                        <a:rPr sz="1100" b="1">
                          <a:solidFill>
                            <a:srgbClr val="FFFFFF"/>
                          </a:solidFill>
                          <a:latin typeface="Calibri"/>
                        </a:rPr>
                        <a:t>Fault class</a:t>
                      </a:r>
                    </a:p>
                  </a:txBody>
                  <a:tcPr marL="76200" marR="76200" marT="38100" marB="38100">
                    <a:solidFill>
                      <a:srgbClr val="0096D6"/>
                    </a:solidFill>
                  </a:tcPr>
                </a:tc>
                <a:tc>
                  <a:txBody>
                    <a:bodyPr wrap="square"/>
                    <a:lstStyle/>
                    <a:p>
                      <a:pPr algn="l"/>
                      <a:r>
                        <a:rPr sz="1100" b="1">
                          <a:solidFill>
                            <a:srgbClr val="FFFFFF"/>
                          </a:solidFill>
                          <a:latin typeface="Calibri"/>
                        </a:rPr>
                        <a:t>Design</a:t>
                      </a:r>
                    </a:p>
                  </a:txBody>
                  <a:tcPr marL="76200" marR="76200" marT="38100" marB="38100">
                    <a:solidFill>
                      <a:srgbClr val="0096D6"/>
                    </a:solidFill>
                  </a:tcPr>
                </a:tc>
                <a:tc>
                  <a:txBody>
                    <a:bodyPr wrap="square"/>
                    <a:lstStyle/>
                    <a:p>
                      <a:pPr algn="l"/>
                      <a:r>
                        <a:rPr sz="1100" b="1">
                          <a:solidFill>
                            <a:srgbClr val="FFFFFF"/>
                          </a:solidFill>
                          <a:latin typeface="Calibri"/>
                        </a:rPr>
                        <a:t>Sess.</a:t>
                      </a:r>
                    </a:p>
                  </a:txBody>
                  <a:tcPr marL="76200" marR="76200" marT="38100" marB="38100">
                    <a:solidFill>
                      <a:srgbClr val="0096D6"/>
                    </a:solidFill>
                  </a:tcPr>
                </a:tc>
                <a:tc>
                  <a:txBody>
                    <a:bodyPr wrap="square"/>
                    <a:lstStyle/>
                    <a:p>
                      <a:pPr algn="l"/>
                      <a:r>
                        <a:rPr sz="1100" b="1">
                          <a:solidFill>
                            <a:srgbClr val="FFFFFF"/>
                          </a:solidFill>
                          <a:latin typeface="Calibri"/>
                        </a:rPr>
                        <a:t>Tests</a:t>
                      </a:r>
                    </a:p>
                  </a:txBody>
                  <a:tcPr marL="76200" marR="76200" marT="38100" marB="38100">
                    <a:solidFill>
                      <a:srgbClr val="0096D6"/>
                    </a:solidFill>
                  </a:tcPr>
                </a:tc>
                <a:tc>
                  <a:txBody>
                    <a:bodyPr wrap="square"/>
                    <a:lstStyle/>
                    <a:p>
                      <a:pPr algn="l"/>
                      <a:r>
                        <a:rPr sz="1100" b="1">
                          <a:solidFill>
                            <a:srgbClr val="FFFFFF"/>
                          </a:solidFill>
                          <a:latin typeface="Calibri"/>
                        </a:rPr>
                        <a:t>DOI</a:t>
                      </a:r>
                    </a:p>
                  </a:txBody>
                  <a:tcPr marL="76200" marR="76200" marT="38100" marB="38100">
                    <a:solidFill>
                      <a:srgbClr val="0096D6"/>
                    </a:solidFill>
                  </a:tcPr>
                </a:tc>
              </a:tr>
              <a:tr h="457200">
                <a:tc>
                  <a:txBody>
                    <a:bodyPr wrap="square"/>
                    <a:lstStyle/>
                    <a:p>
                      <a:pPr algn="l"/>
                      <a:r>
                        <a:rPr sz="1100" b="0">
                          <a:solidFill>
                            <a:srgbClr val="FFFFFF"/>
                          </a:solidFill>
                          <a:latin typeface="Calibri"/>
                        </a:rPr>
                        <a:t>C1 dose-response</a:t>
                      </a:r>
                    </a:p>
                  </a:txBody>
                  <a:tcPr marL="76200" marR="76200" marT="38100" marB="38100">
                    <a:solidFill>
                      <a:srgbClr val="2A2A3E"/>
                    </a:solidFill>
                  </a:tcPr>
                </a:tc>
                <a:tc>
                  <a:txBody>
                    <a:bodyPr wrap="square"/>
                    <a:lstStyle/>
                    <a:p>
                      <a:pPr algn="l"/>
                      <a:r>
                        <a:rPr sz="1100" b="0">
                          <a:solidFill>
                            <a:srgbClr val="FFFFFF"/>
                          </a:solidFill>
                          <a:latin typeface="Calibri"/>
                        </a:rPr>
                        <a:t>churn (pod-delete)</a:t>
                      </a:r>
                    </a:p>
                  </a:txBody>
                  <a:tcPr marL="76200" marR="76200" marT="38100" marB="38100">
                    <a:solidFill>
                      <a:srgbClr val="2A2A3E"/>
                    </a:solidFill>
                  </a:tcPr>
                </a:tc>
                <a:tc>
                  <a:txBody>
                    <a:bodyPr wrap="square"/>
                    <a:lstStyle/>
                    <a:p>
                      <a:pPr algn="l"/>
                      <a:r>
                        <a:rPr sz="1100" b="0">
                          <a:solidFill>
                            <a:srgbClr val="FFFFFF"/>
                          </a:solidFill>
                          <a:latin typeface="Calibri"/>
                        </a:rPr>
                        <a:t>complete-block f∈{0,.25,.5,.75,1}, r=1, 5×3 iters</a:t>
                      </a:r>
                    </a:p>
                  </a:txBody>
                  <a:tcPr marL="76200" marR="76200" marT="38100" marB="38100">
                    <a:solidFill>
                      <a:srgbClr val="2A2A3E"/>
                    </a:solidFill>
                  </a:tcPr>
                </a:tc>
                <a:tc>
                  <a:txBody>
                    <a:bodyPr wrap="square"/>
                    <a:lstStyle/>
                    <a:p>
                      <a:pPr algn="l"/>
                      <a:r>
                        <a:rPr sz="1100" b="0">
                          <a:solidFill>
                            <a:srgbClr val="FFFFFF"/>
                          </a:solidFill>
                          <a:latin typeface="Calibri"/>
                        </a:rPr>
                        <a:t>8</a:t>
                      </a:r>
                    </a:p>
                  </a:txBody>
                  <a:tcPr marL="76200" marR="76200" marT="38100" marB="38100">
                    <a:solidFill>
                      <a:srgbClr val="2A2A3E"/>
                    </a:solidFill>
                  </a:tcPr>
                </a:tc>
                <a:tc>
                  <a:txBody>
                    <a:bodyPr wrap="square"/>
                    <a:lstStyle/>
                    <a:p>
                      <a:pPr algn="l"/>
                      <a:r>
                        <a:rPr sz="1100" b="0">
                          <a:solidFill>
                            <a:srgbClr val="FFFFFF"/>
                          </a:solidFill>
                          <a:latin typeface="Calibri"/>
                        </a:rPr>
                        <a:t>H1, H4, H5</a:t>
                      </a:r>
                    </a:p>
                  </a:txBody>
                  <a:tcPr marL="76200" marR="76200" marT="38100" marB="38100">
                    <a:solidFill>
                      <a:srgbClr val="2A2A3E"/>
                    </a:solidFill>
                  </a:tcPr>
                </a:tc>
                <a:tc>
                  <a:txBody>
                    <a:bodyPr wrap="square"/>
                    <a:lstStyle/>
                    <a:p>
                      <a:pPr algn="l"/>
                      <a:r>
                        <a:rPr sz="1100" b="0">
                          <a:solidFill>
                            <a:srgbClr val="FFFFFF"/>
                          </a:solidFill>
                          <a:latin typeface="Calibri"/>
                        </a:rPr>
                        <a:t>20690737</a:t>
                      </a:r>
                    </a:p>
                  </a:txBody>
                  <a:tcPr marL="76200" marR="76200" marT="38100" marB="38100">
                    <a:solidFill>
                      <a:srgbClr val="2A2A3E"/>
                    </a:solidFill>
                  </a:tcPr>
                </a:tc>
              </a:tr>
              <a:tr h="457200">
                <a:tc>
                  <a:txBody>
                    <a:bodyPr wrap="square"/>
                    <a:lstStyle/>
                    <a:p>
                      <a:pPr algn="l"/>
                      <a:r>
                        <a:rPr sz="1100" b="0">
                          <a:solidFill>
                            <a:srgbClr val="FFFFFF"/>
                          </a:solidFill>
                          <a:latin typeface="Calibri"/>
                        </a:rPr>
                        <a:t>C2 replication rescue</a:t>
                      </a:r>
                    </a:p>
                  </a:txBody>
                  <a:tcPr marL="76200" marR="76200" marT="38100" marB="38100">
                    <a:solidFill>
                      <a:srgbClr val="2A2A3E"/>
                    </a:solidFill>
                  </a:tcPr>
                </a:tc>
                <a:tc>
                  <a:txBody>
                    <a:bodyPr wrap="square"/>
                    <a:lstStyle/>
                    <a:p>
                      <a:pPr algn="l"/>
                      <a:r>
                        <a:rPr sz="1100" b="0">
                          <a:solidFill>
                            <a:srgbClr val="FFFFFF"/>
                          </a:solidFill>
                          <a:latin typeface="Calibri"/>
                        </a:rPr>
                        <a:t>node failure (drain)</a:t>
                      </a:r>
                    </a:p>
                  </a:txBody>
                  <a:tcPr marL="76200" marR="76200" marT="38100" marB="38100">
                    <a:solidFill>
                      <a:srgbClr val="2A2A3E"/>
                    </a:solidFill>
                  </a:tcPr>
                </a:tc>
                <a:tc>
                  <a:txBody>
                    <a:bodyPr wrap="square"/>
                    <a:lstStyle/>
                    <a:p>
                      <a:pPr algn="l"/>
                      <a:r>
                        <a:rPr sz="1100" b="0">
                          <a:solidFill>
                            <a:srgbClr val="FFFFFF"/>
                          </a:solidFill>
                          <a:latin typeface="Calibri"/>
                        </a:rPr>
                        <a:t>r∈{1,3} × mode (packed/anti-affine), 3 cells</a:t>
                      </a:r>
                    </a:p>
                  </a:txBody>
                  <a:tcPr marL="76200" marR="76200" marT="38100" marB="38100">
                    <a:solidFill>
                      <a:srgbClr val="2A2A3E"/>
                    </a:solidFill>
                  </a:tcPr>
                </a:tc>
                <a:tc>
                  <a:txBody>
                    <a:bodyPr wrap="square"/>
                    <a:lstStyle/>
                    <a:p>
                      <a:pPr algn="l"/>
                      <a:r>
                        <a:rPr sz="1100" b="0">
                          <a:solidFill>
                            <a:srgbClr val="FFFFFF"/>
                          </a:solidFill>
                          <a:latin typeface="Calibri"/>
                        </a:rPr>
                        <a:t>24</a:t>
                      </a:r>
                    </a:p>
                  </a:txBody>
                  <a:tcPr marL="76200" marR="76200" marT="38100" marB="38100">
                    <a:solidFill>
                      <a:srgbClr val="2A2A3E"/>
                    </a:solidFill>
                  </a:tcPr>
                </a:tc>
                <a:tc>
                  <a:txBody>
                    <a:bodyPr wrap="square"/>
                    <a:lstStyle/>
                    <a:p>
                      <a:pPr algn="l"/>
                      <a:r>
                        <a:rPr sz="1100" b="0">
                          <a:solidFill>
                            <a:srgbClr val="FFFFFF"/>
                          </a:solidFill>
                          <a:latin typeface="Calibri"/>
                        </a:rPr>
                        <a:t>H3</a:t>
                      </a:r>
                    </a:p>
                  </a:txBody>
                  <a:tcPr marL="76200" marR="76200" marT="38100" marB="38100">
                    <a:solidFill>
                      <a:srgbClr val="2A2A3E"/>
                    </a:solidFill>
                  </a:tcPr>
                </a:tc>
                <a:tc>
                  <a:txBody>
                    <a:bodyPr wrap="square"/>
                    <a:lstStyle/>
                    <a:p>
                      <a:pPr algn="l"/>
                      <a:r>
                        <a:rPr sz="1100" b="0">
                          <a:solidFill>
                            <a:srgbClr val="FFFFFF"/>
                          </a:solidFill>
                          <a:latin typeface="Calibri"/>
                        </a:rPr>
                        <a:t>20726729</a:t>
                      </a:r>
                    </a:p>
                  </a:txBody>
                  <a:tcPr marL="76200" marR="76200" marT="38100" marB="38100">
                    <a:solidFill>
                      <a:srgbClr val="2A2A3E"/>
                    </a:solidFill>
                  </a:tcPr>
                </a:tc>
              </a:tr>
              <a:tr h="457200">
                <a:tc>
                  <a:txBody>
                    <a:bodyPr wrap="square"/>
                    <a:lstStyle/>
                    <a:p>
                      <a:pPr algn="l"/>
                      <a:r>
                        <a:rPr sz="1100" b="0">
                          <a:solidFill>
                            <a:srgbClr val="FFFFFF"/>
                          </a:solidFill>
                          <a:latin typeface="Calibri"/>
                        </a:rPr>
                        <a:t>C3 placement + DNS</a:t>
                      </a:r>
                    </a:p>
                  </a:txBody>
                  <a:tcPr marL="76200" marR="76200" marT="38100" marB="38100">
                    <a:solidFill>
                      <a:srgbClr val="2A2A3E"/>
                    </a:solidFill>
                  </a:tcPr>
                </a:tc>
                <a:tc>
                  <a:txBody>
                    <a:bodyPr wrap="square"/>
                    <a:lstStyle/>
                    <a:p>
                      <a:pPr algn="l"/>
                      <a:r>
                        <a:rPr sz="1100" b="0">
                          <a:solidFill>
                            <a:srgbClr val="FFFFFF"/>
                          </a:solidFill>
                          <a:latin typeface="Calibri"/>
                        </a:rPr>
                        <a:t>churn (pod-delete)</a:t>
                      </a:r>
                    </a:p>
                  </a:txBody>
                  <a:tcPr marL="76200" marR="76200" marT="38100" marB="38100">
                    <a:solidFill>
                      <a:srgbClr val="2A2A3E"/>
                    </a:solidFill>
                  </a:tcPr>
                </a:tc>
                <a:tc>
                  <a:txBody>
                    <a:bodyPr wrap="square"/>
                    <a:lstStyle/>
                    <a:p>
                      <a:pPr algn="l"/>
                      <a:r>
                        <a:rPr sz="1100" b="0">
                          <a:solidFill>
                            <a:srgbClr val="FFFFFF"/>
                          </a:solidFill>
                          <a:latin typeface="Calibri"/>
                        </a:rPr>
                        <a:t>f∈{0,1} × dnsCache off/on, 7 matched pairs</a:t>
                      </a:r>
                    </a:p>
                  </a:txBody>
                  <a:tcPr marL="76200" marR="76200" marT="38100" marB="38100">
                    <a:solidFill>
                      <a:srgbClr val="2A2A3E"/>
                    </a:solidFill>
                  </a:tcPr>
                </a:tc>
                <a:tc>
                  <a:txBody>
                    <a:bodyPr wrap="square"/>
                    <a:lstStyle/>
                    <a:p>
                      <a:pPr algn="l"/>
                      <a:r>
                        <a:rPr sz="1100" b="0">
                          <a:solidFill>
                            <a:srgbClr val="FFFFFF"/>
                          </a:solidFill>
                          <a:latin typeface="Calibri"/>
                        </a:rPr>
                        <a:t>14</a:t>
                      </a:r>
                    </a:p>
                  </a:txBody>
                  <a:tcPr marL="76200" marR="76200" marT="38100" marB="38100">
                    <a:solidFill>
                      <a:srgbClr val="2A2A3E"/>
                    </a:solidFill>
                  </a:tcPr>
                </a:tc>
                <a:tc>
                  <a:txBody>
                    <a:bodyPr wrap="square"/>
                    <a:lstStyle/>
                    <a:p>
                      <a:pPr algn="l"/>
                      <a:r>
                        <a:rPr sz="1100" b="0">
                          <a:solidFill>
                            <a:srgbClr val="FFFFFF"/>
                          </a:solidFill>
                          <a:latin typeface="Calibri"/>
                        </a:rPr>
                        <a:t>H2</a:t>
                      </a:r>
                    </a:p>
                  </a:txBody>
                  <a:tcPr marL="76200" marR="76200" marT="38100" marB="38100">
                    <a:solidFill>
                      <a:srgbClr val="2A2A3E"/>
                    </a:solidFill>
                  </a:tcPr>
                </a:tc>
                <a:tc>
                  <a:txBody>
                    <a:bodyPr wrap="square"/>
                    <a:lstStyle/>
                    <a:p>
                      <a:pPr algn="l"/>
                      <a:r>
                        <a:rPr sz="1100" b="0">
                          <a:solidFill>
                            <a:srgbClr val="FFFFFF"/>
                          </a:solidFill>
                          <a:latin typeface="Calibri"/>
                        </a:rPr>
                        <a:t>20748970</a:t>
                      </a:r>
                    </a:p>
                  </a:txBody>
                  <a:tcPr marL="76200" marR="76200" marT="38100" marB="38100">
                    <a:solidFill>
                      <a:srgbClr val="2A2A3E"/>
                    </a:solidFill>
                  </a:tcPr>
                </a:tc>
              </a:tr>
            </a:tbl>
          </a:graphicData>
        </a:graphic>
      </p:graphicFrame>
      <p:graphicFrame>
        <p:nvGraphicFramePr>
          <p:cNvPr id="6" name="Table 5"/>
          <p:cNvGraphicFramePr>
            <a:graphicFrameLocks noGrp="1"/>
          </p:cNvGraphicFramePr>
          <p:nvPr/>
        </p:nvGraphicFramePr>
        <p:xfrm>
          <a:off x="548640" y="3657600"/>
          <a:ext cx="8595360" cy="2743195"/>
        </p:xfrm>
        <a:graphic>
          <a:graphicData uri="http://schemas.openxmlformats.org/drawingml/2006/table">
            <a:tbl>
              <a:tblPr firstRow="1" bandRow="1">
                <a:tableStyleId>{5C22544A-7EE6-4342-B048-85BDC9FD1C3A}</a:tableStyleId>
              </a:tblPr>
              <a:tblGrid>
                <a:gridCol w="2865120"/>
                <a:gridCol w="2865120"/>
                <a:gridCol w="2865120"/>
              </a:tblGrid>
              <a:tr h="391885">
                <a:tc>
                  <a:txBody>
                    <a:bodyPr wrap="square"/>
                    <a:lstStyle/>
                    <a:p>
                      <a:pPr algn="l"/>
                      <a:r>
                        <a:rPr sz="1100" b="1">
                          <a:solidFill>
                            <a:srgbClr val="FFFFFF"/>
                          </a:solidFill>
                          <a:latin typeface="Calibri"/>
                        </a:rPr>
                        <a:t>H</a:t>
                      </a:r>
                    </a:p>
                  </a:txBody>
                  <a:tcPr marL="76200" marR="76200" marT="38100" marB="38100">
                    <a:solidFill>
                      <a:srgbClr val="9B59B6"/>
                    </a:solidFill>
                  </a:tcPr>
                </a:tc>
                <a:tc>
                  <a:txBody>
                    <a:bodyPr wrap="square"/>
                    <a:lstStyle/>
                    <a:p>
                      <a:pPr algn="l"/>
                      <a:r>
                        <a:rPr sz="1100" b="1">
                          <a:solidFill>
                            <a:srgbClr val="FFFFFF"/>
                          </a:solidFill>
                          <a:latin typeface="Calibri"/>
                        </a:rPr>
                        <a:t>Claim</a:t>
                      </a:r>
                    </a:p>
                  </a:txBody>
                  <a:tcPr marL="76200" marR="76200" marT="38100" marB="38100">
                    <a:solidFill>
                      <a:srgbClr val="9B59B6"/>
                    </a:solidFill>
                  </a:tcPr>
                </a:tc>
                <a:tc>
                  <a:txBody>
                    <a:bodyPr wrap="square"/>
                    <a:lstStyle/>
                    <a:p>
                      <a:pPr algn="l"/>
                      <a:r>
                        <a:rPr sz="1100" b="1">
                          <a:solidFill>
                            <a:srgbClr val="FFFFFF"/>
                          </a:solidFill>
                          <a:latin typeface="Calibri"/>
                        </a:rPr>
                        <a:t>Registered bar</a:t>
                      </a:r>
                    </a:p>
                  </a:txBody>
                  <a:tcPr marL="76200" marR="76200" marT="38100" marB="38100">
                    <a:solidFill>
                      <a:srgbClr val="9B59B6"/>
                    </a:solidFill>
                  </a:tcPr>
                </a:tc>
              </a:tr>
              <a:tr h="391885">
                <a:tc>
                  <a:txBody>
                    <a:bodyPr wrap="square"/>
                    <a:lstStyle/>
                    <a:p>
                      <a:pPr algn="l"/>
                      <a:r>
                        <a:rPr sz="1100" b="0">
                          <a:solidFill>
                            <a:srgbClr val="FFFFFF"/>
                          </a:solidFill>
                          <a:latin typeface="Calibri"/>
                        </a:rPr>
                        <a:t>H1</a:t>
                      </a:r>
                    </a:p>
                  </a:txBody>
                  <a:tcPr marL="76200" marR="76200" marT="38100" marB="38100">
                    <a:solidFill>
                      <a:srgbClr val="2A2A3E"/>
                    </a:solidFill>
                  </a:tcPr>
                </a:tc>
                <a:tc>
                  <a:txBody>
                    <a:bodyPr wrap="square"/>
                    <a:lstStyle/>
                    <a:p>
                      <a:pPr algn="l"/>
                      <a:r>
                        <a:rPr sz="1100" b="0">
                          <a:solidFill>
                            <a:srgbClr val="FFFFFF"/>
                          </a:solidFill>
                          <a:latin typeface="Calibri"/>
                        </a:rPr>
                        <a:t>Dose-response of the east-west tail</a:t>
                      </a:r>
                    </a:p>
                  </a:txBody>
                  <a:tcPr marL="76200" marR="76200" marT="38100" marB="38100">
                    <a:solidFill>
                      <a:srgbClr val="2A2A3E"/>
                    </a:solidFill>
                  </a:tcPr>
                </a:tc>
                <a:tc>
                  <a:txBody>
                    <a:bodyPr wrap="square"/>
                    <a:lstStyle/>
                    <a:p>
                      <a:pPr algn="l"/>
                      <a:r>
                        <a:rPr sz="1100" b="0">
                          <a:solidFill>
                            <a:srgbClr val="FFFFFF"/>
                          </a:solidFill>
                          <a:latin typeface="Calibri"/>
                        </a:rPr>
                        <a:t>monotone increase, ≥ 15% SESOI (f=0→1)</a:t>
                      </a:r>
                    </a:p>
                  </a:txBody>
                  <a:tcPr marL="76200" marR="76200" marT="38100" marB="38100">
                    <a:solidFill>
                      <a:srgbClr val="2A2A3E"/>
                    </a:solidFill>
                  </a:tcPr>
                </a:tc>
              </a:tr>
              <a:tr h="391885">
                <a:tc>
                  <a:txBody>
                    <a:bodyPr wrap="square"/>
                    <a:lstStyle/>
                    <a:p>
                      <a:pPr algn="l"/>
                      <a:r>
                        <a:rPr sz="1100" b="0">
                          <a:solidFill>
                            <a:srgbClr val="FFFFFF"/>
                          </a:solidFill>
                          <a:latin typeface="Calibri"/>
                        </a:rPr>
                        <a:t>H2</a:t>
                      </a:r>
                    </a:p>
                  </a:txBody>
                  <a:tcPr marL="76200" marR="76200" marT="38100" marB="38100">
                    <a:solidFill>
                      <a:srgbClr val="2A2A3E"/>
                    </a:solidFill>
                  </a:tcPr>
                </a:tc>
                <a:tc>
                  <a:txBody>
                    <a:bodyPr wrap="square"/>
                    <a:lstStyle/>
                    <a:p>
                      <a:pPr algn="l"/>
                      <a:r>
                        <a:rPr sz="1100" b="0">
                          <a:solidFill>
                            <a:srgbClr val="FFFFFF"/>
                          </a:solidFill>
                          <a:latin typeface="Calibri"/>
                        </a:rPr>
                        <a:t>Placement-dependence + DNS intervention</a:t>
                      </a:r>
                    </a:p>
                  </a:txBody>
                  <a:tcPr marL="76200" marR="76200" marT="38100" marB="38100">
                    <a:solidFill>
                      <a:srgbClr val="2A2A3E"/>
                    </a:solidFill>
                  </a:tcPr>
                </a:tc>
                <a:tc>
                  <a:txBody>
                    <a:bodyPr wrap="square"/>
                    <a:lstStyle/>
                    <a:p>
                      <a:pPr algn="l"/>
                      <a:r>
                        <a:rPr sz="1100" b="0">
                          <a:solidFill>
                            <a:srgbClr val="FFFFFF"/>
                          </a:solidFill>
                          <a:latin typeface="Calibri"/>
                        </a:rPr>
                        <a:t>spread&gt;packed drop AND DNS shrinks ≥50%</a:t>
                      </a:r>
                    </a:p>
                  </a:txBody>
                  <a:tcPr marL="76200" marR="76200" marT="38100" marB="38100">
                    <a:solidFill>
                      <a:srgbClr val="2A2A3E"/>
                    </a:solidFill>
                  </a:tcPr>
                </a:tc>
              </a:tr>
              <a:tr h="391885">
                <a:tc>
                  <a:txBody>
                    <a:bodyPr wrap="square"/>
                    <a:lstStyle/>
                    <a:p>
                      <a:pPr algn="l"/>
                      <a:r>
                        <a:rPr sz="1100" b="0">
                          <a:solidFill>
                            <a:srgbClr val="FFFFFF"/>
                          </a:solidFill>
                          <a:latin typeface="Calibri"/>
                        </a:rPr>
                        <a:t>H3</a:t>
                      </a:r>
                    </a:p>
                  </a:txBody>
                  <a:tcPr marL="76200" marR="76200" marT="38100" marB="38100">
                    <a:solidFill>
                      <a:srgbClr val="2A2A3E"/>
                    </a:solidFill>
                  </a:tcPr>
                </a:tc>
                <a:tc>
                  <a:txBody>
                    <a:bodyPr wrap="square"/>
                    <a:lstStyle/>
                    <a:p>
                      <a:pPr algn="l"/>
                      <a:r>
                        <a:rPr sz="1100" b="0">
                          <a:solidFill>
                            <a:srgbClr val="FFFFFF"/>
                          </a:solidFill>
                          <a:latin typeface="Calibri"/>
                        </a:rPr>
                        <a:t>Replication rescue under node-drain</a:t>
                      </a:r>
                    </a:p>
                  </a:txBody>
                  <a:tcPr marL="76200" marR="76200" marT="38100" marB="38100">
                    <a:solidFill>
                      <a:srgbClr val="2A2A3E"/>
                    </a:solidFill>
                  </a:tcPr>
                </a:tc>
                <a:tc>
                  <a:txBody>
                    <a:bodyPr wrap="square"/>
                    <a:lstStyle/>
                    <a:p>
                      <a:pPr algn="l"/>
                      <a:r>
                        <a:rPr sz="1100" b="0">
                          <a:solidFill>
                            <a:srgbClr val="FFFFFF"/>
                          </a:solidFill>
                          <a:latin typeface="Calibri"/>
                        </a:rPr>
                        <a:t>r×mode interaction + anti-affine rescue margin</a:t>
                      </a:r>
                    </a:p>
                  </a:txBody>
                  <a:tcPr marL="76200" marR="76200" marT="38100" marB="38100">
                    <a:solidFill>
                      <a:srgbClr val="2A2A3E"/>
                    </a:solidFill>
                  </a:tcPr>
                </a:tc>
              </a:tr>
              <a:tr h="391885">
                <a:tc>
                  <a:txBody>
                    <a:bodyPr wrap="square"/>
                    <a:lstStyle/>
                    <a:p>
                      <a:pPr algn="l"/>
                      <a:r>
                        <a:rPr sz="1100" b="0">
                          <a:solidFill>
                            <a:srgbClr val="FFFFFF"/>
                          </a:solidFill>
                          <a:latin typeface="Calibri"/>
                        </a:rPr>
                        <a:t>H4</a:t>
                      </a:r>
                    </a:p>
                  </a:txBody>
                  <a:tcPr marL="76200" marR="76200" marT="38100" marB="38100">
                    <a:solidFill>
                      <a:srgbClr val="2A2A3E"/>
                    </a:solidFill>
                  </a:tcPr>
                </a:tc>
                <a:tc>
                  <a:txBody>
                    <a:bodyPr wrap="square"/>
                    <a:lstStyle/>
                    <a:p>
                      <a:pPr algn="l"/>
                      <a:r>
                        <a:rPr sz="1100" b="0">
                          <a:solidFill>
                            <a:srgbClr val="FFFFFF"/>
                          </a:solidFill>
                          <a:latin typeface="Calibri"/>
                        </a:rPr>
                        <a:t>Placement frontier (descriptive)</a:t>
                      </a:r>
                    </a:p>
                  </a:txBody>
                  <a:tcPr marL="76200" marR="76200" marT="38100" marB="38100">
                    <a:solidFill>
                      <a:srgbClr val="2A2A3E"/>
                    </a:solidFill>
                  </a:tcPr>
                </a:tc>
                <a:tc>
                  <a:txBody>
                    <a:bodyPr wrap="square"/>
                    <a:lstStyle/>
                    <a:p>
                      <a:pPr algn="l"/>
                      <a:r>
                        <a:rPr sz="1100" b="0">
                          <a:solidFill>
                            <a:srgbClr val="FFFFFF"/>
                          </a:solidFill>
                          <a:latin typeface="Calibri"/>
                        </a:rPr>
                        <a:t>non-dominated set under frozen margins</a:t>
                      </a:r>
                    </a:p>
                  </a:txBody>
                  <a:tcPr marL="76200" marR="76200" marT="38100" marB="38100">
                    <a:solidFill>
                      <a:srgbClr val="2A2A3E"/>
                    </a:solidFill>
                  </a:tcPr>
                </a:tc>
              </a:tr>
              <a:tr h="391885">
                <a:tc>
                  <a:txBody>
                    <a:bodyPr wrap="square"/>
                    <a:lstStyle/>
                    <a:p>
                      <a:pPr algn="l"/>
                      <a:r>
                        <a:rPr sz="1100" b="0">
                          <a:solidFill>
                            <a:srgbClr val="FFFFFF"/>
                          </a:solidFill>
                          <a:latin typeface="Calibri"/>
                        </a:rPr>
                        <a:t>H5</a:t>
                      </a:r>
                    </a:p>
                  </a:txBody>
                  <a:tcPr marL="76200" marR="76200" marT="38100" marB="38100">
                    <a:solidFill>
                      <a:srgbClr val="2A2A3E"/>
                    </a:solidFill>
                  </a:tcPr>
                </a:tc>
                <a:tc>
                  <a:txBody>
                    <a:bodyPr wrap="square"/>
                    <a:lstStyle/>
                    <a:p>
                      <a:pPr algn="l"/>
                      <a:r>
                        <a:rPr sz="1100" b="0">
                          <a:solidFill>
                            <a:srgbClr val="FFFFFF"/>
                          </a:solidFill>
                          <a:latin typeface="Calibri"/>
                        </a:rPr>
                        <a:t>Layered scorecard reliability</a:t>
                      </a:r>
                    </a:p>
                  </a:txBody>
                  <a:tcPr marL="76200" marR="76200" marT="38100" marB="38100">
                    <a:solidFill>
                      <a:srgbClr val="2A2A3E"/>
                    </a:solidFill>
                  </a:tcPr>
                </a:tc>
                <a:tc>
                  <a:txBody>
                    <a:bodyPr wrap="square"/>
                    <a:lstStyle/>
                    <a:p>
                      <a:pPr algn="l"/>
                      <a:r>
                        <a:rPr sz="1100" b="0">
                          <a:solidFill>
                            <a:srgbClr val="FFFFFF"/>
                          </a:solidFill>
                          <a:latin typeface="Calibri"/>
                        </a:rPr>
                        <a:t>availability AND mechanism ICC ≥ 0.5</a:t>
                      </a:r>
                    </a:p>
                  </a:txBody>
                  <a:tcPr marL="76200" marR="76200" marT="38100" marB="38100">
                    <a:solidFill>
                      <a:srgbClr val="2A2A3E"/>
                    </a:solidFill>
                  </a:tcPr>
                </a:tc>
              </a:tr>
              <a:tr h="391885">
                <a:tc>
                  <a:txBody>
                    <a:bodyPr wrap="square"/>
                    <a:lstStyle/>
                    <a:p>
                      <a:pPr algn="l"/>
                      <a:r>
                        <a:rPr sz="1100" b="0">
                          <a:solidFill>
                            <a:srgbClr val="FFFFFF"/>
                          </a:solidFill>
                          <a:latin typeface="Calibri"/>
                        </a:rPr>
                        <a:t>H6</a:t>
                      </a:r>
                    </a:p>
                  </a:txBody>
                  <a:tcPr marL="76200" marR="76200" marT="38100" marB="38100">
                    <a:solidFill>
                      <a:srgbClr val="2A2A3E"/>
                    </a:solidFill>
                  </a:tcPr>
                </a:tc>
                <a:tc>
                  <a:txBody>
                    <a:bodyPr wrap="square"/>
                    <a:lstStyle/>
                    <a:p>
                      <a:pPr algn="l"/>
                      <a:r>
                        <a:rPr sz="1100" b="0">
                          <a:solidFill>
                            <a:srgbClr val="FFFFFF"/>
                          </a:solidFill>
                          <a:latin typeface="Calibri"/>
                        </a:rPr>
                        <a:t>Direction transfer (iptables mode)</a:t>
                      </a:r>
                    </a:p>
                  </a:txBody>
                  <a:tcPr marL="76200" marR="76200" marT="38100" marB="38100">
                    <a:solidFill>
                      <a:srgbClr val="2A2A3E"/>
                    </a:solidFill>
                  </a:tcPr>
                </a:tc>
                <a:tc>
                  <a:txBody>
                    <a:bodyPr wrap="square"/>
                    <a:lstStyle/>
                    <a:p>
                      <a:pPr algn="l"/>
                      <a:r>
                        <a:rPr sz="1100" b="0">
                          <a:solidFill>
                            <a:srgbClr val="FFFFFF"/>
                          </a:solidFill>
                          <a:latin typeface="Calibri"/>
                        </a:rPr>
                        <a:t>not attempted — cluster ran ipvs, de-scoped</a:t>
                      </a:r>
                    </a:p>
                  </a:txBody>
                  <a:tcPr marL="76200" marR="76200" marT="38100" marB="38100">
                    <a:solidFill>
                      <a:srgbClr val="2A2A3E"/>
                    </a:solidFill>
                  </a:tcPr>
                </a:tc>
              </a:tr>
            </a:tbl>
          </a:graphicData>
        </a:graphic>
      </p:graphicFrame>
      <p:sp>
        <p:nvSpPr>
          <p:cNvPr id="7" name="Rounded Rectangle 6"/>
          <p:cNvSpPr/>
          <p:nvPr/>
        </p:nvSpPr>
        <p:spPr>
          <a:xfrm>
            <a:off x="9326880" y="3657600"/>
            <a:ext cx="2286000" cy="274320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64040" y="3749039"/>
            <a:ext cx="2011680" cy="2606040"/>
          </a:xfrm>
          <a:prstGeom prst="rect">
            <a:avLst/>
          </a:prstGeom>
          <a:noFill/>
        </p:spPr>
        <p:txBody>
          <a:bodyPr wrap="square">
            <a:spAutoFit/>
          </a:bodyPr>
          <a:lstStyle/>
          <a:p>
            <a:pPr>
              <a:spcAft>
                <a:spcPts val="600"/>
              </a:spcAft>
              <a:defRPr sz="1300" b="1">
                <a:solidFill>
                  <a:srgbClr val="F39C12"/>
                </a:solidFill>
                <a:latin typeface="Calibri"/>
              </a:defRPr>
            </a:pPr>
            <a:r>
              <a:t>Faults &amp; cluster</a:t>
            </a:r>
          </a:p>
          <a:p>
            <a:pPr>
              <a:spcBef>
                <a:spcPts val="200"/>
              </a:spcBef>
              <a:spcAft>
                <a:spcPts val="200"/>
              </a:spcAft>
              <a:defRPr sz="1100">
                <a:solidFill>
                  <a:srgbClr val="BDBDBD"/>
                </a:solidFill>
                <a:latin typeface="Calibri"/>
              </a:defRPr>
            </a:pPr>
            <a:r>
              <a:t>Two fault classes:</a:t>
            </a:r>
          </a:p>
          <a:p>
            <a:pPr>
              <a:spcBef>
                <a:spcPts val="200"/>
              </a:spcBef>
              <a:spcAft>
                <a:spcPts val="200"/>
              </a:spcAft>
              <a:defRPr sz="1100">
                <a:solidFill>
                  <a:srgbClr val="BDBDBD"/>
                </a:solidFill>
                <a:latin typeface="Calibri"/>
              </a:defRPr>
            </a:pPr>
          </a:p>
          <a:p>
            <a:pPr>
              <a:spcBef>
                <a:spcPts val="200"/>
              </a:spcBef>
              <a:spcAft>
                <a:spcPts val="200"/>
              </a:spcAft>
              <a:defRPr sz="1100">
                <a:solidFill>
                  <a:srgbClr val="BDBDBD"/>
                </a:solidFill>
                <a:latin typeface="Calibri"/>
              </a:defRPr>
            </a:pPr>
            <a:r>
              <a:t>• CHURN (pod-delete)</a:t>
            </a:r>
          </a:p>
          <a:p>
            <a:pPr>
              <a:spcBef>
                <a:spcPts val="200"/>
              </a:spcBef>
              <a:spcAft>
                <a:spcPts val="200"/>
              </a:spcAft>
              <a:defRPr sz="1100">
                <a:solidFill>
                  <a:srgbClr val="BDBDBD"/>
                </a:solidFill>
                <a:latin typeface="Calibri"/>
              </a:defRPr>
            </a:pPr>
            <a:r>
              <a:t>   single replica gone</a:t>
            </a:r>
          </a:p>
          <a:p>
            <a:pPr>
              <a:spcBef>
                <a:spcPts val="200"/>
              </a:spcBef>
              <a:spcAft>
                <a:spcPts val="200"/>
              </a:spcAft>
              <a:defRPr sz="1100">
                <a:solidFill>
                  <a:srgbClr val="BDBDBD"/>
                </a:solidFill>
                <a:latin typeface="Calibri"/>
              </a:defRPr>
            </a:pPr>
          </a:p>
          <a:p>
            <a:pPr>
              <a:spcBef>
                <a:spcPts val="200"/>
              </a:spcBef>
              <a:spcAft>
                <a:spcPts val="200"/>
              </a:spcAft>
              <a:defRPr sz="1100">
                <a:solidFill>
                  <a:srgbClr val="BDBDBD"/>
                </a:solidFill>
                <a:latin typeface="Calibri"/>
              </a:defRPr>
            </a:pPr>
            <a:r>
              <a:t>• NODE FAILURE (drain)</a:t>
            </a:r>
          </a:p>
          <a:p>
            <a:pPr>
              <a:spcBef>
                <a:spcPts val="200"/>
              </a:spcBef>
              <a:spcAft>
                <a:spcPts val="200"/>
              </a:spcAft>
              <a:defRPr sz="1100">
                <a:solidFill>
                  <a:srgbClr val="BDBDBD"/>
                </a:solidFill>
                <a:latin typeface="Calibri"/>
              </a:defRPr>
            </a:pPr>
            <a:r>
              <a:t>   placement-dependent</a:t>
            </a:r>
          </a:p>
          <a:p>
            <a:pPr>
              <a:spcBef>
                <a:spcPts val="200"/>
              </a:spcBef>
              <a:spcAft>
                <a:spcPts val="200"/>
              </a:spcAft>
              <a:defRPr sz="1100">
                <a:solidFill>
                  <a:srgbClr val="BDBDBD"/>
                </a:solidFill>
                <a:latin typeface="Calibri"/>
              </a:defRPr>
            </a:pPr>
            <a:r>
              <a:t>   blast radius</a:t>
            </a:r>
          </a:p>
          <a:p>
            <a:pPr>
              <a:spcBef>
                <a:spcPts val="200"/>
              </a:spcBef>
              <a:spcAft>
                <a:spcPts val="200"/>
              </a:spcAft>
              <a:defRPr sz="1100">
                <a:solidFill>
                  <a:srgbClr val="BDBDBD"/>
                </a:solidFill>
                <a:latin typeface="Calibri"/>
              </a:defRPr>
            </a:pPr>
          </a:p>
          <a:p>
            <a:pPr>
              <a:spcBef>
                <a:spcPts val="200"/>
              </a:spcBef>
              <a:spcAft>
                <a:spcPts val="200"/>
              </a:spcAft>
              <a:defRPr sz="1100">
                <a:solidFill>
                  <a:srgbClr val="BDBDBD"/>
                </a:solidFill>
                <a:latin typeface="Calibri"/>
              </a:defRPr>
            </a:pPr>
            <a:r>
              <a:t>Cluster: 8×2-vCPU/</a:t>
            </a:r>
          </a:p>
          <a:p>
            <a:pPr>
              <a:spcBef>
                <a:spcPts val="200"/>
              </a:spcBef>
              <a:spcAft>
                <a:spcPts val="200"/>
              </a:spcAft>
              <a:defRPr sz="1100">
                <a:solidFill>
                  <a:srgbClr val="BDBDBD"/>
                </a:solidFill>
                <a:latin typeface="Calibri"/>
              </a:defRPr>
            </a:pPr>
            <a:r>
              <a:t>4-GiB workers,</a:t>
            </a:r>
          </a:p>
          <a:p>
            <a:pPr>
              <a:spcBef>
                <a:spcPts val="200"/>
              </a:spcBef>
              <a:spcAft>
                <a:spcPts val="200"/>
              </a:spcAft>
              <a:defRPr sz="1100">
                <a:solidFill>
                  <a:srgbClr val="BDBDBD"/>
                </a:solidFill>
                <a:latin typeface="Calibri"/>
              </a:defRPr>
            </a:pPr>
            <a:r>
              <a:t>K8s v1.28.6, ipvs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defRPr sz="3000" b="1">
                <a:solidFill>
                  <a:srgbClr val="FFFFFF"/>
                </a:solidFill>
                <a:latin typeface="Calibri"/>
              </a:defRPr>
            </a:pPr>
            <a:r>
              <a:t>H1 — Dose-Response of the East-West Tail</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60120"/>
            <a:ext cx="11155680" cy="457200"/>
          </a:xfrm>
          <a:prstGeom prst="rect">
            <a:avLst/>
          </a:prstGeom>
          <a:noFill/>
        </p:spPr>
        <p:txBody>
          <a:bodyPr wrap="square">
            <a:spAutoFit/>
          </a:bodyPr>
          <a:lstStyle/>
          <a:p>
            <a:pPr algn="l">
              <a:defRPr sz="1500" b="0">
                <a:solidFill>
                  <a:srgbClr val="BDBDBD"/>
                </a:solidFill>
                <a:latin typeface="Calibri"/>
              </a:defRPr>
            </a:pPr>
            <a:r>
              <a:t>Bar: east-west p95 rises monotonically in f, by ≥ 15% (f=0→f=1)</a:t>
            </a:r>
          </a:p>
        </p:txBody>
      </p:sp>
      <p:pic>
        <p:nvPicPr>
          <p:cNvPr id="5" name="Picture 4" descr="fig-h1-dose-response.png"/>
          <p:cNvPicPr>
            <a:picLocks noChangeAspect="1"/>
          </p:cNvPicPr>
          <p:nvPr/>
        </p:nvPicPr>
        <p:blipFill>
          <a:blip r:embed="rId2"/>
          <a:stretch>
            <a:fillRect/>
          </a:stretch>
        </p:blipFill>
        <p:spPr>
          <a:xfrm>
            <a:off x="6126480" y="1554480"/>
            <a:ext cx="5852160" cy="4192431"/>
          </a:xfrm>
          <a:prstGeom prst="rect">
            <a:avLst/>
          </a:prstGeom>
        </p:spPr>
      </p:pic>
      <p:sp>
        <p:nvSpPr>
          <p:cNvPr id="6" name="TextBox 5"/>
          <p:cNvSpPr txBox="1"/>
          <p:nvPr/>
        </p:nvSpPr>
        <p:spPr>
          <a:xfrm>
            <a:off x="548640" y="1645920"/>
            <a:ext cx="5486400" cy="2286000"/>
          </a:xfrm>
          <a:prstGeom prst="rect">
            <a:avLst/>
          </a:prstGeom>
          <a:noFill/>
        </p:spPr>
        <p:txBody>
          <a:bodyPr wrap="square">
            <a:spAutoFit/>
          </a:bodyPr>
          <a:lstStyle/>
          <a:p>
            <a:pPr>
              <a:spcAft>
                <a:spcPts val="600"/>
              </a:spcAft>
              <a:defRPr sz="1600" b="1">
                <a:solidFill>
                  <a:srgbClr val="0096D6"/>
                </a:solidFill>
                <a:latin typeface="Calibri"/>
              </a:defRPr>
            </a:pPr>
            <a:r>
              <a:t>Result — trend detected, but below the SESOI</a:t>
            </a:r>
          </a:p>
          <a:p>
            <a:pPr>
              <a:spcBef>
                <a:spcPts val="200"/>
              </a:spcBef>
              <a:spcAft>
                <a:spcPts val="200"/>
              </a:spcAft>
              <a:defRPr sz="1400">
                <a:solidFill>
                  <a:srgbClr val="BDBDBD"/>
                </a:solidFill>
                <a:latin typeface="Calibri"/>
              </a:defRPr>
            </a:pPr>
            <a:r>
              <a:t>• Page's L trend test:  L = 410,  z = 3.54,  p = 0.0002</a:t>
            </a:r>
          </a:p>
          <a:p>
            <a:pPr>
              <a:spcBef>
                <a:spcPts val="200"/>
              </a:spcBef>
              <a:spcAft>
                <a:spcPts val="200"/>
              </a:spcAft>
              <a:defRPr sz="1400">
                <a:solidFill>
                  <a:srgbClr val="BDBDBD"/>
                </a:solidFill>
                <a:latin typeface="Calibri"/>
              </a:defRPr>
            </a:pPr>
            <a:r>
              <a:t>• Per-level median p95 (ms):</a:t>
            </a:r>
          </a:p>
          <a:p>
            <a:pPr>
              <a:spcBef>
                <a:spcPts val="200"/>
              </a:spcBef>
              <a:spcAft>
                <a:spcPts val="200"/>
              </a:spcAft>
              <a:defRPr sz="1400">
                <a:solidFill>
                  <a:srgbClr val="BDBDBD"/>
                </a:solidFill>
                <a:latin typeface="Calibri"/>
              </a:defRPr>
            </a:pPr>
            <a:r>
              <a:t>     35.74 / 38.60 / 41.40 / 39.55 / 40.51</a:t>
            </a:r>
          </a:p>
          <a:p>
            <a:pPr>
              <a:spcBef>
                <a:spcPts val="200"/>
              </a:spcBef>
              <a:spcAft>
                <a:spcPts val="200"/>
              </a:spcAft>
              <a:defRPr sz="1400">
                <a:solidFill>
                  <a:srgbClr val="BDBDBD"/>
                </a:solidFill>
                <a:latin typeface="Calibri"/>
              </a:defRPr>
            </a:pPr>
            <a:r>
              <a:t>• f=0 → f=1 effect:  +13.35%</a:t>
            </a:r>
          </a:p>
          <a:p>
            <a:pPr>
              <a:spcBef>
                <a:spcPts val="200"/>
              </a:spcBef>
              <a:spcAft>
                <a:spcPts val="200"/>
              </a:spcAft>
              <a:defRPr sz="1400">
                <a:solidFill>
                  <a:srgbClr val="BDBDBD"/>
                </a:solidFill>
                <a:latin typeface="Calibri"/>
              </a:defRPr>
            </a:pPr>
            <a:r>
              <a:t>• Medians rise, then plateau/dip at f=0.75</a:t>
            </a:r>
          </a:p>
        </p:txBody>
      </p:sp>
      <p:sp>
        <p:nvSpPr>
          <p:cNvPr id="7" name="Rounded Rectangle 6"/>
          <p:cNvSpPr/>
          <p:nvPr/>
        </p:nvSpPr>
        <p:spPr>
          <a:xfrm>
            <a:off x="548640" y="3977639"/>
            <a:ext cx="5486400" cy="45720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300" b="1">
                <a:solidFill>
                  <a:srgbClr val="FFFFFF"/>
                </a:solidFill>
                <a:latin typeface="Calibri"/>
              </a:defRPr>
            </a:pPr>
            <a:r>
              <a:t>H1 NOT SUPPORTED — below the 15% SESOI</a:t>
            </a:r>
          </a:p>
        </p:txBody>
      </p:sp>
      <p:sp>
        <p:nvSpPr>
          <p:cNvPr id="8" name="Rounded Rectangle 7"/>
          <p:cNvSpPr/>
          <p:nvPr/>
        </p:nvSpPr>
        <p:spPr>
          <a:xfrm>
            <a:off x="548640" y="4617720"/>
            <a:ext cx="5486400" cy="178308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709160"/>
            <a:ext cx="5120640" cy="365760"/>
          </a:xfrm>
          <a:prstGeom prst="rect">
            <a:avLst/>
          </a:prstGeom>
          <a:noFill/>
        </p:spPr>
        <p:txBody>
          <a:bodyPr wrap="square">
            <a:spAutoFit/>
          </a:bodyPr>
          <a:lstStyle/>
          <a:p>
            <a:pPr algn="l">
              <a:defRPr sz="1300" b="1">
                <a:solidFill>
                  <a:srgbClr val="F39C12"/>
                </a:solidFill>
                <a:latin typeface="Calibri"/>
              </a:defRPr>
            </a:pPr>
            <a:r>
              <a:t>Disclosed deviation (D3, non-blind)</a:t>
            </a:r>
          </a:p>
        </p:txBody>
      </p:sp>
      <p:sp>
        <p:nvSpPr>
          <p:cNvPr id="10" name="TextBox 9"/>
          <p:cNvSpPr txBox="1"/>
          <p:nvPr/>
        </p:nvSpPr>
        <p:spPr>
          <a:xfrm>
            <a:off x="731520" y="5074920"/>
            <a:ext cx="5120640" cy="1280160"/>
          </a:xfrm>
          <a:prstGeom prst="rect">
            <a:avLst/>
          </a:prstGeom>
          <a:noFill/>
        </p:spPr>
        <p:txBody>
          <a:bodyPr wrap="square">
            <a:spAutoFit/>
          </a:bodyPr>
          <a:lstStyle/>
          <a:p>
            <a:pPr algn="l">
              <a:defRPr sz="1100" b="0">
                <a:solidFill>
                  <a:srgbClr val="F0F0F8"/>
                </a:solidFill>
                <a:latin typeface="Calibri"/>
              </a:defRPr>
            </a:pPr>
            <a:r>
              <a:t>The registered pre-window UDP-slope taint flags every iteration at f=0.25 and f=0.5 — zero complete blocks, so Page's L is uncomputable and H1 is unrunnable as registered. The taint is withdrawn on protocol-independent grounds (it gates DNS/UDP, a different protocol from the TCP/gRPC outcome). This is the study's one outcome-aware deviation — logged in full.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defRPr sz="3000" b="1">
                <a:solidFill>
                  <a:srgbClr val="FFFFFF"/>
                </a:solidFill>
                <a:latin typeface="Calibri"/>
              </a:defRPr>
            </a:pPr>
            <a:r>
              <a:t>H2 — Placement-Dependence and the DNS Intervention</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60120"/>
            <a:ext cx="11155680" cy="457200"/>
          </a:xfrm>
          <a:prstGeom prst="rect">
            <a:avLst/>
          </a:prstGeom>
          <a:noFill/>
        </p:spPr>
        <p:txBody>
          <a:bodyPr wrap="square">
            <a:spAutoFit/>
          </a:bodyPr>
          <a:lstStyle/>
          <a:p>
            <a:pPr algn="l">
              <a:defRPr sz="1500" b="0">
                <a:solidFill>
                  <a:srgbClr val="BDBDBD"/>
                </a:solidFill>
                <a:latin typeface="Calibri"/>
              </a:defRPr>
            </a:pPr>
            <a:r>
              <a:t>Bar (both must pass): (a) spread &gt; packed conntrack drop  AND  (b) DNS cache shrinks it ≥ 50%</a:t>
            </a:r>
          </a:p>
        </p:txBody>
      </p:sp>
      <p:pic>
        <p:nvPicPr>
          <p:cNvPr id="5" name="Picture 4" descr="fig-h2-conntrack-dns.png"/>
          <p:cNvPicPr>
            <a:picLocks noChangeAspect="1"/>
          </p:cNvPicPr>
          <p:nvPr/>
        </p:nvPicPr>
        <p:blipFill>
          <a:blip r:embed="rId2"/>
          <a:stretch>
            <a:fillRect/>
          </a:stretch>
        </p:blipFill>
        <p:spPr>
          <a:xfrm>
            <a:off x="548640" y="1600200"/>
            <a:ext cx="6766560" cy="3195999"/>
          </a:xfrm>
          <a:prstGeom prst="rect">
            <a:avLst/>
          </a:prstGeom>
        </p:spPr>
      </p:pic>
      <p:sp>
        <p:nvSpPr>
          <p:cNvPr id="6" name="TextBox 5"/>
          <p:cNvSpPr txBox="1"/>
          <p:nvPr/>
        </p:nvSpPr>
        <p:spPr>
          <a:xfrm>
            <a:off x="7498079" y="1645920"/>
            <a:ext cx="4297680" cy="3108960"/>
          </a:xfrm>
          <a:prstGeom prst="rect">
            <a:avLst/>
          </a:prstGeom>
          <a:noFill/>
        </p:spPr>
        <p:txBody>
          <a:bodyPr wrap="square">
            <a:spAutoFit/>
          </a:bodyPr>
          <a:lstStyle/>
          <a:p>
            <a:pPr>
              <a:spcAft>
                <a:spcPts val="600"/>
              </a:spcAft>
              <a:defRPr sz="1600" b="1">
                <a:solidFill>
                  <a:srgbClr val="0096D6"/>
                </a:solidFill>
                <a:latin typeface="Calibri"/>
              </a:defRPr>
            </a:pPr>
            <a:r>
              <a:t>Result</a:t>
            </a:r>
          </a:p>
          <a:p>
            <a:pPr>
              <a:spcBef>
                <a:spcPts val="200"/>
              </a:spcBef>
              <a:spcAft>
                <a:spcPts val="200"/>
              </a:spcAft>
              <a:defRPr sz="1350">
                <a:solidFill>
                  <a:srgbClr val="BDBDBD"/>
                </a:solidFill>
                <a:latin typeface="Calibri"/>
              </a:defRPr>
            </a:pPr>
            <a:r>
              <a:t>(a) Placement — REVERSED:</a:t>
            </a:r>
          </a:p>
          <a:p>
            <a:pPr>
              <a:spcBef>
                <a:spcPts val="200"/>
              </a:spcBef>
              <a:spcAft>
                <a:spcPts val="200"/>
              </a:spcAft>
              <a:defRPr sz="1350">
                <a:solidFill>
                  <a:srgbClr val="BDBDBD"/>
                </a:solidFill>
                <a:latin typeface="Calibri"/>
              </a:defRPr>
            </a:pPr>
            <a:r>
              <a:t>   packed &gt; spread in 7/7 pairs</a:t>
            </a:r>
          </a:p>
          <a:p>
            <a:pPr>
              <a:spcBef>
                <a:spcPts val="200"/>
              </a:spcBef>
              <a:spcAft>
                <a:spcPts val="200"/>
              </a:spcAft>
              <a:defRPr sz="1350">
                <a:solidFill>
                  <a:srgbClr val="BDBDBD"/>
                </a:solidFill>
                <a:latin typeface="Calibri"/>
              </a:defRPr>
            </a:pPr>
            <a:r>
              <a:t>   (packed 11153, spread 8929; p=0.99)</a:t>
            </a:r>
          </a:p>
          <a:p>
            <a:pPr>
              <a:spcBef>
                <a:spcPts val="200"/>
              </a:spcBef>
              <a:spcAft>
                <a:spcPts val="200"/>
              </a:spcAft>
              <a:defRPr sz="1350">
                <a:solidFill>
                  <a:srgbClr val="BDBDBD"/>
                </a:solidFill>
                <a:latin typeface="Calibri"/>
              </a:defRPr>
            </a:pPr>
          </a:p>
          <a:p>
            <a:pPr>
              <a:spcBef>
                <a:spcPts val="200"/>
              </a:spcBef>
              <a:spcAft>
                <a:spcPts val="200"/>
              </a:spcAft>
              <a:defRPr sz="1350">
                <a:solidFill>
                  <a:srgbClr val="BDBDBD"/>
                </a:solidFill>
                <a:latin typeface="Calibri"/>
              </a:defRPr>
            </a:pPr>
            <a:r>
              <a:t>(b) DNS mechanism — PASSES:</a:t>
            </a:r>
          </a:p>
          <a:p>
            <a:pPr>
              <a:spcBef>
                <a:spcPts val="200"/>
              </a:spcBef>
              <a:spcAft>
                <a:spcPts val="200"/>
              </a:spcAft>
              <a:defRPr sz="1350">
                <a:solidFill>
                  <a:srgbClr val="BDBDBD"/>
                </a:solidFill>
                <a:latin typeface="Calibri"/>
              </a:defRPr>
            </a:pPr>
            <a:r>
              <a:t>   78.0% median shrink (all 7 pairs 61–85%)</a:t>
            </a:r>
          </a:p>
          <a:p>
            <a:pPr>
              <a:spcBef>
                <a:spcPts val="200"/>
              </a:spcBef>
              <a:spcAft>
                <a:spcPts val="200"/>
              </a:spcAft>
              <a:defRPr sz="1350">
                <a:solidFill>
                  <a:srgbClr val="BDBDBD"/>
                </a:solidFill>
                <a:latin typeface="Calibri"/>
              </a:defRPr>
            </a:pPr>
            <a:r>
              <a:t>   packed drop also → ≈0 with cache on</a:t>
            </a:r>
          </a:p>
        </p:txBody>
      </p:sp>
      <p:sp>
        <p:nvSpPr>
          <p:cNvPr id="7" name="Rounded Rectangle 6"/>
          <p:cNvSpPr/>
          <p:nvPr/>
        </p:nvSpPr>
        <p:spPr>
          <a:xfrm>
            <a:off x="7498079" y="4434840"/>
            <a:ext cx="4297680" cy="45720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300" b="1">
                <a:solidFill>
                  <a:srgbClr val="FFFFFF"/>
                </a:solidFill>
                <a:latin typeface="Calibri"/>
              </a:defRPr>
            </a:pPr>
            <a:r>
              <a:t>CONJUNCTION = FALSE — H2 not supported</a:t>
            </a:r>
          </a:p>
        </p:txBody>
      </p:sp>
      <p:sp>
        <p:nvSpPr>
          <p:cNvPr id="8" name="Rounded Rectangle 7"/>
          <p:cNvSpPr/>
          <p:nvPr/>
        </p:nvSpPr>
        <p:spPr>
          <a:xfrm>
            <a:off x="548640" y="5029200"/>
            <a:ext cx="11247120" cy="1371600"/>
          </a:xfrm>
          <a:prstGeom prst="roundRect">
            <a:avLst/>
          </a:prstGeom>
          <a:solidFill>
            <a:srgbClr val="2A2A3E"/>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120640"/>
            <a:ext cx="10972800" cy="365760"/>
          </a:xfrm>
          <a:prstGeom prst="rect">
            <a:avLst/>
          </a:prstGeom>
          <a:noFill/>
        </p:spPr>
        <p:txBody>
          <a:bodyPr wrap="square">
            <a:spAutoFit/>
          </a:bodyPr>
          <a:lstStyle/>
          <a:p>
            <a:pPr algn="l">
              <a:defRPr sz="1500" b="1">
                <a:solidFill>
                  <a:srgbClr val="2ECC71"/>
                </a:solidFill>
                <a:latin typeface="Calibri"/>
              </a:defRPr>
            </a:pPr>
            <a:r>
              <a:t>The reversal sharpens the mechanism</a:t>
            </a:r>
          </a:p>
        </p:txBody>
      </p:sp>
      <p:sp>
        <p:nvSpPr>
          <p:cNvPr id="10" name="TextBox 9"/>
          <p:cNvSpPr txBox="1"/>
          <p:nvPr/>
        </p:nvSpPr>
        <p:spPr>
          <a:xfrm>
            <a:off x="777240" y="5486400"/>
            <a:ext cx="10972800" cy="914400"/>
          </a:xfrm>
          <a:prstGeom prst="rect">
            <a:avLst/>
          </a:prstGeom>
          <a:noFill/>
        </p:spPr>
        <p:txBody>
          <a:bodyPr wrap="square">
            <a:spAutoFit/>
          </a:bodyPr>
          <a:lstStyle/>
          <a:p>
            <a:pPr algn="l">
              <a:defRPr sz="1250" b="0">
                <a:solidFill>
                  <a:srgbClr val="F0F0F8"/>
                </a:solidFill>
                <a:latin typeface="Calibri"/>
              </a:defRPr>
            </a:pPr>
            <a:r>
              <a:t>Co-locating a service's replicas on one node CONCENTRATES the per-node conntrack churn when pod-delete hits that node — a larger drop than spreading the same replicas. The DNS cache removes the drop under BOTH placements, so the floodable pool is the general per-node DNS/UDP conntrack churn, not specifically cross-node DNS. Placement does matter for conntrack — significantly, but with the opposite sign to the prediction. The DNS cache is the one actionable lever the study confirmed.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defRPr sz="3000" b="1">
                <a:solidFill>
                  <a:srgbClr val="FFFFFF"/>
                </a:solidFill>
                <a:latin typeface="Calibri"/>
              </a:defRPr>
            </a:pPr>
            <a:r>
              <a:t>H3 — Replication Rescue under Node-Drain</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60120"/>
            <a:ext cx="11155680" cy="457200"/>
          </a:xfrm>
          <a:prstGeom prst="rect">
            <a:avLst/>
          </a:prstGeom>
          <a:noFill/>
        </p:spPr>
        <p:txBody>
          <a:bodyPr wrap="square">
            <a:spAutoFit/>
          </a:bodyPr>
          <a:lstStyle/>
          <a:p>
            <a:pPr algn="l">
              <a:defRPr sz="1500" b="0">
                <a:solidFill>
                  <a:srgbClr val="BDBDBD"/>
                </a:solidFill>
                <a:latin typeface="Calibri"/>
              </a:defRPr>
            </a:pPr>
            <a:r>
              <a:t>Bar: r×mode interaction + anti-affine rescue clears its margin + packed r=3 ≈ r=1</a:t>
            </a:r>
          </a:p>
        </p:txBody>
      </p:sp>
      <p:pic>
        <p:nvPicPr>
          <p:cNvPr id="5" name="Picture 4" descr="fig-h3-replication-rescue.png"/>
          <p:cNvPicPr>
            <a:picLocks noChangeAspect="1"/>
          </p:cNvPicPr>
          <p:nvPr/>
        </p:nvPicPr>
        <p:blipFill>
          <a:blip r:embed="rId2"/>
          <a:stretch>
            <a:fillRect/>
          </a:stretch>
        </p:blipFill>
        <p:spPr>
          <a:xfrm>
            <a:off x="548640" y="1600200"/>
            <a:ext cx="6766560" cy="3204141"/>
          </a:xfrm>
          <a:prstGeom prst="rect">
            <a:avLst/>
          </a:prstGeom>
        </p:spPr>
      </p:pic>
      <p:graphicFrame>
        <p:nvGraphicFramePr>
          <p:cNvPr id="6" name="Table 5"/>
          <p:cNvGraphicFramePr>
            <a:graphicFrameLocks noGrp="1"/>
          </p:cNvGraphicFramePr>
          <p:nvPr/>
        </p:nvGraphicFramePr>
        <p:xfrm>
          <a:off x="7406640" y="1645920"/>
          <a:ext cx="4389120" cy="1554480"/>
        </p:xfrm>
        <a:graphic>
          <a:graphicData uri="http://schemas.openxmlformats.org/drawingml/2006/table">
            <a:tbl>
              <a:tblPr firstRow="1" bandRow="1">
                <a:tableStyleId>{5C22544A-7EE6-4342-B048-85BDC9FD1C3A}</a:tableStyleId>
              </a:tblPr>
              <a:tblGrid>
                <a:gridCol w="877824"/>
                <a:gridCol w="877824"/>
                <a:gridCol w="877824"/>
                <a:gridCol w="877824"/>
                <a:gridCol w="877824"/>
              </a:tblGrid>
              <a:tr h="518160">
                <a:tc>
                  <a:txBody>
                    <a:bodyPr wrap="square"/>
                    <a:lstStyle/>
                    <a:p>
                      <a:pPr algn="l"/>
                      <a:r>
                        <a:rPr sz="1000" b="1">
                          <a:solidFill>
                            <a:srgbClr val="FFFFFF"/>
                          </a:solidFill>
                          <a:latin typeface="Calibri"/>
                        </a:rPr>
                        <a:t>co-primary</a:t>
                      </a:r>
                    </a:p>
                  </a:txBody>
                  <a:tcPr marL="76200" marR="76200" marT="38100" marB="38100">
                    <a:solidFill>
                      <a:srgbClr val="0096D6"/>
                    </a:solidFill>
                  </a:tcPr>
                </a:tc>
                <a:tc>
                  <a:txBody>
                    <a:bodyPr wrap="square"/>
                    <a:lstStyle/>
                    <a:p>
                      <a:pPr algn="l"/>
                      <a:r>
                        <a:rPr sz="1000" b="1">
                          <a:solidFill>
                            <a:srgbClr val="FFFFFF"/>
                          </a:solidFill>
                          <a:latin typeface="Calibri"/>
                        </a:rPr>
                        <a:t>r1</a:t>
                      </a:r>
                    </a:p>
                  </a:txBody>
                  <a:tcPr marL="76200" marR="76200" marT="38100" marB="38100">
                    <a:solidFill>
                      <a:srgbClr val="0096D6"/>
                    </a:solidFill>
                  </a:tcPr>
                </a:tc>
                <a:tc>
                  <a:txBody>
                    <a:bodyPr wrap="square"/>
                    <a:lstStyle/>
                    <a:p>
                      <a:pPr algn="l"/>
                      <a:r>
                        <a:rPr sz="1000" b="1">
                          <a:solidFill>
                            <a:srgbClr val="FFFFFF"/>
                          </a:solidFill>
                          <a:latin typeface="Calibri"/>
                        </a:rPr>
                        <a:t>r3-pk</a:t>
                      </a:r>
                    </a:p>
                  </a:txBody>
                  <a:tcPr marL="76200" marR="76200" marT="38100" marB="38100">
                    <a:solidFill>
                      <a:srgbClr val="0096D6"/>
                    </a:solidFill>
                  </a:tcPr>
                </a:tc>
                <a:tc>
                  <a:txBody>
                    <a:bodyPr wrap="square"/>
                    <a:lstStyle/>
                    <a:p>
                      <a:pPr algn="l"/>
                      <a:r>
                        <a:rPr sz="1000" b="1">
                          <a:solidFill>
                            <a:srgbClr val="FFFFFF"/>
                          </a:solidFill>
                          <a:latin typeface="Calibri"/>
                        </a:rPr>
                        <a:t>r3-anti</a:t>
                      </a:r>
                    </a:p>
                  </a:txBody>
                  <a:tcPr marL="76200" marR="76200" marT="38100" marB="38100">
                    <a:solidFill>
                      <a:srgbClr val="0096D6"/>
                    </a:solidFill>
                  </a:tcPr>
                </a:tc>
                <a:tc>
                  <a:txBody>
                    <a:bodyPr wrap="square"/>
                    <a:lstStyle/>
                    <a:p>
                      <a:pPr algn="l"/>
                      <a:r>
                        <a:rPr sz="1000" b="1">
                          <a:solidFill>
                            <a:srgbClr val="FFFFFF"/>
                          </a:solidFill>
                          <a:latin typeface="Calibri"/>
                        </a:rPr>
                        <a:t>vs bar</a:t>
                      </a:r>
                    </a:p>
                  </a:txBody>
                  <a:tcPr marL="76200" marR="76200" marT="38100" marB="38100">
                    <a:solidFill>
                      <a:srgbClr val="0096D6"/>
                    </a:solidFill>
                  </a:tcPr>
                </a:tc>
              </a:tr>
              <a:tr h="518160">
                <a:tc>
                  <a:txBody>
                    <a:bodyPr wrap="square"/>
                    <a:lstStyle/>
                    <a:p>
                      <a:pPr algn="l"/>
                      <a:r>
                        <a:rPr sz="1000" b="0">
                          <a:solidFill>
                            <a:srgbClr val="FFFFFF"/>
                          </a:solidFill>
                          <a:latin typeface="Calibri"/>
                        </a:rPr>
                        <a:t>trough depth</a:t>
                      </a:r>
                    </a:p>
                  </a:txBody>
                  <a:tcPr marL="76200" marR="76200" marT="38100" marB="38100">
                    <a:solidFill>
                      <a:srgbClr val="2A2A3E"/>
                    </a:solidFill>
                  </a:tcPr>
                </a:tc>
                <a:tc>
                  <a:txBody>
                    <a:bodyPr wrap="square"/>
                    <a:lstStyle/>
                    <a:p>
                      <a:pPr algn="l"/>
                      <a:r>
                        <a:rPr sz="1000" b="0">
                          <a:solidFill>
                            <a:srgbClr val="FFFFFF"/>
                          </a:solidFill>
                          <a:latin typeface="Calibri"/>
                        </a:rPr>
                        <a:t>0.091</a:t>
                      </a:r>
                    </a:p>
                  </a:txBody>
                  <a:tcPr marL="76200" marR="76200" marT="38100" marB="38100">
                    <a:solidFill>
                      <a:srgbClr val="2A2A3E"/>
                    </a:solidFill>
                  </a:tcPr>
                </a:tc>
                <a:tc>
                  <a:txBody>
                    <a:bodyPr wrap="square"/>
                    <a:lstStyle/>
                    <a:p>
                      <a:pPr algn="l"/>
                      <a:r>
                        <a:rPr sz="1000" b="0">
                          <a:solidFill>
                            <a:srgbClr val="FFFFFF"/>
                          </a:solidFill>
                          <a:latin typeface="Calibri"/>
                        </a:rPr>
                        <a:t>0.091</a:t>
                      </a:r>
                    </a:p>
                  </a:txBody>
                  <a:tcPr marL="76200" marR="76200" marT="38100" marB="38100">
                    <a:solidFill>
                      <a:srgbClr val="2A2A3E"/>
                    </a:solidFill>
                  </a:tcPr>
                </a:tc>
                <a:tc>
                  <a:txBody>
                    <a:bodyPr wrap="square"/>
                    <a:lstStyle/>
                    <a:p>
                      <a:pPr algn="l"/>
                      <a:r>
                        <a:rPr sz="1000" b="0">
                          <a:solidFill>
                            <a:srgbClr val="FFFFFF"/>
                          </a:solidFill>
                          <a:latin typeface="Calibri"/>
                        </a:rPr>
                        <a:t>0.046</a:t>
                      </a:r>
                    </a:p>
                  </a:txBody>
                  <a:tcPr marL="76200" marR="76200" marT="38100" marB="38100">
                    <a:solidFill>
                      <a:srgbClr val="2A2A3E"/>
                    </a:solidFill>
                  </a:tcPr>
                </a:tc>
                <a:tc>
                  <a:txBody>
                    <a:bodyPr wrap="square"/>
                    <a:lstStyle/>
                    <a:p>
                      <a:pPr algn="l"/>
                      <a:r>
                        <a:rPr sz="1000" b="0">
                          <a:solidFill>
                            <a:srgbClr val="FFFFFF"/>
                          </a:solidFill>
                          <a:latin typeface="Calibri"/>
                        </a:rPr>
                        <a:t>interaction p=.0065; rescue &lt; .091 margin → not met</a:t>
                      </a:r>
                    </a:p>
                  </a:txBody>
                  <a:tcPr marL="76200" marR="76200" marT="38100" marB="38100">
                    <a:solidFill>
                      <a:srgbClr val="2A2A3E"/>
                    </a:solidFill>
                  </a:tcPr>
                </a:tc>
              </a:tr>
              <a:tr h="518160">
                <a:tc>
                  <a:txBody>
                    <a:bodyPr wrap="square"/>
                    <a:lstStyle/>
                    <a:p>
                      <a:pPr algn="l"/>
                      <a:r>
                        <a:rPr sz="1000" b="0">
                          <a:solidFill>
                            <a:srgbClr val="FFFFFF"/>
                          </a:solidFill>
                          <a:latin typeface="Calibri"/>
                        </a:rPr>
                        <a:t>user-route error</a:t>
                      </a:r>
                    </a:p>
                  </a:txBody>
                  <a:tcPr marL="76200" marR="76200" marT="38100" marB="38100">
                    <a:solidFill>
                      <a:srgbClr val="2A2A3E"/>
                    </a:solidFill>
                  </a:tcPr>
                </a:tc>
                <a:tc>
                  <a:txBody>
                    <a:bodyPr wrap="square"/>
                    <a:lstStyle/>
                    <a:p>
                      <a:pPr algn="l"/>
                      <a:r>
                        <a:rPr sz="1000" b="0">
                          <a:solidFill>
                            <a:srgbClr val="FFFFFF"/>
                          </a:solidFill>
                          <a:latin typeface="Calibri"/>
                        </a:rPr>
                        <a:t>0.632</a:t>
                      </a:r>
                    </a:p>
                  </a:txBody>
                  <a:tcPr marL="76200" marR="76200" marT="38100" marB="38100">
                    <a:solidFill>
                      <a:srgbClr val="2A2A3E"/>
                    </a:solidFill>
                  </a:tcPr>
                </a:tc>
                <a:tc>
                  <a:txBody>
                    <a:bodyPr wrap="square"/>
                    <a:lstStyle/>
                    <a:p>
                      <a:pPr algn="l"/>
                      <a:r>
                        <a:rPr sz="1000" b="0">
                          <a:solidFill>
                            <a:srgbClr val="FFFFFF"/>
                          </a:solidFill>
                          <a:latin typeface="Calibri"/>
                        </a:rPr>
                        <a:t>0.632</a:t>
                      </a:r>
                    </a:p>
                  </a:txBody>
                  <a:tcPr marL="76200" marR="76200" marT="38100" marB="38100">
                    <a:solidFill>
                      <a:srgbClr val="2A2A3E"/>
                    </a:solidFill>
                  </a:tcPr>
                </a:tc>
                <a:tc>
                  <a:txBody>
                    <a:bodyPr wrap="square"/>
                    <a:lstStyle/>
                    <a:p>
                      <a:pPr algn="l"/>
                      <a:r>
                        <a:rPr sz="1000" b="0">
                          <a:solidFill>
                            <a:srgbClr val="FFFFFF"/>
                          </a:solidFill>
                          <a:latin typeface="Calibri"/>
                        </a:rPr>
                        <a:t>0.000</a:t>
                      </a:r>
                    </a:p>
                  </a:txBody>
                  <a:tcPr marL="76200" marR="76200" marT="38100" marB="38100">
                    <a:solidFill>
                      <a:srgbClr val="2A2A3E"/>
                    </a:solidFill>
                  </a:tcPr>
                </a:tc>
                <a:tc>
                  <a:txBody>
                    <a:bodyPr wrap="square"/>
                    <a:lstStyle/>
                    <a:p>
                      <a:pPr algn="l"/>
                      <a:r>
                        <a:rPr sz="1000" b="0">
                          <a:solidFill>
                            <a:srgbClr val="FFFFFF"/>
                          </a:solidFill>
                          <a:latin typeface="Calibri"/>
                        </a:rPr>
                        <a:t>p≈0; rescue ≥ .302 → MET; TOST in band</a:t>
                      </a:r>
                    </a:p>
                  </a:txBody>
                  <a:tcPr marL="76200" marR="76200" marT="38100" marB="38100">
                    <a:solidFill>
                      <a:srgbClr val="2A2A3E"/>
                    </a:solidFill>
                  </a:tcPr>
                </a:tc>
              </a:tr>
            </a:tbl>
          </a:graphicData>
        </a:graphic>
      </p:graphicFrame>
      <p:sp>
        <p:nvSpPr>
          <p:cNvPr id="7" name="Rounded Rectangle 6"/>
          <p:cNvSpPr/>
          <p:nvPr/>
        </p:nvSpPr>
        <p:spPr>
          <a:xfrm>
            <a:off x="7406640" y="3383280"/>
            <a:ext cx="4389120" cy="45720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defRPr sz="1300" b="1">
                <a:solidFill>
                  <a:srgbClr val="FFFFFF"/>
                </a:solidFill>
                <a:latin typeface="Calibri"/>
              </a:defRPr>
            </a:pPr>
            <a:r>
              <a:t>CONJUNCTION = FALSE — but by construction</a:t>
            </a:r>
          </a:p>
        </p:txBody>
      </p:sp>
      <p:sp>
        <p:nvSpPr>
          <p:cNvPr id="8" name="Rounded Rectangle 7"/>
          <p:cNvSpPr/>
          <p:nvPr/>
        </p:nvSpPr>
        <p:spPr>
          <a:xfrm>
            <a:off x="7406640" y="3977639"/>
            <a:ext cx="4389120" cy="242316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0" y="4069080"/>
            <a:ext cx="4023360" cy="365760"/>
          </a:xfrm>
          <a:prstGeom prst="rect">
            <a:avLst/>
          </a:prstGeom>
          <a:noFill/>
        </p:spPr>
        <p:txBody>
          <a:bodyPr wrap="square">
            <a:spAutoFit/>
          </a:bodyPr>
          <a:lstStyle/>
          <a:p>
            <a:pPr algn="l">
              <a:defRPr sz="1400" b="1">
                <a:solidFill>
                  <a:srgbClr val="2ECC71"/>
                </a:solidFill>
                <a:latin typeface="Calibri"/>
              </a:defRPr>
            </a:pPr>
            <a:r>
              <a:t>The error face rescues</a:t>
            </a:r>
          </a:p>
        </p:txBody>
      </p:sp>
      <p:sp>
        <p:nvSpPr>
          <p:cNvPr id="10" name="TextBox 9"/>
          <p:cNvSpPr txBox="1"/>
          <p:nvPr/>
        </p:nvSpPr>
        <p:spPr>
          <a:xfrm>
            <a:off x="7589520" y="4434840"/>
            <a:ext cx="4023360" cy="1920240"/>
          </a:xfrm>
          <a:prstGeom prst="rect">
            <a:avLst/>
          </a:prstGeom>
          <a:noFill/>
        </p:spPr>
        <p:txBody>
          <a:bodyPr wrap="square">
            <a:spAutoFit/>
          </a:bodyPr>
          <a:lstStyle/>
          <a:p>
            <a:pPr algn="l">
              <a:defRPr sz="1100" b="0">
                <a:solidFill>
                  <a:srgbClr val="F0F0F8"/>
                </a:solidFill>
                <a:latin typeface="Calibri"/>
              </a:defRPr>
            </a:pPr>
            <a:r>
              <a:t>Anti-affine r=3 fully rescues the user-route error (0.632 → 0.0) — strong, significant directional support. The depth face cannot adjudicate: under round-robin spread, draining one node costs r=1 only ≈1 pod, so the r=1 depth (0.091) EQUALS the one-pod margin it must beat. The metric's dynamic range coincides with the bar — a measurement-design limit surfaced honestly, reported exactly as registered (not retuned). The design-fix slide shows the rescue is real once this artifact is removed.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defRPr sz="3000" b="1">
                <a:solidFill>
                  <a:srgbClr val="FFFFFF"/>
                </a:solidFill>
                <a:latin typeface="Calibri"/>
              </a:defRPr>
            </a:pPr>
            <a:r>
              <a:t>H4 &amp; H5 — Frontier and Scorecard Reliability</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60120"/>
            <a:ext cx="11155680" cy="457200"/>
          </a:xfrm>
          <a:prstGeom prst="rect">
            <a:avLst/>
          </a:prstGeom>
          <a:noFill/>
        </p:spPr>
        <p:txBody>
          <a:bodyPr wrap="square">
            <a:spAutoFit/>
          </a:bodyPr>
          <a:lstStyle/>
          <a:p>
            <a:pPr algn="l">
              <a:defRPr sz="1500" b="0">
                <a:solidFill>
                  <a:srgbClr val="BDBDBD"/>
                </a:solidFill>
                <a:latin typeface="Calibri"/>
              </a:defRPr>
            </a:pPr>
            <a:r>
              <a:t>The availability axis is dead under pod-delete — and that is diagnostic, not a method failure</a:t>
            </a:r>
          </a:p>
        </p:txBody>
      </p:sp>
      <p:pic>
        <p:nvPicPr>
          <p:cNvPr id="5" name="Picture 4" descr="fig-h4-frontier.png"/>
          <p:cNvPicPr>
            <a:picLocks noChangeAspect="1"/>
          </p:cNvPicPr>
          <p:nvPr/>
        </p:nvPicPr>
        <p:blipFill>
          <a:blip r:embed="rId2"/>
          <a:stretch>
            <a:fillRect/>
          </a:stretch>
        </p:blipFill>
        <p:spPr>
          <a:xfrm>
            <a:off x="548640" y="1645920"/>
            <a:ext cx="3931920" cy="2647625"/>
          </a:xfrm>
          <a:prstGeom prst="rect">
            <a:avLst/>
          </a:prstGeom>
        </p:spPr>
      </p:pic>
      <p:sp>
        <p:nvSpPr>
          <p:cNvPr id="6" name="TextBox 5"/>
          <p:cNvSpPr txBox="1"/>
          <p:nvPr/>
        </p:nvSpPr>
        <p:spPr>
          <a:xfrm>
            <a:off x="548640" y="4617720"/>
            <a:ext cx="5394960" cy="1783080"/>
          </a:xfrm>
          <a:prstGeom prst="rect">
            <a:avLst/>
          </a:prstGeom>
          <a:noFill/>
        </p:spPr>
        <p:txBody>
          <a:bodyPr wrap="square">
            <a:spAutoFit/>
          </a:bodyPr>
          <a:lstStyle/>
          <a:p>
            <a:pPr>
              <a:spcAft>
                <a:spcPts val="600"/>
              </a:spcAft>
              <a:defRPr sz="1400" b="1">
                <a:solidFill>
                  <a:srgbClr val="F39C12"/>
                </a:solidFill>
                <a:latin typeface="Calibri"/>
              </a:defRPr>
            </a:pPr>
            <a:r>
              <a:t>H4 — frontier (descriptive): degenerate</a:t>
            </a:r>
          </a:p>
          <a:p>
            <a:pPr>
              <a:spcBef>
                <a:spcPts val="200"/>
              </a:spcBef>
              <a:spcAft>
                <a:spcPts val="200"/>
              </a:spcAft>
              <a:defRPr sz="1200">
                <a:solidFill>
                  <a:srgbClr val="BDBDBD"/>
                </a:solidFill>
                <a:latin typeface="Calibri"/>
              </a:defRPr>
            </a:pPr>
            <a:r>
              <a:t>• All 5/5 placements non-dominated</a:t>
            </a:r>
          </a:p>
          <a:p>
            <a:pPr>
              <a:spcBef>
                <a:spcPts val="200"/>
              </a:spcBef>
              <a:spcAft>
                <a:spcPts val="200"/>
              </a:spcAft>
              <a:defRPr sz="1200">
                <a:solidFill>
                  <a:srgbClr val="BDBDBD"/>
                </a:solidFill>
                <a:latin typeface="Calibri"/>
              </a:defRPr>
            </a:pPr>
            <a:r>
              <a:t>• Latency face varies (35.7–41.4 ms — the H1 signal)</a:t>
            </a:r>
          </a:p>
          <a:p>
            <a:pPr>
              <a:spcBef>
                <a:spcPts val="200"/>
              </a:spcBef>
              <a:spcAft>
                <a:spcPts val="200"/>
              </a:spcAft>
              <a:defRPr sz="1200">
                <a:solidFill>
                  <a:srgbClr val="BDBDBD"/>
                </a:solidFill>
                <a:latin typeface="Calibri"/>
              </a:defRPr>
            </a:pPr>
            <a:r>
              <a:t>• Availability face DEGENERATE: pod-delete removes</a:t>
            </a:r>
          </a:p>
          <a:p>
            <a:pPr>
              <a:spcBef>
                <a:spcPts val="200"/>
              </a:spcBef>
              <a:spcAft>
                <a:spcPts val="200"/>
              </a:spcAft>
              <a:defRPr sz="1200">
                <a:solidFill>
                  <a:srgbClr val="BDBDBD"/>
                </a:solidFill>
                <a:latin typeface="Calibri"/>
              </a:defRPr>
            </a:pPr>
            <a:r>
              <a:t>   one pod, so trough depth ≈ 1 pod for every placement</a:t>
            </a:r>
          </a:p>
          <a:p>
            <a:pPr>
              <a:spcBef>
                <a:spcPts val="200"/>
              </a:spcBef>
              <a:spcAft>
                <a:spcPts val="200"/>
              </a:spcAft>
              <a:defRPr sz="1200">
                <a:solidFill>
                  <a:srgbClr val="BDBDBD"/>
                </a:solidFill>
                <a:latin typeface="Calibri"/>
              </a:defRPr>
            </a:pPr>
            <a:r>
              <a:t>• The trade-off the frontier was designed to reveal is</a:t>
            </a:r>
          </a:p>
          <a:p>
            <a:pPr>
              <a:spcBef>
                <a:spcPts val="200"/>
              </a:spcBef>
              <a:spcAft>
                <a:spcPts val="200"/>
              </a:spcAft>
              <a:defRPr sz="1200">
                <a:solidFill>
                  <a:srgbClr val="BDBDBD"/>
                </a:solidFill>
                <a:latin typeface="Calibri"/>
              </a:defRPr>
            </a:pPr>
            <a:r>
              <a:t>   not realizable from this data</a:t>
            </a:r>
          </a:p>
        </p:txBody>
      </p:sp>
      <p:sp>
        <p:nvSpPr>
          <p:cNvPr id="7" name="TextBox 6"/>
          <p:cNvSpPr txBox="1"/>
          <p:nvPr/>
        </p:nvSpPr>
        <p:spPr>
          <a:xfrm>
            <a:off x="6400800" y="1417320"/>
            <a:ext cx="5394960" cy="320040"/>
          </a:xfrm>
          <a:prstGeom prst="rect">
            <a:avLst/>
          </a:prstGeom>
          <a:noFill/>
        </p:spPr>
        <p:txBody>
          <a:bodyPr wrap="square">
            <a:spAutoFit/>
          </a:bodyPr>
          <a:lstStyle/>
          <a:p>
            <a:pPr algn="l">
              <a:defRPr sz="1400" b="1">
                <a:solidFill>
                  <a:srgbClr val="0096D6"/>
                </a:solidFill>
                <a:latin typeface="Calibri"/>
              </a:defRPr>
            </a:pPr>
            <a:r>
              <a:t>H5 — layered scorecard reliability</a:t>
            </a:r>
          </a:p>
        </p:txBody>
      </p:sp>
      <p:pic>
        <p:nvPicPr>
          <p:cNvPr id="8" name="Picture 7" descr="fig-h5-scorecard-icc.png"/>
          <p:cNvPicPr>
            <a:picLocks noChangeAspect="1"/>
          </p:cNvPicPr>
          <p:nvPr/>
        </p:nvPicPr>
        <p:blipFill>
          <a:blip r:embed="rId3"/>
          <a:stretch>
            <a:fillRect/>
          </a:stretch>
        </p:blipFill>
        <p:spPr>
          <a:xfrm>
            <a:off x="7360920" y="1783080"/>
            <a:ext cx="4206240" cy="2514705"/>
          </a:xfrm>
          <a:prstGeom prst="rect">
            <a:avLst/>
          </a:prstGeom>
        </p:spPr>
      </p:pic>
      <p:graphicFrame>
        <p:nvGraphicFramePr>
          <p:cNvPr id="9" name="Table 8"/>
          <p:cNvGraphicFramePr>
            <a:graphicFrameLocks noGrp="1"/>
          </p:cNvGraphicFramePr>
          <p:nvPr/>
        </p:nvGraphicFramePr>
        <p:xfrm>
          <a:off x="6400800" y="4572000"/>
          <a:ext cx="5394960" cy="1143000"/>
        </p:xfrm>
        <a:graphic>
          <a:graphicData uri="http://schemas.openxmlformats.org/drawingml/2006/table">
            <a:tbl>
              <a:tblPr firstRow="1" bandRow="1">
                <a:tableStyleId>{5C22544A-7EE6-4342-B048-85BDC9FD1C3A}</a:tableStyleId>
              </a:tblPr>
              <a:tblGrid>
                <a:gridCol w="1798320"/>
                <a:gridCol w="1798320"/>
                <a:gridCol w="1798320"/>
              </a:tblGrid>
              <a:tr h="285750">
                <a:tc>
                  <a:txBody>
                    <a:bodyPr wrap="square"/>
                    <a:lstStyle/>
                    <a:p>
                      <a:pPr algn="l"/>
                      <a:r>
                        <a:rPr sz="1050" b="1">
                          <a:solidFill>
                            <a:srgbClr val="FFFFFF"/>
                          </a:solidFill>
                          <a:latin typeface="Calibri"/>
                        </a:rPr>
                        <a:t>sub-score</a:t>
                      </a:r>
                    </a:p>
                  </a:txBody>
                  <a:tcPr marL="76200" marR="76200" marT="38100" marB="38100">
                    <a:solidFill>
                      <a:srgbClr val="0096D6"/>
                    </a:solidFill>
                  </a:tcPr>
                </a:tc>
                <a:tc>
                  <a:txBody>
                    <a:bodyPr wrap="square"/>
                    <a:lstStyle/>
                    <a:p>
                      <a:pPr algn="l"/>
                      <a:r>
                        <a:rPr sz="1050" b="1">
                          <a:solidFill>
                            <a:srgbClr val="FFFFFF"/>
                          </a:solidFill>
                          <a:latin typeface="Calibri"/>
                        </a:rPr>
                        <a:t>ICC</a:t>
                      </a:r>
                    </a:p>
                  </a:txBody>
                  <a:tcPr marL="76200" marR="76200" marT="38100" marB="38100">
                    <a:solidFill>
                      <a:srgbClr val="0096D6"/>
                    </a:solidFill>
                  </a:tcPr>
                </a:tc>
                <a:tc>
                  <a:txBody>
                    <a:bodyPr wrap="square"/>
                    <a:lstStyle/>
                    <a:p>
                      <a:pPr algn="l"/>
                      <a:r>
                        <a:rPr sz="1050" b="1">
                          <a:solidFill>
                            <a:srgbClr val="FFFFFF"/>
                          </a:solidFill>
                          <a:latin typeface="Calibri"/>
                        </a:rPr>
                        <a:t>≥0.5?</a:t>
                      </a:r>
                    </a:p>
                  </a:txBody>
                  <a:tcPr marL="76200" marR="76200" marT="38100" marB="38100">
                    <a:solidFill>
                      <a:srgbClr val="0096D6"/>
                    </a:solidFill>
                  </a:tcPr>
                </a:tc>
              </a:tr>
              <a:tr h="285750">
                <a:tc>
                  <a:txBody>
                    <a:bodyPr wrap="square"/>
                    <a:lstStyle/>
                    <a:p>
                      <a:pPr algn="l"/>
                      <a:r>
                        <a:rPr sz="1050" b="0">
                          <a:solidFill>
                            <a:srgbClr val="FFFFFF"/>
                          </a:solidFill>
                          <a:latin typeface="Calibri"/>
                        </a:rPr>
                        <a:t>availability (required)</a:t>
                      </a:r>
                    </a:p>
                  </a:txBody>
                  <a:tcPr marL="76200" marR="76200" marT="38100" marB="38100">
                    <a:solidFill>
                      <a:srgbClr val="2A2A3E"/>
                    </a:solidFill>
                  </a:tcPr>
                </a:tc>
                <a:tc>
                  <a:txBody>
                    <a:bodyPr wrap="square"/>
                    <a:lstStyle/>
                    <a:p>
                      <a:pPr algn="l"/>
                      <a:r>
                        <a:rPr sz="1050" b="0">
                          <a:solidFill>
                            <a:srgbClr val="FFFFFF"/>
                          </a:solidFill>
                          <a:latin typeface="Calibri"/>
                        </a:rPr>
                        <a:t>0.180</a:t>
                      </a:r>
                    </a:p>
                  </a:txBody>
                  <a:tcPr marL="76200" marR="76200" marT="38100" marB="38100">
                    <a:solidFill>
                      <a:srgbClr val="2A2A3E"/>
                    </a:solidFill>
                  </a:tcPr>
                </a:tc>
                <a:tc>
                  <a:txBody>
                    <a:bodyPr wrap="square"/>
                    <a:lstStyle/>
                    <a:p>
                      <a:pPr algn="l"/>
                      <a:r>
                        <a:rPr sz="1050" b="0">
                          <a:solidFill>
                            <a:srgbClr val="FFFFFF"/>
                          </a:solidFill>
                          <a:latin typeface="Calibri"/>
                        </a:rPr>
                        <a:t>no</a:t>
                      </a:r>
                    </a:p>
                  </a:txBody>
                  <a:tcPr marL="76200" marR="76200" marT="38100" marB="38100">
                    <a:solidFill>
                      <a:srgbClr val="2A2A3E"/>
                    </a:solidFill>
                  </a:tcPr>
                </a:tc>
              </a:tr>
              <a:tr h="285750">
                <a:tc>
                  <a:txBody>
                    <a:bodyPr wrap="square"/>
                    <a:lstStyle/>
                    <a:p>
                      <a:pPr algn="l"/>
                      <a:r>
                        <a:rPr sz="1050" b="0">
                          <a:solidFill>
                            <a:srgbClr val="FFFFFF"/>
                          </a:solidFill>
                          <a:latin typeface="Calibri"/>
                        </a:rPr>
                        <a:t>mechanism (required)</a:t>
                      </a:r>
                    </a:p>
                  </a:txBody>
                  <a:tcPr marL="76200" marR="76200" marT="38100" marB="38100">
                    <a:solidFill>
                      <a:srgbClr val="2A2A3E"/>
                    </a:solidFill>
                  </a:tcPr>
                </a:tc>
                <a:tc>
                  <a:txBody>
                    <a:bodyPr wrap="square"/>
                    <a:lstStyle/>
                    <a:p>
                      <a:pPr algn="l"/>
                      <a:r>
                        <a:rPr sz="1050" b="0">
                          <a:solidFill>
                            <a:srgbClr val="FFFFFF"/>
                          </a:solidFill>
                          <a:latin typeface="Calibri"/>
                        </a:rPr>
                        <a:t>0.994</a:t>
                      </a:r>
                    </a:p>
                  </a:txBody>
                  <a:tcPr marL="76200" marR="76200" marT="38100" marB="38100">
                    <a:solidFill>
                      <a:srgbClr val="2A2A3E"/>
                    </a:solidFill>
                  </a:tcPr>
                </a:tc>
                <a:tc>
                  <a:txBody>
                    <a:bodyPr wrap="square"/>
                    <a:lstStyle/>
                    <a:p>
                      <a:pPr algn="l"/>
                      <a:r>
                        <a:rPr sz="1050" b="0">
                          <a:solidFill>
                            <a:srgbClr val="FFFFFF"/>
                          </a:solidFill>
                          <a:latin typeface="Calibri"/>
                        </a:rPr>
                        <a:t>yes</a:t>
                      </a:r>
                    </a:p>
                  </a:txBody>
                  <a:tcPr marL="76200" marR="76200" marT="38100" marB="38100">
                    <a:solidFill>
                      <a:srgbClr val="2A2A3E"/>
                    </a:solidFill>
                  </a:tcPr>
                </a:tc>
              </a:tr>
              <a:tr h="285750">
                <a:tc>
                  <a:txBody>
                    <a:bodyPr wrap="square"/>
                    <a:lstStyle/>
                    <a:p>
                      <a:pPr algn="l"/>
                      <a:r>
                        <a:rPr sz="1050" b="0">
                          <a:solidFill>
                            <a:srgbClr val="FFFFFF"/>
                          </a:solidFill>
                          <a:latin typeface="Calibri"/>
                        </a:rPr>
                        <a:t>naive aggregate baseline</a:t>
                      </a:r>
                    </a:p>
                  </a:txBody>
                  <a:tcPr marL="76200" marR="76200" marT="38100" marB="38100">
                    <a:solidFill>
                      <a:srgbClr val="2A2A3E"/>
                    </a:solidFill>
                  </a:tcPr>
                </a:tc>
                <a:tc>
                  <a:txBody>
                    <a:bodyPr wrap="square"/>
                    <a:lstStyle/>
                    <a:p>
                      <a:pPr algn="l"/>
                      <a:r>
                        <a:rPr sz="1050" b="0">
                          <a:solidFill>
                            <a:srgbClr val="FFFFFF"/>
                          </a:solidFill>
                          <a:latin typeface="Calibri"/>
                        </a:rPr>
                        <a:t>0.066</a:t>
                      </a:r>
                    </a:p>
                  </a:txBody>
                  <a:tcPr marL="76200" marR="76200" marT="38100" marB="38100">
                    <a:solidFill>
                      <a:srgbClr val="2A2A3E"/>
                    </a:solidFill>
                  </a:tcPr>
                </a:tc>
                <a:tc>
                  <a:txBody>
                    <a:bodyPr wrap="square"/>
                    <a:lstStyle/>
                    <a:p>
                      <a:pPr algn="l"/>
                      <a:r>
                        <a:rPr sz="1050" b="0">
                          <a:solidFill>
                            <a:srgbClr val="FFFFFF"/>
                          </a:solidFill>
                          <a:latin typeface="Calibri"/>
                        </a:rPr>
                        <a:t>—</a:t>
                      </a:r>
                    </a:p>
                  </a:txBody>
                  <a:tcPr marL="76200" marR="76200" marT="38100" marB="38100">
                    <a:solidFill>
                      <a:srgbClr val="2A2A3E"/>
                    </a:solidFill>
                  </a:tcPr>
                </a:tc>
              </a:tr>
            </a:tbl>
          </a:graphicData>
        </a:graphic>
      </p:graphicFrame>
      <p:sp>
        <p:nvSpPr>
          <p:cNvPr id="10" name="TextBox 9"/>
          <p:cNvSpPr txBox="1"/>
          <p:nvPr/>
        </p:nvSpPr>
        <p:spPr>
          <a:xfrm>
            <a:off x="6400800" y="5806440"/>
            <a:ext cx="5394960" cy="594360"/>
          </a:xfrm>
          <a:prstGeom prst="rect">
            <a:avLst/>
          </a:prstGeom>
          <a:noFill/>
        </p:spPr>
        <p:txBody>
          <a:bodyPr wrap="square">
            <a:spAutoFit/>
          </a:bodyPr>
          <a:lstStyle/>
          <a:p>
            <a:pPr algn="l">
              <a:defRPr sz="1100" b="0">
                <a:solidFill>
                  <a:srgbClr val="F0F0F8"/>
                </a:solidFill>
                <a:latin typeface="Calibri"/>
              </a:defRPr>
            </a:pPr>
            <a:r>
              <a:t>Required conjunction FAILS (availability ICC &lt; 0.5). But the mechanism layer is far more reliable than a single aggregate (0.994 vs 0.066) — the headline reliability result.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defRPr sz="3000" b="1">
                <a:solidFill>
                  <a:srgbClr val="FFFFFF"/>
                </a:solidFill>
                <a:latin typeface="Calibri"/>
              </a:defRPr>
            </a:pPr>
            <a:r>
              <a:t>The Confirmatory Family — Holm Capstone</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60120"/>
            <a:ext cx="11155680" cy="457200"/>
          </a:xfrm>
          <a:prstGeom prst="rect">
            <a:avLst/>
          </a:prstGeom>
          <a:noFill/>
        </p:spPr>
        <p:txBody>
          <a:bodyPr wrap="square">
            <a:spAutoFit/>
          </a:bodyPr>
          <a:lstStyle/>
          <a:p>
            <a:pPr algn="l">
              <a:defRPr sz="1500" b="0">
                <a:solidFill>
                  <a:srgbClr val="BDBDBD"/>
                </a:solidFill>
                <a:latin typeface="Calibri"/>
              </a:defRPr>
            </a:pPr>
            <a:r>
              <a:t>The four confirmatory hypotheses corrected together at α = 0.05</a:t>
            </a:r>
          </a:p>
        </p:txBody>
      </p:sp>
      <p:graphicFrame>
        <p:nvGraphicFramePr>
          <p:cNvPr id="5" name="Table 4"/>
          <p:cNvGraphicFramePr>
            <a:graphicFrameLocks noGrp="1"/>
          </p:cNvGraphicFramePr>
          <p:nvPr/>
        </p:nvGraphicFramePr>
        <p:xfrm>
          <a:off x="548640" y="1600200"/>
          <a:ext cx="7498079" cy="2377440"/>
        </p:xfrm>
        <a:graphic>
          <a:graphicData uri="http://schemas.openxmlformats.org/drawingml/2006/table">
            <a:tbl>
              <a:tblPr firstRow="1" bandRow="1">
                <a:tableStyleId>{5C22544A-7EE6-4342-B048-85BDC9FD1C3A}</a:tableStyleId>
              </a:tblPr>
              <a:tblGrid>
                <a:gridCol w="1499615"/>
                <a:gridCol w="1499615"/>
                <a:gridCol w="1499615"/>
                <a:gridCol w="1499615"/>
                <a:gridCol w="1499619"/>
              </a:tblGrid>
              <a:tr h="475488">
                <a:tc>
                  <a:txBody>
                    <a:bodyPr wrap="square"/>
                    <a:lstStyle/>
                    <a:p>
                      <a:pPr algn="l"/>
                      <a:r>
                        <a:rPr sz="1100" b="1">
                          <a:solidFill>
                            <a:srgbClr val="FFFFFF"/>
                          </a:solidFill>
                          <a:latin typeface="Calibri"/>
                        </a:rPr>
                        <a:t>hyp</a:t>
                      </a:r>
                    </a:p>
                  </a:txBody>
                  <a:tcPr marL="76200" marR="76200" marT="38100" marB="38100">
                    <a:solidFill>
                      <a:srgbClr val="9B59B6"/>
                    </a:solidFill>
                  </a:tcPr>
                </a:tc>
                <a:tc>
                  <a:txBody>
                    <a:bodyPr wrap="square"/>
                    <a:lstStyle/>
                    <a:p>
                      <a:pPr algn="l"/>
                      <a:r>
                        <a:rPr sz="1100" b="1">
                          <a:solidFill>
                            <a:srgbClr val="FFFFFF"/>
                          </a:solidFill>
                          <a:latin typeface="Calibri"/>
                        </a:rPr>
                        <a:t>primary test</a:t>
                      </a:r>
                    </a:p>
                  </a:txBody>
                  <a:tcPr marL="76200" marR="76200" marT="38100" marB="38100">
                    <a:solidFill>
                      <a:srgbClr val="9B59B6"/>
                    </a:solidFill>
                  </a:tcPr>
                </a:tc>
                <a:tc>
                  <a:txBody>
                    <a:bodyPr wrap="square"/>
                    <a:lstStyle/>
                    <a:p>
                      <a:pPr algn="l"/>
                      <a:r>
                        <a:rPr sz="1100" b="1">
                          <a:solidFill>
                            <a:srgbClr val="FFFFFF"/>
                          </a:solidFill>
                          <a:latin typeface="Calibri"/>
                        </a:rPr>
                        <a:t>input p</a:t>
                      </a:r>
                    </a:p>
                  </a:txBody>
                  <a:tcPr marL="76200" marR="76200" marT="38100" marB="38100">
                    <a:solidFill>
                      <a:srgbClr val="9B59B6"/>
                    </a:solidFill>
                  </a:tcPr>
                </a:tc>
                <a:tc>
                  <a:txBody>
                    <a:bodyPr wrap="square"/>
                    <a:lstStyle/>
                    <a:p>
                      <a:pPr algn="l"/>
                      <a:r>
                        <a:rPr sz="1100" b="1">
                          <a:solidFill>
                            <a:srgbClr val="FFFFFF"/>
                          </a:solidFill>
                          <a:latin typeface="Calibri"/>
                        </a:rPr>
                        <a:t>Holm-adj p</a:t>
                      </a:r>
                    </a:p>
                  </a:txBody>
                  <a:tcPr marL="76200" marR="76200" marT="38100" marB="38100">
                    <a:solidFill>
                      <a:srgbClr val="9B59B6"/>
                    </a:solidFill>
                  </a:tcPr>
                </a:tc>
                <a:tc>
                  <a:txBody>
                    <a:bodyPr wrap="square"/>
                    <a:lstStyle/>
                    <a:p>
                      <a:pPr algn="l"/>
                      <a:r>
                        <a:rPr sz="1100" b="1">
                          <a:solidFill>
                            <a:srgbClr val="FFFFFF"/>
                          </a:solidFill>
                          <a:latin typeface="Calibri"/>
                        </a:rPr>
                        <a:t>supported?</a:t>
                      </a:r>
                    </a:p>
                  </a:txBody>
                  <a:tcPr marL="76200" marR="76200" marT="38100" marB="38100">
                    <a:solidFill>
                      <a:srgbClr val="9B59B6"/>
                    </a:solidFill>
                  </a:tcPr>
                </a:tc>
              </a:tr>
              <a:tr h="475488">
                <a:tc>
                  <a:txBody>
                    <a:bodyPr wrap="square"/>
                    <a:lstStyle/>
                    <a:p>
                      <a:pPr algn="l"/>
                      <a:r>
                        <a:rPr sz="1100" b="0">
                          <a:solidFill>
                            <a:srgbClr val="FFFFFF"/>
                          </a:solidFill>
                          <a:latin typeface="Calibri"/>
                        </a:rPr>
                        <a:t>H1</a:t>
                      </a:r>
                    </a:p>
                  </a:txBody>
                  <a:tcPr marL="76200" marR="76200" marT="38100" marB="38100">
                    <a:solidFill>
                      <a:srgbClr val="2A2A3E"/>
                    </a:solidFill>
                  </a:tcPr>
                </a:tc>
                <a:tc>
                  <a:txBody>
                    <a:bodyPr wrap="square"/>
                    <a:lstStyle/>
                    <a:p>
                      <a:pPr algn="l"/>
                      <a:r>
                        <a:rPr sz="1100" b="0">
                          <a:solidFill>
                            <a:srgbClr val="FFFFFF"/>
                          </a:solidFill>
                          <a:latin typeface="Calibri"/>
                        </a:rPr>
                        <a:t>dose-response (Page's L)</a:t>
                      </a:r>
                    </a:p>
                  </a:txBody>
                  <a:tcPr marL="76200" marR="76200" marT="38100" marB="38100">
                    <a:solidFill>
                      <a:srgbClr val="2A2A3E"/>
                    </a:solidFill>
                  </a:tcPr>
                </a:tc>
                <a:tc>
                  <a:txBody>
                    <a:bodyPr wrap="square"/>
                    <a:lstStyle/>
                    <a:p>
                      <a:pPr algn="l"/>
                      <a:r>
                        <a:rPr sz="1100" b="0">
                          <a:solidFill>
                            <a:srgbClr val="FFFFFF"/>
                          </a:solidFill>
                          <a:latin typeface="Calibri"/>
                        </a:rPr>
                        <a:t>0.0002</a:t>
                      </a:r>
                    </a:p>
                  </a:txBody>
                  <a:tcPr marL="76200" marR="76200" marT="38100" marB="38100">
                    <a:solidFill>
                      <a:srgbClr val="2A2A3E"/>
                    </a:solidFill>
                  </a:tcPr>
                </a:tc>
                <a:tc>
                  <a:txBody>
                    <a:bodyPr wrap="square"/>
                    <a:lstStyle/>
                    <a:p>
                      <a:pPr algn="l"/>
                      <a:r>
                        <a:rPr sz="1100" b="0">
                          <a:solidFill>
                            <a:srgbClr val="FFFFFF"/>
                          </a:solidFill>
                          <a:latin typeface="Calibri"/>
                        </a:rPr>
                        <a:t>0.0008</a:t>
                      </a:r>
                    </a:p>
                  </a:txBody>
                  <a:tcPr marL="76200" marR="76200" marT="38100" marB="38100">
                    <a:solidFill>
                      <a:srgbClr val="2A2A3E"/>
                    </a:solidFill>
                  </a:tcPr>
                </a:tc>
                <a:tc>
                  <a:txBody>
                    <a:bodyPr wrap="square"/>
                    <a:lstStyle/>
                    <a:p>
                      <a:pPr algn="l"/>
                      <a:r>
                        <a:rPr sz="1100" b="0">
                          <a:solidFill>
                            <a:srgbClr val="FFFFFF"/>
                          </a:solidFill>
                          <a:latin typeface="Calibri"/>
                        </a:rPr>
                        <a:t>no — effect &lt; SESOI</a:t>
                      </a:r>
                    </a:p>
                  </a:txBody>
                  <a:tcPr marL="76200" marR="76200" marT="38100" marB="38100">
                    <a:solidFill>
                      <a:srgbClr val="2A2A3E"/>
                    </a:solidFill>
                  </a:tcPr>
                </a:tc>
              </a:tr>
              <a:tr h="475488">
                <a:tc>
                  <a:txBody>
                    <a:bodyPr wrap="square"/>
                    <a:lstStyle/>
                    <a:p>
                      <a:pPr algn="l"/>
                      <a:r>
                        <a:rPr sz="1100" b="0">
                          <a:solidFill>
                            <a:srgbClr val="FFFFFF"/>
                          </a:solidFill>
                          <a:latin typeface="Calibri"/>
                        </a:rPr>
                        <a:t>H2</a:t>
                      </a:r>
                    </a:p>
                  </a:txBody>
                  <a:tcPr marL="76200" marR="76200" marT="38100" marB="38100">
                    <a:solidFill>
                      <a:srgbClr val="2A2A3E"/>
                    </a:solidFill>
                  </a:tcPr>
                </a:tc>
                <a:tc>
                  <a:txBody>
                    <a:bodyPr wrap="square"/>
                    <a:lstStyle/>
                    <a:p>
                      <a:pPr algn="l"/>
                      <a:r>
                        <a:rPr sz="1100" b="0">
                          <a:solidFill>
                            <a:srgbClr val="FFFFFF"/>
                          </a:solidFill>
                          <a:latin typeface="Calibri"/>
                        </a:rPr>
                        <a:t>placement + DNS</a:t>
                      </a:r>
                    </a:p>
                  </a:txBody>
                  <a:tcPr marL="76200" marR="76200" marT="38100" marB="38100">
                    <a:solidFill>
                      <a:srgbClr val="2A2A3E"/>
                    </a:solidFill>
                  </a:tcPr>
                </a:tc>
                <a:tc>
                  <a:txBody>
                    <a:bodyPr wrap="square"/>
                    <a:lstStyle/>
                    <a:p>
                      <a:pPr algn="l"/>
                      <a:r>
                        <a:rPr sz="1100" b="0">
                          <a:solidFill>
                            <a:srgbClr val="FFFFFF"/>
                          </a:solidFill>
                          <a:latin typeface="Calibri"/>
                        </a:rPr>
                        <a:t>0.98875</a:t>
                      </a:r>
                    </a:p>
                  </a:txBody>
                  <a:tcPr marL="76200" marR="76200" marT="38100" marB="38100">
                    <a:solidFill>
                      <a:srgbClr val="2A2A3E"/>
                    </a:solidFill>
                  </a:tcPr>
                </a:tc>
                <a:tc>
                  <a:txBody>
                    <a:bodyPr wrap="square"/>
                    <a:lstStyle/>
                    <a:p>
                      <a:pPr algn="l"/>
                      <a:r>
                        <a:rPr sz="1100" b="0">
                          <a:solidFill>
                            <a:srgbClr val="FFFFFF"/>
                          </a:solidFill>
                          <a:latin typeface="Calibri"/>
                        </a:rPr>
                        <a:t>0.98875</a:t>
                      </a:r>
                    </a:p>
                  </a:txBody>
                  <a:tcPr marL="76200" marR="76200" marT="38100" marB="38100">
                    <a:solidFill>
                      <a:srgbClr val="2A2A3E"/>
                    </a:solidFill>
                  </a:tcPr>
                </a:tc>
                <a:tc>
                  <a:txBody>
                    <a:bodyPr wrap="square"/>
                    <a:lstStyle/>
                    <a:p>
                      <a:pPr algn="l"/>
                      <a:r>
                        <a:rPr sz="1100" b="0">
                          <a:solidFill>
                            <a:srgbClr val="FFFFFF"/>
                          </a:solidFill>
                          <a:latin typeface="Calibri"/>
                        </a:rPr>
                        <a:t>no — placement reversed</a:t>
                      </a:r>
                    </a:p>
                  </a:txBody>
                  <a:tcPr marL="76200" marR="76200" marT="38100" marB="38100">
                    <a:solidFill>
                      <a:srgbClr val="2A2A3E"/>
                    </a:solidFill>
                  </a:tcPr>
                </a:tc>
              </a:tr>
              <a:tr h="475488">
                <a:tc>
                  <a:txBody>
                    <a:bodyPr wrap="square"/>
                    <a:lstStyle/>
                    <a:p>
                      <a:pPr algn="l"/>
                      <a:r>
                        <a:rPr sz="1100" b="0">
                          <a:solidFill>
                            <a:srgbClr val="FFFFFF"/>
                          </a:solidFill>
                          <a:latin typeface="Calibri"/>
                        </a:rPr>
                        <a:t>H3</a:t>
                      </a:r>
                    </a:p>
                  </a:txBody>
                  <a:tcPr marL="76200" marR="76200" marT="38100" marB="38100">
                    <a:solidFill>
                      <a:srgbClr val="2A2A3E"/>
                    </a:solidFill>
                  </a:tcPr>
                </a:tc>
                <a:tc>
                  <a:txBody>
                    <a:bodyPr wrap="square"/>
                    <a:lstStyle/>
                    <a:p>
                      <a:pPr algn="l"/>
                      <a:r>
                        <a:rPr sz="1100" b="0">
                          <a:solidFill>
                            <a:srgbClr val="FFFFFF"/>
                          </a:solidFill>
                          <a:latin typeface="Calibri"/>
                        </a:rPr>
                        <a:t>replication rescue</a:t>
                      </a:r>
                    </a:p>
                  </a:txBody>
                  <a:tcPr marL="76200" marR="76200" marT="38100" marB="38100">
                    <a:solidFill>
                      <a:srgbClr val="2A2A3E"/>
                    </a:solidFill>
                  </a:tcPr>
                </a:tc>
                <a:tc>
                  <a:txBody>
                    <a:bodyPr wrap="square"/>
                    <a:lstStyle/>
                    <a:p>
                      <a:pPr algn="l"/>
                      <a:r>
                        <a:rPr sz="1100" b="0">
                          <a:solidFill>
                            <a:srgbClr val="FFFFFF"/>
                          </a:solidFill>
                          <a:latin typeface="Calibri"/>
                        </a:rPr>
                        <a:t>0.0065</a:t>
                      </a:r>
                    </a:p>
                  </a:txBody>
                  <a:tcPr marL="76200" marR="76200" marT="38100" marB="38100">
                    <a:solidFill>
                      <a:srgbClr val="2A2A3E"/>
                    </a:solidFill>
                  </a:tcPr>
                </a:tc>
                <a:tc>
                  <a:txBody>
                    <a:bodyPr wrap="square"/>
                    <a:lstStyle/>
                    <a:p>
                      <a:pPr algn="l"/>
                      <a:r>
                        <a:rPr sz="1100" b="0">
                          <a:solidFill>
                            <a:srgbClr val="FFFFFF"/>
                          </a:solidFill>
                          <a:latin typeface="Calibri"/>
                        </a:rPr>
                        <a:t>0.0195</a:t>
                      </a:r>
                    </a:p>
                  </a:txBody>
                  <a:tcPr marL="76200" marR="76200" marT="38100" marB="38100">
                    <a:solidFill>
                      <a:srgbClr val="2A2A3E"/>
                    </a:solidFill>
                  </a:tcPr>
                </a:tc>
                <a:tc>
                  <a:txBody>
                    <a:bodyPr wrap="square"/>
                    <a:lstStyle/>
                    <a:p>
                      <a:pPr algn="l"/>
                      <a:r>
                        <a:rPr sz="1100" b="0">
                          <a:solidFill>
                            <a:srgbClr val="FFFFFF"/>
                          </a:solidFill>
                          <a:latin typeface="Calibri"/>
                        </a:rPr>
                        <a:t>no — rescue margin unmet</a:t>
                      </a:r>
                    </a:p>
                  </a:txBody>
                  <a:tcPr marL="76200" marR="76200" marT="38100" marB="38100">
                    <a:solidFill>
                      <a:srgbClr val="2A2A3E"/>
                    </a:solidFill>
                  </a:tcPr>
                </a:tc>
              </a:tr>
              <a:tr h="475488">
                <a:tc>
                  <a:txBody>
                    <a:bodyPr wrap="square"/>
                    <a:lstStyle/>
                    <a:p>
                      <a:pPr algn="l"/>
                      <a:r>
                        <a:rPr sz="1100" b="0">
                          <a:solidFill>
                            <a:srgbClr val="FFFFFF"/>
                          </a:solidFill>
                          <a:latin typeface="Calibri"/>
                        </a:rPr>
                        <a:t>H5</a:t>
                      </a:r>
                    </a:p>
                  </a:txBody>
                  <a:tcPr marL="76200" marR="76200" marT="38100" marB="38100">
                    <a:solidFill>
                      <a:srgbClr val="2A2A3E"/>
                    </a:solidFill>
                  </a:tcPr>
                </a:tc>
                <a:tc>
                  <a:txBody>
                    <a:bodyPr wrap="square"/>
                    <a:lstStyle/>
                    <a:p>
                      <a:pPr algn="l"/>
                      <a:r>
                        <a:rPr sz="1100" b="0">
                          <a:solidFill>
                            <a:srgbClr val="FFFFFF"/>
                          </a:solidFill>
                          <a:latin typeface="Calibri"/>
                        </a:rPr>
                        <a:t>layered scorecard ICC</a:t>
                      </a:r>
                    </a:p>
                  </a:txBody>
                  <a:tcPr marL="76200" marR="76200" marT="38100" marB="38100">
                    <a:solidFill>
                      <a:srgbClr val="2A2A3E"/>
                    </a:solidFill>
                  </a:tcPr>
                </a:tc>
                <a:tc>
                  <a:txBody>
                    <a:bodyPr wrap="square"/>
                    <a:lstStyle/>
                    <a:p>
                      <a:pPr algn="l"/>
                      <a:r>
                        <a:rPr sz="1100" b="0">
                          <a:solidFill>
                            <a:srgbClr val="FFFFFF"/>
                          </a:solidFill>
                          <a:latin typeface="Calibri"/>
                        </a:rPr>
                        <a:t>0.2501</a:t>
                      </a:r>
                    </a:p>
                  </a:txBody>
                  <a:tcPr marL="76200" marR="76200" marT="38100" marB="38100">
                    <a:solidFill>
                      <a:srgbClr val="2A2A3E"/>
                    </a:solidFill>
                  </a:tcPr>
                </a:tc>
                <a:tc>
                  <a:txBody>
                    <a:bodyPr wrap="square"/>
                    <a:lstStyle/>
                    <a:p>
                      <a:pPr algn="l"/>
                      <a:r>
                        <a:rPr sz="1100" b="0">
                          <a:solidFill>
                            <a:srgbClr val="FFFFFF"/>
                          </a:solidFill>
                          <a:latin typeface="Calibri"/>
                        </a:rPr>
                        <a:t>0.5002</a:t>
                      </a:r>
                    </a:p>
                  </a:txBody>
                  <a:tcPr marL="76200" marR="76200" marT="38100" marB="38100">
                    <a:solidFill>
                      <a:srgbClr val="2A2A3E"/>
                    </a:solidFill>
                  </a:tcPr>
                </a:tc>
                <a:tc>
                  <a:txBody>
                    <a:bodyPr wrap="square"/>
                    <a:lstStyle/>
                    <a:p>
                      <a:pPr algn="l"/>
                      <a:r>
                        <a:rPr sz="1100" b="0">
                          <a:solidFill>
                            <a:srgbClr val="FFFFFF"/>
                          </a:solidFill>
                          <a:latin typeface="Calibri"/>
                        </a:rPr>
                        <a:t>no — availability ICC &lt; 0.5</a:t>
                      </a:r>
                    </a:p>
                  </a:txBody>
                  <a:tcPr marL="76200" marR="76200" marT="38100" marB="38100">
                    <a:solidFill>
                      <a:srgbClr val="2A2A3E"/>
                    </a:solidFill>
                  </a:tcPr>
                </a:tc>
              </a:tr>
            </a:tbl>
          </a:graphicData>
        </a:graphic>
      </p:graphicFrame>
      <p:sp>
        <p:nvSpPr>
          <p:cNvPr id="6" name="Rounded Rectangle 5"/>
          <p:cNvSpPr/>
          <p:nvPr/>
        </p:nvSpPr>
        <p:spPr>
          <a:xfrm>
            <a:off x="8229600" y="1600200"/>
            <a:ext cx="3566160" cy="2377440"/>
          </a:xfrm>
          <a:prstGeom prst="roundRect">
            <a:avLst/>
          </a:prstGeom>
          <a:solidFill>
            <a:srgbClr val="121222"/>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0" y="1737360"/>
            <a:ext cx="3200400" cy="2194560"/>
          </a:xfrm>
          <a:prstGeom prst="rect">
            <a:avLst/>
          </a:prstGeom>
          <a:noFill/>
        </p:spPr>
        <p:txBody>
          <a:bodyPr wrap="square">
            <a:spAutoFit/>
          </a:bodyPr>
          <a:lstStyle/>
          <a:p>
            <a:pPr algn="l">
              <a:defRPr sz="1250" b="1">
                <a:solidFill>
                  <a:srgbClr val="FFFFFF"/>
                </a:solidFill>
                <a:latin typeface="Calibri"/>
              </a:defRPr>
            </a:pPr>
            <a:r>
              <a:t>Family verdict:</a:t>
            </a:r>
            <a:br/>
            <a:br/>
            <a:r>
              <a:t>No confirmatory hypothesis is supported.</a:t>
            </a:r>
            <a:br/>
            <a:br/>
            <a:r>
              <a:t>Two primaries (H1's trend, H3's interaction) survive Holm — but Holm-significance is necessary, not sufficient. Every member also fails its registered effect-size / reliability bar.</a:t>
            </a:r>
          </a:p>
        </p:txBody>
      </p:sp>
      <p:sp>
        <p:nvSpPr>
          <p:cNvPr id="8" name="Rounded Rectangle 7"/>
          <p:cNvSpPr/>
          <p:nvPr/>
        </p:nvSpPr>
        <p:spPr>
          <a:xfrm>
            <a:off x="548640" y="4160520"/>
            <a:ext cx="11247120" cy="2240280"/>
          </a:xfrm>
          <a:prstGeom prst="roundRect">
            <a:avLst/>
          </a:prstGeom>
          <a:solidFill>
            <a:srgbClr val="2A2A3E"/>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251960"/>
            <a:ext cx="10972800" cy="411480"/>
          </a:xfrm>
          <a:prstGeom prst="rect">
            <a:avLst/>
          </a:prstGeom>
          <a:noFill/>
        </p:spPr>
        <p:txBody>
          <a:bodyPr wrap="square">
            <a:spAutoFit/>
          </a:bodyPr>
          <a:lstStyle/>
          <a:p>
            <a:pPr algn="l">
              <a:defRPr sz="1600" b="1">
                <a:solidFill>
                  <a:srgbClr val="2ECC71"/>
                </a:solidFill>
                <a:latin typeface="Calibri"/>
              </a:defRPr>
            </a:pPr>
            <a:r>
              <a:t>The central finding: a real mechanism, rigorously bounded in reach</a:t>
            </a:r>
          </a:p>
        </p:txBody>
      </p:sp>
      <p:sp>
        <p:nvSpPr>
          <p:cNvPr id="10" name="TextBox 9"/>
          <p:cNvSpPr txBox="1"/>
          <p:nvPr/>
        </p:nvSpPr>
        <p:spPr>
          <a:xfrm>
            <a:off x="777240" y="4709160"/>
            <a:ext cx="10972800" cy="1645920"/>
          </a:xfrm>
          <a:prstGeom prst="rect">
            <a:avLst/>
          </a:prstGeom>
          <a:noFill/>
        </p:spPr>
        <p:txBody>
          <a:bodyPr wrap="square">
            <a:spAutoFit/>
          </a:bodyPr>
          <a:lstStyle/>
          <a:p>
            <a:pPr algn="l">
              <a:defRPr sz="1300" b="0">
                <a:solidFill>
                  <a:srgbClr val="F0F0F8"/>
                </a:solidFill>
                <a:latin typeface="Calibri"/>
              </a:defRPr>
            </a:pPr>
            <a:r>
              <a:t>The consistent positive thread across all three campaigns is the MECHANISM: the UDP-conntrack reconvergence signature is real and individually significant every time it is measured — placement-dependent under churn (H2), interacting with replication under node-drain (H3's error face), and the one scorecard layer with near-perfect test-retest reliability (H5, mechanism ICC 0.994). What does NOT hold, at the pre-registered bar, is that this mechanism translates into the user-visible placement, availability, and dose-response advantages the hypotheses predicted. Once pod-delete at r=1 is understood as a churn fault, the bound is the expected shape: during the kill window the single replica is simply gone, and every dependent request fails identically whether services are packed or spread.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defRPr sz="3000" b="1">
                <a:solidFill>
                  <a:srgbClr val="FFFFFF"/>
                </a:solidFill>
                <a:latin typeface="Calibri"/>
              </a:defRPr>
            </a:pPr>
            <a:r>
              <a:t>Design-Corrected Re-Analysis (Exploratory)</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60120"/>
            <a:ext cx="11155680" cy="457200"/>
          </a:xfrm>
          <a:prstGeom prst="rect">
            <a:avLst/>
          </a:prstGeom>
          <a:noFill/>
        </p:spPr>
        <p:txBody>
          <a:bodyPr wrap="square">
            <a:spAutoFit/>
          </a:bodyPr>
          <a:lstStyle/>
          <a:p>
            <a:pPr algn="l">
              <a:defRPr sz="1500" b="0">
                <a:solidFill>
                  <a:srgbClr val="BDBDBD"/>
                </a:solidFill>
                <a:latin typeface="Calibri"/>
              </a:defRPr>
            </a:pPr>
            <a:r>
              <a:t>The availability-axis tests were construction-limited — node-drain makes the axis live</a:t>
            </a:r>
          </a:p>
        </p:txBody>
      </p:sp>
      <p:pic>
        <p:nvPicPr>
          <p:cNvPr id="5" name="Picture 4" descr="fig-design-fix-availability.png"/>
          <p:cNvPicPr>
            <a:picLocks noChangeAspect="1"/>
          </p:cNvPicPr>
          <p:nvPr/>
        </p:nvPicPr>
        <p:blipFill>
          <a:blip r:embed="rId2"/>
          <a:stretch>
            <a:fillRect/>
          </a:stretch>
        </p:blipFill>
        <p:spPr>
          <a:xfrm>
            <a:off x="548640" y="1600200"/>
            <a:ext cx="6766560" cy="3141760"/>
          </a:xfrm>
          <a:prstGeom prst="rect">
            <a:avLst/>
          </a:prstGeom>
        </p:spPr>
      </p:pic>
      <p:sp>
        <p:nvSpPr>
          <p:cNvPr id="6" name="Rounded Rectangle 5"/>
          <p:cNvSpPr/>
          <p:nvPr/>
        </p:nvSpPr>
        <p:spPr>
          <a:xfrm>
            <a:off x="7498079" y="1600200"/>
            <a:ext cx="4297680" cy="137160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673352"/>
            <a:ext cx="3931920" cy="1234440"/>
          </a:xfrm>
          <a:prstGeom prst="rect">
            <a:avLst/>
          </a:prstGeom>
          <a:noFill/>
        </p:spPr>
        <p:txBody>
          <a:bodyPr wrap="square">
            <a:spAutoFit/>
          </a:bodyPr>
          <a:lstStyle/>
          <a:p>
            <a:pPr algn="l">
              <a:defRPr sz="1150" b="0">
                <a:solidFill>
                  <a:srgbClr val="F0F0F8"/>
                </a:solidFill>
                <a:latin typeface="Calibri"/>
              </a:defRPr>
            </a:pPr>
            <a:r>
              <a:t>The fault, not the finding: pod-delete at r=1 removes the only replica — trough ≈ 1 pod for EVERY placement. That made H3's depth un-passable, H4's frontier degenerate, and H5's availability ICC a measurement of noise.</a:t>
            </a:r>
          </a:p>
        </p:txBody>
      </p:sp>
      <p:sp>
        <p:nvSpPr>
          <p:cNvPr id="8" name="TextBox 7"/>
          <p:cNvSpPr txBox="1"/>
          <p:nvPr/>
        </p:nvSpPr>
        <p:spPr>
          <a:xfrm>
            <a:off x="7498079" y="3108960"/>
            <a:ext cx="4297680" cy="2331720"/>
          </a:xfrm>
          <a:prstGeom prst="rect">
            <a:avLst/>
          </a:prstGeom>
          <a:noFill/>
        </p:spPr>
        <p:txBody>
          <a:bodyPr wrap="square">
            <a:spAutoFit/>
          </a:bodyPr>
          <a:lstStyle/>
          <a:p>
            <a:pPr>
              <a:spcAft>
                <a:spcPts val="600"/>
              </a:spcAft>
              <a:defRPr sz="1400" b="1">
                <a:solidFill>
                  <a:srgbClr val="2ECC71"/>
                </a:solidFill>
                <a:latin typeface="Calibri"/>
              </a:defRPr>
            </a:pPr>
            <a:r>
              <a:t>What the correction shows</a:t>
            </a:r>
          </a:p>
          <a:p>
            <a:pPr>
              <a:spcBef>
                <a:spcPts val="200"/>
              </a:spcBef>
              <a:spcAft>
                <a:spcPts val="200"/>
              </a:spcAft>
              <a:defRPr sz="1150">
                <a:solidFill>
                  <a:srgbClr val="BDBDBD"/>
                </a:solidFill>
                <a:latin typeface="Calibri"/>
              </a:defRPr>
            </a:pPr>
            <a:r>
              <a:t>• C4: node-drain dose-response, 8 sessions,</a:t>
            </a:r>
          </a:p>
          <a:p>
            <a:pPr>
              <a:spcBef>
                <a:spcPts val="200"/>
              </a:spcBef>
              <a:spcAft>
                <a:spcPts val="200"/>
              </a:spcAft>
              <a:defRPr sz="1150">
                <a:solidFill>
                  <a:srgbClr val="BDBDBD"/>
                </a:solidFill>
                <a:latin typeface="Calibri"/>
              </a:defRPr>
            </a:pPr>
            <a:r>
              <a:t>   criteria pre-declared before data examined</a:t>
            </a:r>
          </a:p>
          <a:p>
            <a:pPr>
              <a:spcBef>
                <a:spcPts val="200"/>
              </a:spcBef>
              <a:spcAft>
                <a:spcPts val="200"/>
              </a:spcAft>
              <a:defRPr sz="1150">
                <a:solidFill>
                  <a:srgbClr val="BDBDBD"/>
                </a:solidFill>
                <a:latin typeface="Calibri"/>
              </a:defRPr>
            </a:pPr>
            <a:r>
              <a:t>• Availability trough now 1.00 (packed) → 0.36</a:t>
            </a:r>
          </a:p>
          <a:p>
            <a:pPr>
              <a:spcBef>
                <a:spcPts val="200"/>
              </a:spcBef>
              <a:spcAft>
                <a:spcPts val="200"/>
              </a:spcAft>
              <a:defRPr sz="1150">
                <a:solidFill>
                  <a:srgbClr val="BDBDBD"/>
                </a:solidFill>
                <a:latin typeface="Calibri"/>
              </a:defRPr>
            </a:pPr>
            <a:r>
              <a:t>   (spread) — a LIVE axis, a real trade-off</a:t>
            </a:r>
          </a:p>
          <a:p>
            <a:pPr>
              <a:spcBef>
                <a:spcPts val="200"/>
              </a:spcBef>
              <a:spcAft>
                <a:spcPts val="200"/>
              </a:spcAft>
              <a:defRPr sz="1150">
                <a:solidFill>
                  <a:srgbClr val="BDBDBD"/>
                </a:solidFill>
                <a:latin typeface="Calibri"/>
              </a:defRPr>
            </a:pPr>
            <a:r>
              <a:t>• H3: user error 0.63 → 0 + significant interaction</a:t>
            </a:r>
          </a:p>
          <a:p>
            <a:pPr>
              <a:spcBef>
                <a:spcPts val="200"/>
              </a:spcBef>
              <a:spcAft>
                <a:spcPts val="200"/>
              </a:spcAft>
              <a:defRPr sz="1150">
                <a:solidFill>
                  <a:srgbClr val="BDBDBD"/>
                </a:solidFill>
                <a:latin typeface="Calibri"/>
              </a:defRPr>
            </a:pPr>
            <a:r>
              <a:t>   (p=0.0065); depth halves but knife-edge — the</a:t>
            </a:r>
          </a:p>
          <a:p>
            <a:pPr>
              <a:spcBef>
                <a:spcPts val="200"/>
              </a:spcBef>
              <a:spcAft>
                <a:spcPts val="200"/>
              </a:spcAft>
              <a:defRPr sz="1150">
                <a:solidFill>
                  <a:srgbClr val="BDBDBD"/>
                </a:solidFill>
                <a:latin typeface="Calibri"/>
              </a:defRPr>
            </a:pPr>
            <a:r>
              <a:t>   robust evidence is the interaction, not the threshold</a:t>
            </a:r>
          </a:p>
          <a:p>
            <a:pPr>
              <a:spcBef>
                <a:spcPts val="200"/>
              </a:spcBef>
              <a:spcAft>
                <a:spcPts val="200"/>
              </a:spcAft>
              <a:defRPr sz="1150">
                <a:solidFill>
                  <a:srgbClr val="BDBDBD"/>
                </a:solidFill>
                <a:latin typeface="Calibri"/>
              </a:defRPr>
            </a:pPr>
            <a:r>
              <a:t>• H5 availability ICC under drain is 1.0 BY</a:t>
            </a:r>
          </a:p>
          <a:p>
            <a:pPr>
              <a:spcBef>
                <a:spcPts val="200"/>
              </a:spcBef>
              <a:spcAft>
                <a:spcPts val="200"/>
              </a:spcAft>
              <a:defRPr sz="1150">
                <a:solidFill>
                  <a:srgbClr val="BDBDBD"/>
                </a:solidFill>
                <a:latin typeface="Calibri"/>
              </a:defRPr>
            </a:pPr>
            <a:r>
              <a:t>   CONSTRUCTION — large signal, not a retest estimate</a:t>
            </a:r>
          </a:p>
        </p:txBody>
      </p:sp>
      <p:sp>
        <p:nvSpPr>
          <p:cNvPr id="9" name="Rounded Rectangle 8"/>
          <p:cNvSpPr/>
          <p:nvPr/>
        </p:nvSpPr>
        <p:spPr>
          <a:xfrm>
            <a:off x="548640" y="5577840"/>
            <a:ext cx="11247120" cy="822960"/>
          </a:xfrm>
          <a:prstGeom prst="roundRect">
            <a:avLst/>
          </a:prstGeom>
          <a:solidFill>
            <a:srgbClr val="2A2A3E"/>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650992"/>
            <a:ext cx="10972800" cy="685800"/>
          </a:xfrm>
          <a:prstGeom prst="rect">
            <a:avLst/>
          </a:prstGeom>
          <a:noFill/>
        </p:spPr>
        <p:txBody>
          <a:bodyPr wrap="square">
            <a:spAutoFit/>
          </a:bodyPr>
          <a:lstStyle/>
          <a:p>
            <a:pPr algn="l">
              <a:defRPr sz="1200" b="1">
                <a:solidFill>
                  <a:srgbClr val="F0F0F8"/>
                </a:solidFill>
                <a:latin typeface="Calibri"/>
              </a:defRPr>
            </a:pPr>
            <a:r>
              <a:t>Honest scope: this does NOT re-open the frozen confirmatory verdicts. It shows H3's not-supported and H4's degenerate results were partly construction artifacts whose underlying effects are real once availability can move — exploratory, outside the Holm family, deposited to the same bar.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defRPr sz="3000" b="1">
                <a:solidFill>
                  <a:srgbClr val="FFFFFF"/>
                </a:solidFill>
                <a:latin typeface="Calibri"/>
              </a:defRPr>
            </a:pPr>
            <a:r>
              <a:t>External Validity — A Second Workload</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60120"/>
            <a:ext cx="11155680" cy="457200"/>
          </a:xfrm>
          <a:prstGeom prst="rect">
            <a:avLst/>
          </a:prstGeom>
          <a:noFill/>
        </p:spPr>
        <p:txBody>
          <a:bodyPr wrap="square">
            <a:spAutoFit/>
          </a:bodyPr>
          <a:lstStyle/>
          <a:p>
            <a:pPr algn="l">
              <a:defRPr sz="1500" b="0">
                <a:solidFill>
                  <a:srgbClr val="BDBDBD"/>
                </a:solidFill>
                <a:latin typeface="Calibri"/>
              </a:defRPr>
            </a:pPr>
            <a:r>
              <a:t>Exploratory replication on DeathStarBench hotelReservation (deep gRPC/Consul fan-out)</a:t>
            </a:r>
          </a:p>
        </p:txBody>
      </p:sp>
      <p:pic>
        <p:nvPicPr>
          <p:cNvPr id="5" name="Picture 4" descr="fig-hotel-external-validity.png"/>
          <p:cNvPicPr>
            <a:picLocks noChangeAspect="1"/>
          </p:cNvPicPr>
          <p:nvPr/>
        </p:nvPicPr>
        <p:blipFill>
          <a:blip r:embed="rId2"/>
          <a:stretch>
            <a:fillRect/>
          </a:stretch>
        </p:blipFill>
        <p:spPr>
          <a:xfrm>
            <a:off x="548640" y="1600200"/>
            <a:ext cx="6766560" cy="3128838"/>
          </a:xfrm>
          <a:prstGeom prst="rect">
            <a:avLst/>
          </a:prstGeom>
        </p:spPr>
      </p:pic>
      <p:graphicFrame>
        <p:nvGraphicFramePr>
          <p:cNvPr id="6" name="Table 5"/>
          <p:cNvGraphicFramePr>
            <a:graphicFrameLocks noGrp="1"/>
          </p:cNvGraphicFramePr>
          <p:nvPr/>
        </p:nvGraphicFramePr>
        <p:xfrm>
          <a:off x="7498079" y="1645920"/>
          <a:ext cx="4297680" cy="1371600"/>
        </p:xfrm>
        <a:graphic>
          <a:graphicData uri="http://schemas.openxmlformats.org/drawingml/2006/table">
            <a:tbl>
              <a:tblPr firstRow="1" bandRow="1">
                <a:tableStyleId>{5C22544A-7EE6-4342-B048-85BDC9FD1C3A}</a:tableStyleId>
              </a:tblPr>
              <a:tblGrid>
                <a:gridCol w="1432560"/>
                <a:gridCol w="1432560"/>
                <a:gridCol w="1432560"/>
              </a:tblGrid>
              <a:tr h="457200">
                <a:tc>
                  <a:txBody>
                    <a:bodyPr wrap="square"/>
                    <a:lstStyle/>
                    <a:p>
                      <a:pPr algn="l"/>
                      <a:r>
                        <a:rPr sz="1050" b="1">
                          <a:solidFill>
                            <a:srgbClr val="FFFFFF"/>
                          </a:solidFill>
                          <a:latin typeface="Calibri"/>
                        </a:rPr>
                        <a:t>study</a:t>
                      </a:r>
                    </a:p>
                  </a:txBody>
                  <a:tcPr marL="76200" marR="76200" marT="38100" marB="38100">
                    <a:solidFill>
                      <a:srgbClr val="0096D6"/>
                    </a:solidFill>
                  </a:tcPr>
                </a:tc>
                <a:tc>
                  <a:txBody>
                    <a:bodyPr wrap="square"/>
                    <a:lstStyle/>
                    <a:p>
                      <a:pPr algn="l"/>
                      <a:r>
                        <a:rPr sz="1050" b="1">
                          <a:solidFill>
                            <a:srgbClr val="FFFFFF"/>
                          </a:solidFill>
                          <a:latin typeface="Calibri"/>
                        </a:rPr>
                        <a:t>registered bar</a:t>
                      </a:r>
                    </a:p>
                  </a:txBody>
                  <a:tcPr marL="76200" marR="76200" marT="38100" marB="38100">
                    <a:solidFill>
                      <a:srgbClr val="0096D6"/>
                    </a:solidFill>
                  </a:tcPr>
                </a:tc>
                <a:tc>
                  <a:txBody>
                    <a:bodyPr wrap="square"/>
                    <a:lstStyle/>
                    <a:p>
                      <a:pPr algn="l"/>
                      <a:r>
                        <a:rPr sz="1050" b="1">
                          <a:solidFill>
                            <a:srgbClr val="FFFFFF"/>
                          </a:solidFill>
                          <a:latin typeface="Calibri"/>
                        </a:rPr>
                        <a:t>hotel outcome</a:t>
                      </a:r>
                    </a:p>
                  </a:txBody>
                  <a:tcPr marL="76200" marR="76200" marT="38100" marB="38100">
                    <a:solidFill>
                      <a:srgbClr val="0096D6"/>
                    </a:solidFill>
                  </a:tcPr>
                </a:tc>
              </a:tr>
              <a:tr h="457200">
                <a:tc>
                  <a:txBody>
                    <a:bodyPr wrap="square"/>
                    <a:lstStyle/>
                    <a:p>
                      <a:pPr algn="l"/>
                      <a:r>
                        <a:rPr sz="1050" b="0">
                          <a:solidFill>
                            <a:srgbClr val="FFFFFF"/>
                          </a:solidFill>
                          <a:latin typeface="Calibri"/>
                        </a:rPr>
                        <a:t>H1 dose-response</a:t>
                      </a:r>
                    </a:p>
                  </a:txBody>
                  <a:tcPr marL="76200" marR="76200" marT="38100" marB="38100">
                    <a:solidFill>
                      <a:srgbClr val="2A2A3E"/>
                    </a:solidFill>
                  </a:tcPr>
                </a:tc>
                <a:tc>
                  <a:txBody>
                    <a:bodyPr wrap="square"/>
                    <a:lstStyle/>
                    <a:p>
                      <a:pPr algn="l"/>
                      <a:r>
                        <a:rPr sz="1050" b="0">
                          <a:solidFill>
                            <a:srgbClr val="FFFFFF"/>
                          </a:solidFill>
                          <a:latin typeface="Calibri"/>
                        </a:rPr>
                        <a:t>monotone, ≥15% SESOI</a:t>
                      </a:r>
                    </a:p>
                  </a:txBody>
                  <a:tcPr marL="76200" marR="76200" marT="38100" marB="38100">
                    <a:solidFill>
                      <a:srgbClr val="2A2A3E"/>
                    </a:solidFill>
                  </a:tcPr>
                </a:tc>
                <a:tc>
                  <a:txBody>
                    <a:bodyPr wrap="square"/>
                    <a:lstStyle/>
                    <a:p>
                      <a:pPr algn="l"/>
                      <a:r>
                        <a:rPr sz="1050" b="0">
                          <a:solidFill>
                            <a:srgbClr val="FFFFFF"/>
                          </a:solidFill>
                          <a:latin typeface="Calibri"/>
                        </a:rPr>
                        <a:t>Page's L p=0.99 — NO increase</a:t>
                      </a:r>
                    </a:p>
                  </a:txBody>
                  <a:tcPr marL="76200" marR="76200" marT="38100" marB="38100">
                    <a:solidFill>
                      <a:srgbClr val="2A2A3E"/>
                    </a:solidFill>
                  </a:tcPr>
                </a:tc>
              </a:tr>
              <a:tr h="457200">
                <a:tc>
                  <a:txBody>
                    <a:bodyPr wrap="square"/>
                    <a:lstStyle/>
                    <a:p>
                      <a:pPr algn="l"/>
                      <a:r>
                        <a:rPr sz="1050" b="0">
                          <a:solidFill>
                            <a:srgbClr val="FFFFFF"/>
                          </a:solidFill>
                          <a:latin typeface="Calibri"/>
                        </a:rPr>
                        <a:t>H3 repl. rescue</a:t>
                      </a:r>
                    </a:p>
                  </a:txBody>
                  <a:tcPr marL="76200" marR="76200" marT="38100" marB="38100">
                    <a:solidFill>
                      <a:srgbClr val="2A2A3E"/>
                    </a:solidFill>
                  </a:tcPr>
                </a:tc>
                <a:tc>
                  <a:txBody>
                    <a:bodyPr wrap="square"/>
                    <a:lstStyle/>
                    <a:p>
                      <a:pPr algn="l"/>
                      <a:r>
                        <a:rPr sz="1050" b="0">
                          <a:solidFill>
                            <a:srgbClr val="FFFFFF"/>
                          </a:solidFill>
                          <a:latin typeface="Calibri"/>
                        </a:rPr>
                        <a:t>interaction + margins</a:t>
                      </a:r>
                    </a:p>
                  </a:txBody>
                  <a:tcPr marL="76200" marR="76200" marT="38100" marB="38100">
                    <a:solidFill>
                      <a:srgbClr val="2A2A3E"/>
                    </a:solidFill>
                  </a:tcPr>
                </a:tc>
                <a:tc>
                  <a:txBody>
                    <a:bodyPr wrap="square"/>
                    <a:lstStyle/>
                    <a:p>
                      <a:pPr algn="l"/>
                      <a:r>
                        <a:rPr sz="1050" b="0">
                          <a:solidFill>
                            <a:srgbClr val="FFFFFF"/>
                          </a:solidFill>
                          <a:latin typeface="Calibri"/>
                        </a:rPr>
                        <a:t>CONJUNCTION = False</a:t>
                      </a:r>
                    </a:p>
                  </a:txBody>
                  <a:tcPr marL="76200" marR="76200" marT="38100" marB="38100">
                    <a:solidFill>
                      <a:srgbClr val="2A2A3E"/>
                    </a:solidFill>
                  </a:tcPr>
                </a:tc>
              </a:tr>
            </a:tbl>
          </a:graphicData>
        </a:graphic>
      </p:graphicFrame>
      <p:sp>
        <p:nvSpPr>
          <p:cNvPr id="7" name="TextBox 6"/>
          <p:cNvSpPr txBox="1"/>
          <p:nvPr/>
        </p:nvSpPr>
        <p:spPr>
          <a:xfrm>
            <a:off x="7498079" y="3200400"/>
            <a:ext cx="4297680" cy="1783080"/>
          </a:xfrm>
          <a:prstGeom prst="rect">
            <a:avLst/>
          </a:prstGeom>
          <a:noFill/>
        </p:spPr>
        <p:txBody>
          <a:bodyPr wrap="square">
            <a:spAutoFit/>
          </a:bodyPr>
          <a:lstStyle/>
          <a:p>
            <a:pPr>
              <a:spcAft>
                <a:spcPts val="600"/>
              </a:spcAft>
              <a:defRPr sz="1400" b="1">
                <a:solidFill>
                  <a:srgbClr val="2ECC71"/>
                </a:solidFill>
                <a:latin typeface="Calibri"/>
              </a:defRPr>
            </a:pPr>
            <a:r>
              <a:t>Both arms corroborate online-boutique</a:t>
            </a:r>
          </a:p>
          <a:p>
            <a:pPr>
              <a:spcBef>
                <a:spcPts val="200"/>
              </a:spcBef>
              <a:spcAft>
                <a:spcPts val="200"/>
              </a:spcAft>
              <a:defRPr sz="1150">
                <a:solidFill>
                  <a:srgbClr val="BDBDBD"/>
                </a:solidFill>
                <a:latin typeface="Calibri"/>
              </a:defRPr>
            </a:pPr>
            <a:r>
              <a:t>• 32 sessions, all doctor --strict clean</a:t>
            </a:r>
          </a:p>
          <a:p>
            <a:pPr>
              <a:spcBef>
                <a:spcPts val="200"/>
              </a:spcBef>
              <a:spcAft>
                <a:spcPts val="200"/>
              </a:spcAft>
              <a:defRPr sz="1150">
                <a:solidFill>
                  <a:srgbClr val="BDBDBD"/>
                </a:solidFill>
                <a:latin typeface="Calibri"/>
              </a:defRPr>
            </a:pPr>
            <a:r>
              <a:t>• H1: no dose-response (tight 5–9 ms band,</a:t>
            </a:r>
          </a:p>
          <a:p>
            <a:pPr>
              <a:spcBef>
                <a:spcPts val="200"/>
              </a:spcBef>
              <a:spcAft>
                <a:spcPts val="200"/>
              </a:spcAft>
              <a:defRPr sz="1150">
                <a:solidFill>
                  <a:srgbClr val="BDBDBD"/>
                </a:solidFill>
                <a:latin typeface="Calibri"/>
              </a:defRPr>
            </a:pPr>
            <a:r>
              <a:t>   if anything a mild decrease)</a:t>
            </a:r>
          </a:p>
          <a:p>
            <a:pPr>
              <a:spcBef>
                <a:spcPts val="200"/>
              </a:spcBef>
              <a:spcAft>
                <a:spcPts val="200"/>
              </a:spcAft>
              <a:defRPr sz="1150">
                <a:solidFill>
                  <a:srgbClr val="BDBDBD"/>
                </a:solidFill>
                <a:latin typeface="Calibri"/>
              </a:defRPr>
            </a:pPr>
            <a:r>
              <a:t>• H3: significant r×mode interaction, anti-affine</a:t>
            </a:r>
          </a:p>
          <a:p>
            <a:pPr>
              <a:spcBef>
                <a:spcPts val="200"/>
              </a:spcBef>
              <a:spcAft>
                <a:spcPts val="200"/>
              </a:spcAft>
              <a:defRPr sz="1150">
                <a:solidFill>
                  <a:srgbClr val="BDBDBD"/>
                </a:solidFill>
                <a:latin typeface="Calibri"/>
              </a:defRPr>
            </a:pPr>
            <a:r>
              <a:t>   directionally best — but here NEITHER margin is</a:t>
            </a:r>
          </a:p>
          <a:p>
            <a:pPr>
              <a:spcBef>
                <a:spcPts val="200"/>
              </a:spcBef>
              <a:spcAft>
                <a:spcPts val="200"/>
              </a:spcAft>
              <a:defRPr sz="1150">
                <a:solidFill>
                  <a:srgbClr val="BDBDBD"/>
                </a:solidFill>
                <a:latin typeface="Calibri"/>
              </a:defRPr>
            </a:pPr>
            <a:r>
              <a:t>   cleared (depth 0.044, error 0.212), a broader</a:t>
            </a:r>
          </a:p>
          <a:p>
            <a:pPr>
              <a:spcBef>
                <a:spcPts val="200"/>
              </a:spcBef>
              <a:spcAft>
                <a:spcPts val="200"/>
              </a:spcAft>
              <a:defRPr sz="1150">
                <a:solidFill>
                  <a:srgbClr val="BDBDBD"/>
                </a:solidFill>
                <a:latin typeface="Calibri"/>
              </a:defRPr>
            </a:pPr>
            <a:r>
              <a:t>   miss than online-boutique's clean error rescue</a:t>
            </a:r>
          </a:p>
        </p:txBody>
      </p:sp>
      <p:sp>
        <p:nvSpPr>
          <p:cNvPr id="8" name="Rounded Rectangle 7"/>
          <p:cNvSpPr/>
          <p:nvPr/>
        </p:nvSpPr>
        <p:spPr>
          <a:xfrm>
            <a:off x="548640" y="5577840"/>
            <a:ext cx="11247120" cy="822960"/>
          </a:xfrm>
          <a:prstGeom prst="roundRect">
            <a:avLst/>
          </a:prstGeom>
          <a:solidFill>
            <a:srgbClr val="2A2A3E"/>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50992"/>
            <a:ext cx="10972800" cy="685800"/>
          </a:xfrm>
          <a:prstGeom prst="rect">
            <a:avLst/>
          </a:prstGeom>
          <a:noFill/>
        </p:spPr>
        <p:txBody>
          <a:bodyPr wrap="square">
            <a:spAutoFit/>
          </a:bodyPr>
          <a:lstStyle/>
          <a:p>
            <a:pPr algn="l">
              <a:defRPr sz="1200" b="0">
                <a:solidFill>
                  <a:srgbClr val="F0F0F8"/>
                </a:solidFill>
                <a:latin typeface="Calibri"/>
              </a:defRPr>
            </a:pPr>
            <a:r>
              <a:t>A second, structurally different workload reproduces both the below-SESOI dose-response and the conjunction-false rescue verdict: the mechanism (spreading shrinks the blast radius, speeds recovery) is robust on both applications; the strong placement and margin-clearing claims hold on neither. The strongest available evidence the finding is not an artifact of one topology. (DOI 10.5281/zenodo.20792129)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defRPr sz="3000" b="1">
                <a:solidFill>
                  <a:srgbClr val="FFFFFF"/>
                </a:solidFill>
                <a:latin typeface="Calibri"/>
              </a:defRPr>
            </a:pPr>
            <a:r>
              <a:t>Threats to Validity</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60120"/>
            <a:ext cx="11155680" cy="457200"/>
          </a:xfrm>
          <a:prstGeom prst="rect">
            <a:avLst/>
          </a:prstGeom>
          <a:noFill/>
        </p:spPr>
        <p:txBody>
          <a:bodyPr wrap="square">
            <a:spAutoFit/>
          </a:bodyPr>
          <a:lstStyle/>
          <a:p>
            <a:pPr algn="l">
              <a:defRPr sz="1500" b="0">
                <a:solidFill>
                  <a:srgbClr val="BDBDBD"/>
                </a:solidFill>
                <a:latin typeface="Calibri"/>
              </a:defRPr>
            </a:pPr>
            <a:r>
              <a:t>The boundary of every claim — stated, not hidden</a:t>
            </a:r>
          </a:p>
        </p:txBody>
      </p:sp>
      <p:sp>
        <p:nvSpPr>
          <p:cNvPr id="5" name="Rounded Rectangle 4"/>
          <p:cNvSpPr/>
          <p:nvPr/>
        </p:nvSpPr>
        <p:spPr>
          <a:xfrm>
            <a:off x="548640" y="1600200"/>
            <a:ext cx="5440680" cy="480060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37360"/>
            <a:ext cx="5029200" cy="4617720"/>
          </a:xfrm>
          <a:prstGeom prst="rect">
            <a:avLst/>
          </a:prstGeom>
          <a:noFill/>
        </p:spPr>
        <p:txBody>
          <a:bodyPr wrap="square">
            <a:spAutoFit/>
          </a:bodyPr>
          <a:lstStyle/>
          <a:p>
            <a:pPr>
              <a:spcAft>
                <a:spcPts val="600"/>
              </a:spcAft>
              <a:defRPr sz="1500" b="1">
                <a:solidFill>
                  <a:srgbClr val="F39C12"/>
                </a:solidFill>
                <a:latin typeface="Calibri"/>
              </a:defRPr>
            </a:pPr>
            <a:r>
              <a:t>What bounds the claims</a:t>
            </a:r>
          </a:p>
          <a:p>
            <a:pPr>
              <a:spcBef>
                <a:spcPts val="200"/>
              </a:spcBef>
              <a:spcAft>
                <a:spcPts val="200"/>
              </a:spcAft>
              <a:defRPr sz="1250">
                <a:solidFill>
                  <a:srgbClr val="BDBDBD"/>
                </a:solidFill>
                <a:latin typeface="Calibri"/>
              </a:defRPr>
            </a:pPr>
            <a:r>
              <a:t>• Single-replica baseline — pod-delete at r=1 is a pure</a:t>
            </a:r>
          </a:p>
          <a:p>
            <a:pPr>
              <a:spcBef>
                <a:spcPts val="200"/>
              </a:spcBef>
              <a:spcAft>
                <a:spcPts val="200"/>
              </a:spcAft>
              <a:defRPr sz="1250">
                <a:solidFill>
                  <a:srgbClr val="BDBDBD"/>
                </a:solidFill>
                <a:latin typeface="Calibri"/>
              </a:defRPr>
            </a:pPr>
            <a:r>
              <a:t>   churn fault; production runs multiple replicas. The</a:t>
            </a:r>
          </a:p>
          <a:p>
            <a:pPr>
              <a:spcBef>
                <a:spcPts val="200"/>
              </a:spcBef>
              <a:spcAft>
                <a:spcPts val="200"/>
              </a:spcAft>
              <a:defRPr sz="1250">
                <a:solidFill>
                  <a:srgbClr val="BDBDBD"/>
                </a:solidFill>
                <a:latin typeface="Calibri"/>
              </a:defRPr>
            </a:pPr>
            <a:r>
              <a:t>   design-fix (node-drain) addresses the availability axis</a:t>
            </a:r>
          </a:p>
          <a:p>
            <a:pPr>
              <a:spcBef>
                <a:spcPts val="200"/>
              </a:spcBef>
              <a:spcAft>
                <a:spcPts val="200"/>
              </a:spcAft>
              <a:defRPr sz="1250">
                <a:solidFill>
                  <a:srgbClr val="BDBDBD"/>
                </a:solidFill>
                <a:latin typeface="Calibri"/>
              </a:defRPr>
            </a:pPr>
          </a:p>
          <a:p>
            <a:pPr>
              <a:spcBef>
                <a:spcPts val="200"/>
              </a:spcBef>
              <a:spcAft>
                <a:spcPts val="200"/>
              </a:spcAft>
              <a:defRPr sz="1250">
                <a:solidFill>
                  <a:srgbClr val="BDBDBD"/>
                </a:solidFill>
                <a:latin typeface="Calibri"/>
              </a:defRPr>
            </a:pPr>
            <a:r>
              <a:t>• One workload — partly addressed: hotelReservation</a:t>
            </a:r>
          </a:p>
          <a:p>
            <a:pPr>
              <a:spcBef>
                <a:spcPts val="200"/>
              </a:spcBef>
              <a:spcAft>
                <a:spcPts val="200"/>
              </a:spcAft>
              <a:defRPr sz="1250">
                <a:solidFill>
                  <a:srgbClr val="BDBDBD"/>
                </a:solidFill>
                <a:latin typeface="Calibri"/>
              </a:defRPr>
            </a:pPr>
            <a:r>
              <a:t>   replicates both placement-bearing arms</a:t>
            </a:r>
          </a:p>
          <a:p>
            <a:pPr>
              <a:spcBef>
                <a:spcPts val="200"/>
              </a:spcBef>
              <a:spcAft>
                <a:spcPts val="200"/>
              </a:spcAft>
              <a:defRPr sz="1250">
                <a:solidFill>
                  <a:srgbClr val="BDBDBD"/>
                </a:solidFill>
                <a:latin typeface="Calibri"/>
              </a:defRPr>
            </a:pPr>
          </a:p>
          <a:p>
            <a:pPr>
              <a:spcBef>
                <a:spcPts val="200"/>
              </a:spcBef>
              <a:spcAft>
                <a:spcPts val="200"/>
              </a:spcAft>
              <a:defRPr sz="1250">
                <a:solidFill>
                  <a:srgbClr val="BDBDBD"/>
                </a:solidFill>
                <a:latin typeface="Calibri"/>
              </a:defRPr>
            </a:pPr>
            <a:r>
              <a:t>• Virtualized cluster — Vagrant/libvirt KVM; bare-metal</a:t>
            </a:r>
          </a:p>
          <a:p>
            <a:pPr>
              <a:spcBef>
                <a:spcPts val="200"/>
              </a:spcBef>
              <a:spcAft>
                <a:spcPts val="200"/>
              </a:spcAft>
              <a:defRPr sz="1250">
                <a:solidFill>
                  <a:srgbClr val="BDBDBD"/>
                </a:solidFill>
                <a:latin typeface="Calibri"/>
              </a:defRPr>
            </a:pPr>
            <a:r>
              <a:t>   I/O may differ. Conntrack is K8s-version-pinned (v1.28.6)</a:t>
            </a:r>
          </a:p>
          <a:p>
            <a:pPr>
              <a:spcBef>
                <a:spcPts val="200"/>
              </a:spcBef>
              <a:spcAft>
                <a:spcPts val="200"/>
              </a:spcAft>
              <a:defRPr sz="1250">
                <a:solidFill>
                  <a:srgbClr val="BDBDBD"/>
                </a:solidFill>
                <a:latin typeface="Calibri"/>
              </a:defRPr>
            </a:pPr>
          </a:p>
          <a:p>
            <a:pPr>
              <a:spcBef>
                <a:spcPts val="200"/>
              </a:spcBef>
              <a:spcAft>
                <a:spcPts val="200"/>
              </a:spcAft>
              <a:defRPr sz="1250">
                <a:solidFill>
                  <a:srgbClr val="BDBDBD"/>
                </a:solidFill>
                <a:latin typeface="Calibri"/>
              </a:defRPr>
            </a:pPr>
            <a:r>
              <a:t>• IPVS only — the iptables-mode direction-transfer</a:t>
            </a:r>
          </a:p>
          <a:p>
            <a:pPr>
              <a:spcBef>
                <a:spcPts val="200"/>
              </a:spcBef>
              <a:spcAft>
                <a:spcPts val="200"/>
              </a:spcAft>
              <a:defRPr sz="1250">
                <a:solidFill>
                  <a:srgbClr val="BDBDBD"/>
                </a:solidFill>
                <a:latin typeface="Calibri"/>
              </a:defRPr>
            </a:pPr>
            <a:r>
              <a:t>   comparison (H6) was de-scoped before collection</a:t>
            </a:r>
          </a:p>
          <a:p>
            <a:pPr>
              <a:spcBef>
                <a:spcPts val="200"/>
              </a:spcBef>
              <a:spcAft>
                <a:spcPts val="200"/>
              </a:spcAft>
              <a:defRPr sz="1250">
                <a:solidFill>
                  <a:srgbClr val="BDBDBD"/>
                </a:solidFill>
                <a:latin typeface="Calibri"/>
              </a:defRPr>
            </a:pPr>
          </a:p>
          <a:p>
            <a:pPr>
              <a:spcBef>
                <a:spcPts val="200"/>
              </a:spcBef>
              <a:spcAft>
                <a:spcPts val="200"/>
              </a:spcAft>
              <a:defRPr sz="1250">
                <a:solidFill>
                  <a:srgbClr val="BDBDBD"/>
                </a:solidFill>
                <a:latin typeface="Calibri"/>
              </a:defRPr>
            </a:pPr>
            <a:r>
              <a:t>• One non-blind deviation (D3) — outcome-aware taint</a:t>
            </a:r>
          </a:p>
          <a:p>
            <a:pPr>
              <a:spcBef>
                <a:spcPts val="200"/>
              </a:spcBef>
              <a:spcAft>
                <a:spcPts val="200"/>
              </a:spcAft>
              <a:defRPr sz="1250">
                <a:solidFill>
                  <a:srgbClr val="BDBDBD"/>
                </a:solidFill>
                <a:latin typeface="Calibri"/>
              </a:defRPr>
            </a:pPr>
            <a:r>
              <a:t>   withdrawal; disclosed in full, sensitivity check available</a:t>
            </a:r>
          </a:p>
        </p:txBody>
      </p:sp>
      <p:sp>
        <p:nvSpPr>
          <p:cNvPr id="7" name="Rounded Rectangle 6"/>
          <p:cNvSpPr/>
          <p:nvPr/>
        </p:nvSpPr>
        <p:spPr>
          <a:xfrm>
            <a:off x="6263640" y="1600200"/>
            <a:ext cx="5349240" cy="480060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737360"/>
            <a:ext cx="4937760" cy="4617720"/>
          </a:xfrm>
          <a:prstGeom prst="rect">
            <a:avLst/>
          </a:prstGeom>
          <a:noFill/>
        </p:spPr>
        <p:txBody>
          <a:bodyPr wrap="square">
            <a:spAutoFit/>
          </a:bodyPr>
          <a:lstStyle/>
          <a:p>
            <a:pPr>
              <a:spcAft>
                <a:spcPts val="600"/>
              </a:spcAft>
              <a:defRPr sz="1500" b="1">
                <a:solidFill>
                  <a:srgbClr val="2ECC71"/>
                </a:solidFill>
                <a:latin typeface="Calibri"/>
              </a:defRPr>
            </a:pPr>
            <a:r>
              <a:t>What protects the claims</a:t>
            </a:r>
          </a:p>
          <a:p>
            <a:pPr>
              <a:spcBef>
                <a:spcPts val="200"/>
              </a:spcBef>
              <a:spcAft>
                <a:spcPts val="200"/>
              </a:spcAft>
              <a:defRPr sz="1250">
                <a:solidFill>
                  <a:srgbClr val="BDBDBD"/>
                </a:solidFill>
                <a:latin typeface="Calibri"/>
              </a:defRPr>
            </a:pPr>
            <a:r>
              <a:t>• Pre-registration fixes the SESOIs against a measured</a:t>
            </a:r>
          </a:p>
          <a:p>
            <a:pPr>
              <a:spcBef>
                <a:spcPts val="200"/>
              </a:spcBef>
              <a:spcAft>
                <a:spcPts val="200"/>
              </a:spcAft>
              <a:defRPr sz="1250">
                <a:solidFill>
                  <a:srgbClr val="BDBDBD"/>
                </a:solidFill>
                <a:latin typeface="Calibri"/>
              </a:defRPr>
            </a:pPr>
            <a:r>
              <a:t>   noise floor BEFORE collection — no test-after-seeing-data</a:t>
            </a:r>
          </a:p>
          <a:p>
            <a:pPr>
              <a:spcBef>
                <a:spcPts val="200"/>
              </a:spcBef>
              <a:spcAft>
                <a:spcPts val="200"/>
              </a:spcAft>
              <a:defRPr sz="1250">
                <a:solidFill>
                  <a:srgbClr val="BDBDBD"/>
                </a:solidFill>
                <a:latin typeface="Calibri"/>
              </a:defRPr>
            </a:pPr>
          </a:p>
          <a:p>
            <a:pPr>
              <a:spcBef>
                <a:spcPts val="200"/>
              </a:spcBef>
              <a:spcAft>
                <a:spcPts val="200"/>
              </a:spcAft>
              <a:defRPr sz="1250">
                <a:solidFill>
                  <a:srgbClr val="BDBDBD"/>
                </a:solidFill>
                <a:latin typeface="Calibri"/>
              </a:defRPr>
            </a:pPr>
            <a:r>
              <a:t>• Holm correction across the confirmatory family</a:t>
            </a:r>
          </a:p>
          <a:p>
            <a:pPr>
              <a:spcBef>
                <a:spcPts val="200"/>
              </a:spcBef>
              <a:spcAft>
                <a:spcPts val="200"/>
              </a:spcAft>
              <a:defRPr sz="1250">
                <a:solidFill>
                  <a:srgbClr val="BDBDBD"/>
                </a:solidFill>
                <a:latin typeface="Calibri"/>
              </a:defRPr>
            </a:pPr>
          </a:p>
          <a:p>
            <a:pPr>
              <a:spcBef>
                <a:spcPts val="200"/>
              </a:spcBef>
              <a:spcAft>
                <a:spcPts val="200"/>
              </a:spcAft>
              <a:defRPr sz="1250">
                <a:solidFill>
                  <a:srgbClr val="BDBDBD"/>
                </a:solidFill>
                <a:latin typeface="Calibri"/>
              </a:defRPr>
            </a:pPr>
            <a:r>
              <a:t>• doctor --strict gate on every session; discard-not-patch</a:t>
            </a:r>
          </a:p>
          <a:p>
            <a:pPr>
              <a:spcBef>
                <a:spcPts val="200"/>
              </a:spcBef>
              <a:spcAft>
                <a:spcPts val="200"/>
              </a:spcAft>
              <a:defRPr sz="1250">
                <a:solidFill>
                  <a:srgbClr val="BDBDBD"/>
                </a:solidFill>
                <a:latin typeface="Calibri"/>
              </a:defRPr>
            </a:pPr>
          </a:p>
          <a:p>
            <a:pPr>
              <a:spcBef>
                <a:spcPts val="200"/>
              </a:spcBef>
              <a:spcAft>
                <a:spcPts val="200"/>
              </a:spcAft>
              <a:defRPr sz="1250">
                <a:solidFill>
                  <a:srgbClr val="BDBDBD"/>
                </a:solidFill>
                <a:latin typeface="Calibri"/>
              </a:defRPr>
            </a:pPr>
            <a:r>
              <a:t>• Deposit-before-analysis under DOIs; every number traces</a:t>
            </a:r>
          </a:p>
          <a:p>
            <a:pPr>
              <a:spcBef>
                <a:spcPts val="200"/>
              </a:spcBef>
              <a:spcAft>
                <a:spcPts val="200"/>
              </a:spcAft>
              <a:defRPr sz="1250">
                <a:solidFill>
                  <a:srgbClr val="BDBDBD"/>
                </a:solidFill>
                <a:latin typeface="Calibri"/>
              </a:defRPr>
            </a:pPr>
            <a:r>
              <a:t>   to a hash-stamped archived run</a:t>
            </a:r>
          </a:p>
          <a:p>
            <a:pPr>
              <a:spcBef>
                <a:spcPts val="200"/>
              </a:spcBef>
              <a:spcAft>
                <a:spcPts val="200"/>
              </a:spcAft>
              <a:defRPr sz="1250">
                <a:solidFill>
                  <a:srgbClr val="BDBDBD"/>
                </a:solidFill>
                <a:latin typeface="Calibri"/>
              </a:defRPr>
            </a:pPr>
          </a:p>
          <a:p>
            <a:pPr>
              <a:spcBef>
                <a:spcPts val="200"/>
              </a:spcBef>
              <a:spcAft>
                <a:spcPts val="200"/>
              </a:spcAft>
              <a:defRPr sz="1250">
                <a:solidFill>
                  <a:srgbClr val="BDBDBD"/>
                </a:solidFill>
                <a:latin typeface="Calibri"/>
              </a:defRPr>
            </a:pPr>
            <a:r>
              <a:t>• Dependent-vs-control route split controls the user layer</a:t>
            </a:r>
          </a:p>
          <a:p>
            <a:pPr>
              <a:spcBef>
                <a:spcPts val="200"/>
              </a:spcBef>
              <a:spcAft>
                <a:spcPts val="200"/>
              </a:spcAft>
              <a:defRPr sz="1250">
                <a:solidFill>
                  <a:srgbClr val="BDBDBD"/>
                </a:solidFill>
                <a:latin typeface="Calibri"/>
              </a:defRPr>
            </a:pPr>
            <a:r>
              <a:t>   for run-level confounds</a:t>
            </a:r>
          </a:p>
          <a:p>
            <a:pPr>
              <a:spcBef>
                <a:spcPts val="200"/>
              </a:spcBef>
              <a:spcAft>
                <a:spcPts val="200"/>
              </a:spcAft>
              <a:defRPr sz="1250">
                <a:solidFill>
                  <a:srgbClr val="BDBDBD"/>
                </a:solidFill>
                <a:latin typeface="Calibri"/>
              </a:defRPr>
            </a:pPr>
          </a:p>
          <a:p>
            <a:pPr>
              <a:spcBef>
                <a:spcPts val="200"/>
              </a:spcBef>
              <a:spcAft>
                <a:spcPts val="200"/>
              </a:spcAft>
              <a:defRPr sz="1250">
                <a:solidFill>
                  <a:srgbClr val="BDBDBD"/>
                </a:solidFill>
                <a:latin typeface="Calibri"/>
              </a:defRPr>
            </a:pPr>
            <a:r>
              <a:t>• A second workload corroborates the central finding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defRPr sz="3000" b="1">
                <a:solidFill>
                  <a:srgbClr val="FFFFFF"/>
                </a:solidFill>
                <a:latin typeface="Calibri"/>
              </a:defRPr>
            </a:pPr>
            <a:r>
              <a:t>Conclusion &amp; Future Work</a:t>
            </a:r>
          </a:p>
        </p:txBody>
      </p:sp>
      <p:sp>
        <p:nvSpPr>
          <p:cNvPr id="3" name="Rectangle 2"/>
          <p:cNvSpPr/>
          <p:nvPr/>
        </p:nvSpPr>
        <p:spPr>
          <a:xfrm>
            <a:off x="548640" y="868680"/>
            <a:ext cx="2743200" cy="38100"/>
          </a:xfrm>
          <a:prstGeom prst="rect">
            <a:avLst/>
          </a:prstGeom>
          <a:solidFill>
            <a:srgbClr val="009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60120"/>
            <a:ext cx="11155680" cy="457200"/>
          </a:xfrm>
          <a:prstGeom prst="rect">
            <a:avLst/>
          </a:prstGeom>
          <a:noFill/>
        </p:spPr>
        <p:txBody>
          <a:bodyPr wrap="square">
            <a:spAutoFit/>
          </a:bodyPr>
          <a:lstStyle/>
          <a:p>
            <a:pPr algn="l">
              <a:defRPr sz="1500" b="0">
                <a:solidFill>
                  <a:srgbClr val="BDBDBD"/>
                </a:solidFill>
                <a:latin typeface="Calibri"/>
              </a:defRPr>
            </a:pPr>
            <a:r>
              <a:t>Chaos evaluation of placement needs layered measurement, pre-registration, and provenance — not a single score</a:t>
            </a:r>
          </a:p>
        </p:txBody>
      </p:sp>
      <p:sp>
        <p:nvSpPr>
          <p:cNvPr id="5" name="Rounded Rectangle 4"/>
          <p:cNvSpPr/>
          <p:nvPr/>
        </p:nvSpPr>
        <p:spPr>
          <a:xfrm>
            <a:off x="548640" y="1554480"/>
            <a:ext cx="5486400" cy="233172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45920"/>
            <a:ext cx="5120640" cy="2194560"/>
          </a:xfrm>
          <a:prstGeom prst="rect">
            <a:avLst/>
          </a:prstGeom>
          <a:noFill/>
        </p:spPr>
        <p:txBody>
          <a:bodyPr wrap="square">
            <a:spAutoFit/>
          </a:bodyPr>
          <a:lstStyle/>
          <a:p>
            <a:pPr>
              <a:spcAft>
                <a:spcPts val="600"/>
              </a:spcAft>
              <a:defRPr sz="1500" b="1">
                <a:solidFill>
                  <a:srgbClr val="0096D6"/>
                </a:solidFill>
                <a:latin typeface="Calibri"/>
              </a:defRPr>
            </a:pPr>
            <a:r>
              <a:t>Three contributions</a:t>
            </a:r>
          </a:p>
          <a:p>
            <a:pPr>
              <a:spcBef>
                <a:spcPts val="200"/>
              </a:spcBef>
              <a:spcAft>
                <a:spcPts val="200"/>
              </a:spcAft>
              <a:defRPr sz="1250">
                <a:solidFill>
                  <a:srgbClr val="BDBDBD"/>
                </a:solidFill>
                <a:latin typeface="Calibri"/>
              </a:defRPr>
            </a:pPr>
            <a:r>
              <a:t>1. A pre-registered, provenance-gated measurement</a:t>
            </a:r>
          </a:p>
          <a:p>
            <a:pPr>
              <a:spcBef>
                <a:spcPts val="200"/>
              </a:spcBef>
              <a:spcAft>
                <a:spcPts val="200"/>
              </a:spcAft>
              <a:defRPr sz="1250">
                <a:solidFill>
                  <a:srgbClr val="BDBDBD"/>
                </a:solidFill>
                <a:latin typeface="Calibri"/>
              </a:defRPr>
            </a:pPr>
            <a:r>
              <a:t>    methodology (ChaosProbe) — reusable, outcome-</a:t>
            </a:r>
          </a:p>
          <a:p>
            <a:pPr>
              <a:spcBef>
                <a:spcPts val="200"/>
              </a:spcBef>
              <a:spcAft>
                <a:spcPts val="200"/>
              </a:spcAft>
              <a:defRPr sz="1250">
                <a:solidFill>
                  <a:srgbClr val="BDBDBD"/>
                </a:solidFill>
                <a:latin typeface="Calibri"/>
              </a:defRPr>
            </a:pPr>
            <a:r>
              <a:t>    independent</a:t>
            </a:r>
          </a:p>
          <a:p>
            <a:pPr>
              <a:spcBef>
                <a:spcPts val="200"/>
              </a:spcBef>
              <a:spcAft>
                <a:spcPts val="200"/>
              </a:spcAft>
              <a:defRPr sz="1250">
                <a:solidFill>
                  <a:srgbClr val="BDBDBD"/>
                </a:solidFill>
                <a:latin typeface="Calibri"/>
              </a:defRPr>
            </a:pPr>
            <a:r>
              <a:t>2. A positively-established, precisely-bounded mechanism</a:t>
            </a:r>
          </a:p>
          <a:p>
            <a:pPr>
              <a:spcBef>
                <a:spcPts val="200"/>
              </a:spcBef>
              <a:spcAft>
                <a:spcPts val="200"/>
              </a:spcAft>
              <a:defRPr sz="1250">
                <a:solidFill>
                  <a:srgbClr val="BDBDBD"/>
                </a:solidFill>
                <a:latin typeface="Calibri"/>
              </a:defRPr>
            </a:pPr>
            <a:r>
              <a:t>    — real conntrack signature, DNS cache removes it,</a:t>
            </a:r>
          </a:p>
          <a:p>
            <a:pPr>
              <a:spcBef>
                <a:spcPts val="200"/>
              </a:spcBef>
              <a:spcAft>
                <a:spcPts val="200"/>
              </a:spcAft>
              <a:defRPr sz="1250">
                <a:solidFill>
                  <a:srgbClr val="BDBDBD"/>
                </a:solidFill>
                <a:latin typeface="Calibri"/>
              </a:defRPr>
            </a:pPr>
            <a:r>
              <a:t>    does not reach the user at the registered bar</a:t>
            </a:r>
          </a:p>
          <a:p>
            <a:pPr>
              <a:spcBef>
                <a:spcPts val="200"/>
              </a:spcBef>
              <a:spcAft>
                <a:spcPts val="200"/>
              </a:spcAft>
              <a:defRPr sz="1250">
                <a:solidFill>
                  <a:srgbClr val="BDBDBD"/>
                </a:solidFill>
                <a:latin typeface="Calibri"/>
              </a:defRPr>
            </a:pPr>
            <a:r>
              <a:t>3. A reproducible campaign protocol with DOI-deposited</a:t>
            </a:r>
          </a:p>
          <a:p>
            <a:pPr>
              <a:spcBef>
                <a:spcPts val="200"/>
              </a:spcBef>
              <a:spcAft>
                <a:spcPts val="200"/>
              </a:spcAft>
              <a:defRPr sz="1250">
                <a:solidFill>
                  <a:srgbClr val="BDBDBD"/>
                </a:solidFill>
                <a:latin typeface="Calibri"/>
              </a:defRPr>
            </a:pPr>
            <a:r>
              <a:t>    artifacts (deposit-before-analysis)</a:t>
            </a:r>
          </a:p>
        </p:txBody>
      </p:sp>
      <p:sp>
        <p:nvSpPr>
          <p:cNvPr id="7" name="Rounded Rectangle 6"/>
          <p:cNvSpPr/>
          <p:nvPr/>
        </p:nvSpPr>
        <p:spPr>
          <a:xfrm>
            <a:off x="6217920" y="1554480"/>
            <a:ext cx="5394960" cy="233172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645920"/>
            <a:ext cx="5029200" cy="2194560"/>
          </a:xfrm>
          <a:prstGeom prst="rect">
            <a:avLst/>
          </a:prstGeom>
          <a:noFill/>
        </p:spPr>
        <p:txBody>
          <a:bodyPr wrap="square">
            <a:spAutoFit/>
          </a:bodyPr>
          <a:lstStyle/>
          <a:p>
            <a:pPr>
              <a:spcAft>
                <a:spcPts val="600"/>
              </a:spcAft>
              <a:defRPr sz="1500" b="1">
                <a:solidFill>
                  <a:srgbClr val="2ECC71"/>
                </a:solidFill>
                <a:latin typeface="Calibri"/>
              </a:defRPr>
            </a:pPr>
            <a:r>
              <a:t>Key findings</a:t>
            </a:r>
          </a:p>
          <a:p>
            <a:pPr>
              <a:spcBef>
                <a:spcPts val="200"/>
              </a:spcBef>
              <a:spcAft>
                <a:spcPts val="200"/>
              </a:spcAft>
              <a:defRPr sz="1200">
                <a:solidFill>
                  <a:srgbClr val="BDBDBD"/>
                </a:solidFill>
                <a:latin typeface="Calibri"/>
              </a:defRPr>
            </a:pPr>
            <a:r>
              <a:t>• H1: aggregate score blind; dose-response below SESOI</a:t>
            </a:r>
          </a:p>
          <a:p>
            <a:pPr>
              <a:spcBef>
                <a:spcPts val="200"/>
              </a:spcBef>
              <a:spcAft>
                <a:spcPts val="200"/>
              </a:spcAft>
              <a:defRPr sz="1200">
                <a:solidFill>
                  <a:srgbClr val="BDBDBD"/>
                </a:solidFill>
                <a:latin typeface="Calibri"/>
              </a:defRPr>
            </a:pPr>
            <a:r>
              <a:t>• H2: placement moves conntrack (reversed sign); DNS</a:t>
            </a:r>
          </a:p>
          <a:p>
            <a:pPr>
              <a:spcBef>
                <a:spcPts val="200"/>
              </a:spcBef>
              <a:spcAft>
                <a:spcPts val="200"/>
              </a:spcAft>
              <a:defRPr sz="1200">
                <a:solidFill>
                  <a:srgbClr val="BDBDBD"/>
                </a:solidFill>
                <a:latin typeface="Calibri"/>
              </a:defRPr>
            </a:pPr>
            <a:r>
              <a:t>   cache is the actionable lever</a:t>
            </a:r>
          </a:p>
          <a:p>
            <a:pPr>
              <a:spcBef>
                <a:spcPts val="200"/>
              </a:spcBef>
              <a:spcAft>
                <a:spcPts val="200"/>
              </a:spcAft>
              <a:defRPr sz="1200">
                <a:solidFill>
                  <a:srgbClr val="BDBDBD"/>
                </a:solidFill>
                <a:latin typeface="Calibri"/>
              </a:defRPr>
            </a:pPr>
            <a:r>
              <a:t>• H3: anti-affine rescues the user-error face under drain</a:t>
            </a:r>
          </a:p>
          <a:p>
            <a:pPr>
              <a:spcBef>
                <a:spcPts val="200"/>
              </a:spcBef>
              <a:spcAft>
                <a:spcPts val="200"/>
              </a:spcAft>
              <a:defRPr sz="1200">
                <a:solidFill>
                  <a:srgbClr val="BDBDBD"/>
                </a:solidFill>
                <a:latin typeface="Calibri"/>
              </a:defRPr>
            </a:pPr>
            <a:r>
              <a:t>• H5: mechanism ICC 0.994 vs naive 0.066 — audit a</a:t>
            </a:r>
          </a:p>
          <a:p>
            <a:pPr>
              <a:spcBef>
                <a:spcPts val="200"/>
              </a:spcBef>
              <a:spcAft>
                <a:spcPts val="200"/>
              </a:spcAft>
              <a:defRPr sz="1200">
                <a:solidFill>
                  <a:srgbClr val="BDBDBD"/>
                </a:solidFill>
                <a:latin typeface="Calibri"/>
              </a:defRPr>
            </a:pPr>
            <a:r>
              <a:t>   score's reliability before trusting it to rank</a:t>
            </a:r>
          </a:p>
          <a:p>
            <a:pPr>
              <a:spcBef>
                <a:spcPts val="200"/>
              </a:spcBef>
              <a:spcAft>
                <a:spcPts val="200"/>
              </a:spcAft>
              <a:defRPr sz="1200">
                <a:solidFill>
                  <a:srgbClr val="BDBDBD"/>
                </a:solidFill>
                <a:latin typeface="Calibri"/>
              </a:defRPr>
            </a:pPr>
            <a:r>
              <a:t>• Design-fix: availability bites users under node failure</a:t>
            </a:r>
          </a:p>
          <a:p>
            <a:pPr>
              <a:spcBef>
                <a:spcPts val="200"/>
              </a:spcBef>
              <a:spcAft>
                <a:spcPts val="200"/>
              </a:spcAft>
              <a:defRPr sz="1200">
                <a:solidFill>
                  <a:srgbClr val="BDBDBD"/>
                </a:solidFill>
                <a:latin typeface="Calibri"/>
              </a:defRPr>
            </a:pPr>
            <a:r>
              <a:t>   — predictable from the dependency graph</a:t>
            </a:r>
          </a:p>
        </p:txBody>
      </p:sp>
      <p:sp>
        <p:nvSpPr>
          <p:cNvPr id="9" name="Rounded Rectangle 8"/>
          <p:cNvSpPr/>
          <p:nvPr/>
        </p:nvSpPr>
        <p:spPr>
          <a:xfrm>
            <a:off x="548640" y="4069080"/>
            <a:ext cx="11064240" cy="1325880"/>
          </a:xfrm>
          <a:prstGeom prst="roundRect">
            <a:avLst/>
          </a:prstGeom>
          <a:solidFill>
            <a:srgbClr val="121222"/>
          </a:solidFill>
          <a:ln w="127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160520"/>
            <a:ext cx="10698480" cy="1188720"/>
          </a:xfrm>
          <a:prstGeom prst="rect">
            <a:avLst/>
          </a:prstGeom>
          <a:noFill/>
        </p:spPr>
        <p:txBody>
          <a:bodyPr wrap="square">
            <a:spAutoFit/>
          </a:bodyPr>
          <a:lstStyle/>
          <a:p>
            <a:pPr>
              <a:spcAft>
                <a:spcPts val="600"/>
              </a:spcAft>
              <a:defRPr sz="1500" b="1">
                <a:solidFill>
                  <a:srgbClr val="9B59B6"/>
                </a:solidFill>
                <a:latin typeface="Calibri"/>
              </a:defRPr>
            </a:pPr>
            <a:r>
              <a:t>Future work</a:t>
            </a:r>
          </a:p>
          <a:p>
            <a:pPr>
              <a:spcBef>
                <a:spcPts val="200"/>
              </a:spcBef>
              <a:spcAft>
                <a:spcPts val="200"/>
              </a:spcAft>
              <a:defRPr sz="1200">
                <a:solidFill>
                  <a:srgbClr val="BDBDBD"/>
                </a:solidFill>
                <a:latin typeface="Calibri"/>
              </a:defRPr>
            </a:pPr>
            <a:r>
              <a:t>• Replicate the family on different INFRASTRUCTURE (managed cluster, iptables/nftables proxy, bare metal)</a:t>
            </a:r>
          </a:p>
          <a:p>
            <a:pPr>
              <a:spcBef>
                <a:spcPts val="200"/>
              </a:spcBef>
              <a:spcAft>
                <a:spcPts val="200"/>
              </a:spcAft>
              <a:defRPr sz="1200">
                <a:solidFill>
                  <a:srgbClr val="BDBDBD"/>
                </a:solidFill>
                <a:latin typeface="Calibri"/>
              </a:defRPr>
            </a:pPr>
            <a:r>
              <a:t>• A rescue margin the depth face can express (relative to realized r=1 depth, or integrated depth×duration)</a:t>
            </a:r>
          </a:p>
          <a:p>
            <a:pPr>
              <a:spcBef>
                <a:spcPts val="200"/>
              </a:spcBef>
              <a:spcAft>
                <a:spcPts val="200"/>
              </a:spcAft>
              <a:defRPr sz="1200">
                <a:solidFill>
                  <a:srgbClr val="BDBDBD"/>
                </a:solidFill>
                <a:latin typeface="Calibri"/>
              </a:defRPr>
            </a:pPr>
            <a:r>
              <a:t>• Apportion the conntrack drop: kernel TCP teardown vs kube-proxy's UDP-only cleanup (composition probe)</a:t>
            </a:r>
          </a:p>
          <a:p>
            <a:pPr>
              <a:spcBef>
                <a:spcPts val="200"/>
              </a:spcBef>
              <a:spcAft>
                <a:spcPts val="200"/>
              </a:spcAft>
              <a:defRPr sz="1200">
                <a:solidFill>
                  <a:srgbClr val="BDBDBD"/>
                </a:solidFill>
                <a:latin typeface="Calibri"/>
              </a:defRPr>
            </a:pPr>
            <a:r>
              <a:t>• Integrate the cross-node fraction into a scheduler as a scoring plugin</a:t>
            </a:r>
          </a:p>
        </p:txBody>
      </p:sp>
      <p:sp>
        <p:nvSpPr>
          <p:cNvPr id="11" name="Rounded Rectangle 10"/>
          <p:cNvSpPr/>
          <p:nvPr/>
        </p:nvSpPr>
        <p:spPr>
          <a:xfrm>
            <a:off x="548640" y="5577840"/>
            <a:ext cx="11064240" cy="822960"/>
          </a:xfrm>
          <a:prstGeom prst="roundRect">
            <a:avLst/>
          </a:prstGeom>
          <a:solidFill>
            <a:srgbClr val="2A2A3E"/>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669280"/>
            <a:ext cx="10698480" cy="685800"/>
          </a:xfrm>
          <a:prstGeom prst="rect">
            <a:avLst/>
          </a:prstGeom>
          <a:noFill/>
        </p:spPr>
        <p:txBody>
          <a:bodyPr wrap="square">
            <a:spAutoFit/>
          </a:bodyPr>
          <a:lstStyle/>
          <a:p>
            <a:pPr algn="l">
              <a:defRPr sz="1300" b="1">
                <a:solidFill>
                  <a:srgbClr val="F0F0F8"/>
                </a:solidFill>
                <a:latin typeface="Calibri"/>
              </a:defRPr>
            </a:pPr>
            <a:r>
              <a:t>A single score is blind to placement (H1). Placement acts at the mechanism layer (H2) without reaching the user (H3); where it does reach users is availability under node failure — predictably, from the dependency graph (design-fix). A real mechanism, rigorously bounded in reach.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1B2F"/>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spAutoFit/>
          </a:bodyPr>
          <a:lstStyle/>
          <a:p>
            <a:pPr algn="ctr">
              <a:defRPr sz="5200" b="1">
                <a:solidFill>
                  <a:srgbClr val="0096D6"/>
                </a:solidFill>
                <a:latin typeface="Calibri"/>
              </a:defRPr>
            </a:pPr>
            <a:r>
              <a:t>Thank You</a:t>
            </a:r>
          </a:p>
        </p:txBody>
      </p:sp>
      <p:sp>
        <p:nvSpPr>
          <p:cNvPr id="3" name="TextBox 2"/>
          <p:cNvSpPr txBox="1"/>
          <p:nvPr/>
        </p:nvSpPr>
        <p:spPr>
          <a:xfrm>
            <a:off x="548640" y="3017520"/>
            <a:ext cx="11064240" cy="548640"/>
          </a:xfrm>
          <a:prstGeom prst="rect">
            <a:avLst/>
          </a:prstGeom>
          <a:noFill/>
        </p:spPr>
        <p:txBody>
          <a:bodyPr wrap="square">
            <a:spAutoFit/>
          </a:bodyPr>
          <a:lstStyle/>
          <a:p>
            <a:pPr algn="ctr">
              <a:defRPr sz="2600" b="0">
                <a:solidFill>
                  <a:srgbClr val="BDBDBD"/>
                </a:solidFill>
                <a:latin typeface="Calibri"/>
              </a:defRPr>
            </a:pPr>
            <a:r>
              <a:t>Questions?</a:t>
            </a:r>
          </a:p>
        </p:txBody>
      </p:sp>
      <p:sp>
        <p:nvSpPr>
          <p:cNvPr id="4" name="Rounded Rectangle 3"/>
          <p:cNvSpPr/>
          <p:nvPr/>
        </p:nvSpPr>
        <p:spPr>
          <a:xfrm>
            <a:off x="1371600" y="4206240"/>
            <a:ext cx="2194560" cy="1280160"/>
          </a:xfrm>
          <a:prstGeom prst="roundRect">
            <a:avLst/>
          </a:prstGeom>
          <a:solidFill>
            <a:srgbClr val="121222"/>
          </a:solidFill>
          <a:ln w="12700">
            <a:solidFill>
              <a:srgbClr val="0096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4343400"/>
            <a:ext cx="2194560" cy="548640"/>
          </a:xfrm>
          <a:prstGeom prst="rect">
            <a:avLst/>
          </a:prstGeom>
          <a:noFill/>
        </p:spPr>
        <p:txBody>
          <a:bodyPr wrap="square">
            <a:spAutoFit/>
          </a:bodyPr>
          <a:lstStyle/>
          <a:p>
            <a:pPr algn="ctr">
              <a:defRPr sz="3000" b="1">
                <a:solidFill>
                  <a:srgbClr val="0096D6"/>
                </a:solidFill>
                <a:latin typeface="Calibri"/>
              </a:defRPr>
            </a:pPr>
            <a:r>
              <a:t>3</a:t>
            </a:r>
          </a:p>
        </p:txBody>
      </p:sp>
      <p:sp>
        <p:nvSpPr>
          <p:cNvPr id="6" name="TextBox 5"/>
          <p:cNvSpPr txBox="1"/>
          <p:nvPr/>
        </p:nvSpPr>
        <p:spPr>
          <a:xfrm>
            <a:off x="1371600" y="4983480"/>
            <a:ext cx="2194560" cy="457200"/>
          </a:xfrm>
          <a:prstGeom prst="rect">
            <a:avLst/>
          </a:prstGeom>
          <a:noFill/>
        </p:spPr>
        <p:txBody>
          <a:bodyPr wrap="square">
            <a:spAutoFit/>
          </a:bodyPr>
          <a:lstStyle/>
          <a:p>
            <a:pPr algn="ctr">
              <a:defRPr sz="1150" b="0">
                <a:solidFill>
                  <a:srgbClr val="BDBDBD"/>
                </a:solidFill>
                <a:latin typeface="Calibri"/>
              </a:defRPr>
            </a:pPr>
            <a:r>
              <a:t>pre-registered</a:t>
            </a:r>
            <a:br/>
            <a:r>
              <a:t>campaigns</a:t>
            </a:r>
          </a:p>
        </p:txBody>
      </p:sp>
      <p:sp>
        <p:nvSpPr>
          <p:cNvPr id="7" name="Rounded Rectangle 6"/>
          <p:cNvSpPr/>
          <p:nvPr/>
        </p:nvSpPr>
        <p:spPr>
          <a:xfrm>
            <a:off x="3749039" y="4206240"/>
            <a:ext cx="2194560" cy="1280160"/>
          </a:xfrm>
          <a:prstGeom prst="roundRect">
            <a:avLst/>
          </a:prstGeom>
          <a:solidFill>
            <a:srgbClr val="121222"/>
          </a:solidFill>
          <a:ln w="12700">
            <a:solidFill>
              <a:srgbClr val="2EC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49039" y="4343400"/>
            <a:ext cx="2194560" cy="548640"/>
          </a:xfrm>
          <a:prstGeom prst="rect">
            <a:avLst/>
          </a:prstGeom>
          <a:noFill/>
        </p:spPr>
        <p:txBody>
          <a:bodyPr wrap="square">
            <a:spAutoFit/>
          </a:bodyPr>
          <a:lstStyle/>
          <a:p>
            <a:pPr algn="ctr">
              <a:defRPr sz="3000" b="1">
                <a:solidFill>
                  <a:srgbClr val="2ECC71"/>
                </a:solidFill>
                <a:latin typeface="Calibri"/>
              </a:defRPr>
            </a:pPr>
            <a:r>
              <a:t>46</a:t>
            </a:r>
          </a:p>
        </p:txBody>
      </p:sp>
      <p:sp>
        <p:nvSpPr>
          <p:cNvPr id="9" name="TextBox 8"/>
          <p:cNvSpPr txBox="1"/>
          <p:nvPr/>
        </p:nvSpPr>
        <p:spPr>
          <a:xfrm>
            <a:off x="3749039" y="4983480"/>
            <a:ext cx="2194560" cy="457200"/>
          </a:xfrm>
          <a:prstGeom prst="rect">
            <a:avLst/>
          </a:prstGeom>
          <a:noFill/>
        </p:spPr>
        <p:txBody>
          <a:bodyPr wrap="square">
            <a:spAutoFit/>
          </a:bodyPr>
          <a:lstStyle/>
          <a:p>
            <a:pPr algn="ctr">
              <a:defRPr sz="1150" b="0">
                <a:solidFill>
                  <a:srgbClr val="BDBDBD"/>
                </a:solidFill>
                <a:latin typeface="Calibri"/>
              </a:defRPr>
            </a:pPr>
            <a:r>
              <a:t>doctor-strict</a:t>
            </a:r>
            <a:br/>
            <a:r>
              <a:t>sessions</a:t>
            </a:r>
          </a:p>
        </p:txBody>
      </p:sp>
      <p:sp>
        <p:nvSpPr>
          <p:cNvPr id="10" name="Rounded Rectangle 9"/>
          <p:cNvSpPr/>
          <p:nvPr/>
        </p:nvSpPr>
        <p:spPr>
          <a:xfrm>
            <a:off x="6126479" y="4206240"/>
            <a:ext cx="2194560" cy="1280160"/>
          </a:xfrm>
          <a:prstGeom prst="roundRect">
            <a:avLst/>
          </a:prstGeom>
          <a:solidFill>
            <a:srgbClr val="12122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79" y="4343400"/>
            <a:ext cx="2194560" cy="548640"/>
          </a:xfrm>
          <a:prstGeom prst="rect">
            <a:avLst/>
          </a:prstGeom>
          <a:noFill/>
        </p:spPr>
        <p:txBody>
          <a:bodyPr wrap="square">
            <a:spAutoFit/>
          </a:bodyPr>
          <a:lstStyle/>
          <a:p>
            <a:pPr algn="ctr">
              <a:defRPr sz="3000" b="1">
                <a:solidFill>
                  <a:srgbClr val="F39C12"/>
                </a:solidFill>
                <a:latin typeface="Calibri"/>
              </a:defRPr>
            </a:pPr>
            <a:r>
              <a:t>0</a:t>
            </a:r>
          </a:p>
        </p:txBody>
      </p:sp>
      <p:sp>
        <p:nvSpPr>
          <p:cNvPr id="12" name="TextBox 11"/>
          <p:cNvSpPr txBox="1"/>
          <p:nvPr/>
        </p:nvSpPr>
        <p:spPr>
          <a:xfrm>
            <a:off x="6126479" y="4983480"/>
            <a:ext cx="2194560" cy="457200"/>
          </a:xfrm>
          <a:prstGeom prst="rect">
            <a:avLst/>
          </a:prstGeom>
          <a:noFill/>
        </p:spPr>
        <p:txBody>
          <a:bodyPr wrap="square">
            <a:spAutoFit/>
          </a:bodyPr>
          <a:lstStyle/>
          <a:p>
            <a:pPr algn="ctr">
              <a:defRPr sz="1150" b="0">
                <a:solidFill>
                  <a:srgbClr val="BDBDBD"/>
                </a:solidFill>
                <a:latin typeface="Calibri"/>
              </a:defRPr>
            </a:pPr>
            <a:r>
              <a:t>hypotheses supported</a:t>
            </a:r>
            <a:br/>
            <a:r>
              <a:t>(mechanism real)</a:t>
            </a:r>
          </a:p>
        </p:txBody>
      </p:sp>
      <p:sp>
        <p:nvSpPr>
          <p:cNvPr id="13" name="Rounded Rectangle 12"/>
          <p:cNvSpPr/>
          <p:nvPr/>
        </p:nvSpPr>
        <p:spPr>
          <a:xfrm>
            <a:off x="8503919" y="4206240"/>
            <a:ext cx="2194560" cy="1280160"/>
          </a:xfrm>
          <a:prstGeom prst="roundRect">
            <a:avLst/>
          </a:prstGeom>
          <a:solidFill>
            <a:srgbClr val="121222"/>
          </a:solidFill>
          <a:ln w="1270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3919" y="4343400"/>
            <a:ext cx="2194560" cy="548640"/>
          </a:xfrm>
          <a:prstGeom prst="rect">
            <a:avLst/>
          </a:prstGeom>
          <a:noFill/>
        </p:spPr>
        <p:txBody>
          <a:bodyPr wrap="square">
            <a:spAutoFit/>
          </a:bodyPr>
          <a:lstStyle/>
          <a:p>
            <a:pPr algn="ctr">
              <a:defRPr sz="3000" b="1">
                <a:solidFill>
                  <a:srgbClr val="9B59B6"/>
                </a:solidFill>
                <a:latin typeface="Calibri"/>
              </a:defRPr>
            </a:pPr>
            <a:r>
              <a:t>0.994</a:t>
            </a:r>
          </a:p>
        </p:txBody>
      </p:sp>
      <p:sp>
        <p:nvSpPr>
          <p:cNvPr id="15" name="TextBox 14"/>
          <p:cNvSpPr txBox="1"/>
          <p:nvPr/>
        </p:nvSpPr>
        <p:spPr>
          <a:xfrm>
            <a:off x="8503919" y="4983480"/>
            <a:ext cx="2194560" cy="457200"/>
          </a:xfrm>
          <a:prstGeom prst="rect">
            <a:avLst/>
          </a:prstGeom>
          <a:noFill/>
        </p:spPr>
        <p:txBody>
          <a:bodyPr wrap="square">
            <a:spAutoFit/>
          </a:bodyPr>
          <a:lstStyle/>
          <a:p>
            <a:pPr algn="ctr">
              <a:defRPr sz="1150" b="0">
                <a:solidFill>
                  <a:srgbClr val="BDBDBD"/>
                </a:solidFill>
                <a:latin typeface="Calibri"/>
              </a:defRPr>
            </a:pPr>
            <a:r>
              <a:t>mechanism ICC</a:t>
            </a:r>
            <a:br/>
            <a:r>
              <a:t>vs 0.066 naive</a:t>
            </a:r>
          </a:p>
        </p:txBody>
      </p:sp>
      <p:sp>
        <p:nvSpPr>
          <p:cNvPr id="16" name="TextBox 15"/>
          <p:cNvSpPr txBox="1"/>
          <p:nvPr/>
        </p:nvSpPr>
        <p:spPr>
          <a:xfrm>
            <a:off x="548640" y="5943600"/>
            <a:ext cx="11064240" cy="365760"/>
          </a:xfrm>
          <a:prstGeom prst="rect">
            <a:avLst/>
          </a:prstGeom>
          <a:noFill/>
        </p:spPr>
        <p:txBody>
          <a:bodyPr wrap="square">
            <a:spAutoFit/>
          </a:bodyPr>
          <a:lstStyle/>
          <a:p>
            <a:pPr algn="ctr">
              <a:defRPr sz="1200" b="0">
                <a:solidFill>
                  <a:srgbClr val="9090A0"/>
                </a:solidFill>
                <a:latin typeface="Calibri"/>
              </a:defRPr>
            </a:pPr>
            <a:r>
              <a:t>Raw data, pre-registration, and analysis code deposited under DOIs · every number traces to an archived 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