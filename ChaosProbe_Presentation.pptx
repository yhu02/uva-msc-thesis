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65176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96D6"/>
                </a:solidFill>
                <a:latin typeface="Calibri"/>
              </a:defRPr>
            </a:pPr>
            <a:r>
              <a:t>Automated Kubernetes Chaos Testing with AI-Consumable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47472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8404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DBDBD"/>
                </a:solidFill>
                <a:latin typeface="Calibri"/>
              </a:defRPr>
            </a:pPr>
            <a:r>
              <a:t>MSc Thesis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C6C7A"/>
                </a:solidFill>
                <a:latin typeface="Calibri"/>
              </a:defRPr>
            </a:pPr>
            <a:r>
              <a:t>April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5120640"/>
            <a:ext cx="1645920" cy="82296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5120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6D6"/>
                </a:solidFill>
                <a:latin typeface="Calibri"/>
              </a:defRPr>
            </a:pPr>
            <a:r>
              <a:t>19,262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5532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Lines of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5120640"/>
            <a:ext cx="1645920" cy="82296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5120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6D6"/>
                </a:solidFill>
                <a:latin typeface="Calibri"/>
              </a:defRPr>
            </a:pPr>
            <a:r>
              <a:t>504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5532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Unit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5120640"/>
            <a:ext cx="1645920" cy="82296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5120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6D6"/>
                </a:solidFill>
                <a:latin typeface="Calibri"/>
              </a:defRPr>
            </a:pPr>
            <a:r>
              <a:t>63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5532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Source Files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5359" y="5120640"/>
            <a:ext cx="1645920" cy="82296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59" y="5120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6D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59" y="5532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Strategies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Context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E74C3C"/>
                </a:solidFill>
                <a:latin typeface="Calibri"/>
              </a:defRPr>
            </a:pPr>
            <a:r>
              <a:t>Problem Statement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BDBDBD"/>
                </a:solidFill>
                <a:latin typeface="Calibri"/>
              </a:defRPr>
            </a:pPr>
            <a:r>
              <a:t>• Microservice resilience depends on pod placement,</a:t>
            </a:r>
            <a:br/>
            <a:r>
              <a:t>  but Kubernetes' default scheduler is topology-unaware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BDBDBD"/>
                </a:solidFill>
                <a:latin typeface="Calibri"/>
              </a:defRPr>
            </a:pPr>
            <a:r>
              <a:t>• Recovery time, inter-service latency, and I/O throughput</a:t>
            </a:r>
            <a:br/>
            <a:r>
              <a:t>  all degrade under node resource contention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BDBDBD"/>
                </a:solidFill>
                <a:latin typeface="Calibri"/>
              </a:defRPr>
            </a:pPr>
            <a:r>
              <a:t>• Existing chaos tools lack structured, ML-ready output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BDBDBD"/>
                </a:solidFill>
                <a:latin typeface="Calibri"/>
              </a:defRPr>
            </a:pPr>
            <a:r>
              <a:t>• No feedback loop: test → diagnose → fix → re-test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ECC71"/>
                </a:solidFill>
                <a:latin typeface="Calibri"/>
              </a:defRPr>
            </a:pPr>
            <a:r>
              <a:t>Core Hypothesis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BDBDBD"/>
                </a:solidFill>
                <a:latin typeface="Calibri"/>
              </a:defRPr>
            </a:pPr>
            <a:r>
              <a:t>• Microservice resilience under chaos varies with</a:t>
            </a:r>
            <a:br/>
            <a:r>
              <a:t>  placement due to node resource contention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BDBDBD"/>
                </a:solidFill>
                <a:latin typeface="Calibri"/>
              </a:defRPr>
            </a:pPr>
            <a:r>
              <a:t>• Affected dimensions: pod recovery time, inter-service</a:t>
            </a:r>
            <a:br/>
            <a:r>
              <a:t>  latency, Redis/disk I/O, CPU/memory, cascade depth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BDBDBD"/>
                </a:solidFill>
                <a:latin typeface="Calibri"/>
              </a:defRPr>
            </a:pPr>
            <a:r>
              <a:t>• Structured output enables AI-driven root cause</a:t>
            </a:r>
            <a:br/>
            <a:r>
              <a:t>  analysis and autonomous remediation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400">
                <a:solidFill>
                  <a:srgbClr val="BDBDBD"/>
                </a:solidFill>
                <a:latin typeface="Calibri"/>
              </a:defRPr>
            </a:pPr>
            <a:r>
              <a:t>• Graph storage preserves causal relationships</a:t>
            </a:r>
            <a:br/>
            <a:r>
              <a:t>  lost in flat metrics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84632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892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578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DBDBD"/>
                </a:solidFill>
                <a:latin typeface="Calibri"/>
              </a:defRPr>
            </a:pPr>
            <a:r>
              <a:t>Deploy → Mutate Placement → Inject Chaos → Collect Multi-Signal Telemetry → Store in Neo4j Graph → AI Reads &amp; Diagnoses → Fix Manifests → Re-Run &amp; Compare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13716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3498DB"/>
                </a:solidFill>
                <a:latin typeface="Calibri"/>
              </a:defRPr>
            </a:pPr>
            <a:r>
              <a:t>CLI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22860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ABC9C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3291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Core Engines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42976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 &amp;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5303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9B59B6"/>
                </a:solidFill>
                <a:latin typeface="Calibri"/>
              </a:defRPr>
            </a:pPr>
            <a:r>
              <a:t>Storage &amp; Output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1325880"/>
            <a:ext cx="155448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chaosprobe init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1325880"/>
            <a:ext cx="155448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chaosprobe 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1325880"/>
            <a:ext cx="155448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chaosprobe delete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325880"/>
            <a:ext cx="155448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chaosprobe graph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325880"/>
            <a:ext cx="155448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chaosprobe visualize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2194560"/>
            <a:ext cx="1371600" cy="5486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Preflight</a:t>
            </a:r>
            <a:br/>
            <a:r>
              <a:t>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2194560"/>
            <a:ext cx="1371600" cy="5486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Strategy</a:t>
            </a:r>
            <a:br/>
            <a:r>
              <a:t>Runner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2194560"/>
            <a:ext cx="1371600" cy="5486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Run Phases</a:t>
            </a:r>
            <a:br/>
            <a:r>
              <a:t>Orchestrator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2194560"/>
            <a:ext cx="1371600" cy="5486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Prober</a:t>
            </a:r>
            <a:br/>
            <a:r>
              <a:t>Manager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60" y="2194560"/>
            <a:ext cx="1371600" cy="5486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Port-Forward</a:t>
            </a:r>
            <a:br/>
            <a:r>
              <a:t>Lifecycle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3200400"/>
            <a:ext cx="1097280" cy="5486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Config</a:t>
            </a:r>
            <a:br/>
            <a:r>
              <a:t>Loader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3200400"/>
            <a:ext cx="1097280" cy="5486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Topology</a:t>
            </a:r>
            <a:br/>
            <a:r>
              <a:t>Parser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3200400"/>
            <a:ext cx="1097280" cy="5486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3200400"/>
            <a:ext cx="1097280" cy="5486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Chaos</a:t>
            </a:r>
            <a:br/>
            <a:r>
              <a:t>Runner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3200400"/>
            <a:ext cx="1097280" cy="5486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Load</a:t>
            </a:r>
            <a:br/>
            <a:r>
              <a:t>Generator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3200400"/>
            <a:ext cx="1097280" cy="5486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Result</a:t>
            </a:r>
            <a:br/>
            <a:r>
              <a:t>Collector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0" y="3200400"/>
            <a:ext cx="1097280" cy="5486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Probe</a:t>
            </a:r>
            <a:br/>
            <a:r>
              <a:t>Builder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28800" y="4206240"/>
            <a:ext cx="1097280" cy="5486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Recovery</a:t>
            </a:r>
            <a:br/>
            <a:r>
              <a:t>Watcher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0" y="4206240"/>
            <a:ext cx="1097280" cy="5486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Latency</a:t>
            </a:r>
            <a:br/>
            <a:r>
              <a:t>Prober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4206240"/>
            <a:ext cx="1097280" cy="5486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Resource</a:t>
            </a:r>
            <a:br/>
            <a:r>
              <a:t>Prober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0" y="4206240"/>
            <a:ext cx="1097280" cy="5486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Prometheus</a:t>
            </a:r>
            <a:br/>
            <a:r>
              <a:t>Prober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4206240"/>
            <a:ext cx="1097280" cy="5486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Redis/Disk</a:t>
            </a:r>
            <a:br/>
            <a:r>
              <a:t>Prober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4206240"/>
            <a:ext cx="1097280" cy="5486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Anomaly</a:t>
            </a:r>
            <a:br/>
            <a:r>
              <a:t>Labels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4206240"/>
            <a:ext cx="1097280" cy="5486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Cascade</a:t>
            </a:r>
            <a:br/>
            <a:r>
              <a:t>Detection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0" y="5212080"/>
            <a:ext cx="1371600" cy="5486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Neo4j Graph</a:t>
            </a:r>
            <a:br/>
            <a:r>
              <a:t>Store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0" y="5212080"/>
            <a:ext cx="1371600" cy="5486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ML Export</a:t>
            </a:r>
            <a:br/>
            <a:r>
              <a:t>(CSV/Parquet)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0" y="5212080"/>
            <a:ext cx="1371600" cy="5486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Chart</a:t>
            </a:r>
            <a:br/>
            <a:r>
              <a:t>Generator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0" y="5212080"/>
            <a:ext cx="1371600" cy="5486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HTML</a:t>
            </a:r>
            <a:br/>
            <a:r>
              <a:t>Report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01200" y="5212080"/>
            <a:ext cx="1371600" cy="54864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AI Analysis</a:t>
            </a:r>
            <a:br/>
            <a:r>
              <a:t>Pipeline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743200" y="1737360"/>
            <a:ext cx="0" cy="45720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743200" y="2743200"/>
            <a:ext cx="0" cy="45720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743200" y="3749039"/>
            <a:ext cx="0" cy="457201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743200" y="4754880"/>
            <a:ext cx="0" cy="45720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572000" y="1737360"/>
            <a:ext cx="0" cy="45720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572000" y="2743200"/>
            <a:ext cx="0" cy="45720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572000" y="3749039"/>
            <a:ext cx="0" cy="457201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572000" y="4754880"/>
            <a:ext cx="0" cy="45720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400800" y="1737360"/>
            <a:ext cx="0" cy="45720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00800" y="2743200"/>
            <a:ext cx="0" cy="45720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400800" y="3749039"/>
            <a:ext cx="0" cy="457201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400800" y="4754880"/>
            <a:ext cx="0" cy="45720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229600" y="1737360"/>
            <a:ext cx="0" cy="45720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229600" y="2743200"/>
            <a:ext cx="0" cy="45720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229600" y="3749039"/>
            <a:ext cx="0" cy="457201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229600" y="4754880"/>
            <a:ext cx="0" cy="45720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74320" y="6263640"/>
            <a:ext cx="182880" cy="1828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62453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CLI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828800" y="6263640"/>
            <a:ext cx="182880" cy="1828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62453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83279" y="6263640"/>
            <a:ext cx="182880" cy="1828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11879" y="62453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Core Engines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59" y="6263640"/>
            <a:ext cx="182880" cy="1828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166359" y="62453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Metrics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92240" y="6263640"/>
            <a:ext cx="182880" cy="18288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20840" y="62453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Storage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046720" y="6263640"/>
            <a:ext cx="182880" cy="1828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75320" y="62453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601200" y="6263640"/>
            <a:ext cx="182880" cy="18288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29800" y="624535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AI Pipeline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Infrastructure &amp; Cluster Topology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1106424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6C6C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DBDBD"/>
                </a:solidFill>
                <a:latin typeface="Calibri"/>
              </a:defRPr>
            </a:pPr>
            <a:r>
              <a:t>Proxmox Host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2286000" cy="164592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96D6"/>
                </a:solidFill>
                <a:latin typeface="Calibri"/>
              </a:defRPr>
            </a:pPr>
            <a:r>
              <a:t>  cp1 — Control Plane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2103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900">
                <a:solidFill>
                  <a:srgbClr val="BDBDBD"/>
                </a:solidFill>
                <a:latin typeface="Calibri"/>
              </a:defRPr>
            </a:pPr>
            <a:r>
              <a:t>  2 vCPU  •  2 GiB RAM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>
                <a:solidFill>
                  <a:srgbClr val="BDBDBD"/>
                </a:solidFill>
                <a:latin typeface="Calibri"/>
              </a:defRPr>
            </a:pPr>
            <a:r>
              <a:t>  K8s API Server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>
                <a:solidFill>
                  <a:srgbClr val="BDBDBD"/>
                </a:solidFill>
                <a:latin typeface="Calibri"/>
              </a:defRPr>
            </a:pPr>
            <a:r>
              <a:t>  etcd, scheduler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>
                <a:solidFill>
                  <a:srgbClr val="BDBDBD"/>
                </a:solidFill>
                <a:latin typeface="Calibri"/>
              </a:defRPr>
            </a:pPr>
            <a:r>
              <a:t>  controller-manager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011680"/>
            <a:ext cx="1828800" cy="164592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Calibri"/>
              </a:defRPr>
            </a:pPr>
            <a:r>
              <a:t>  worker1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33172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900">
                <a:solidFill>
                  <a:srgbClr val="BDBDBD"/>
                </a:solidFill>
                <a:latin typeface="Calibri"/>
              </a:defRPr>
            </a:pPr>
            <a:r>
              <a:t>  2 vCPU  •  2 GiB RAM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>
                <a:solidFill>
                  <a:srgbClr val="BDBDBD"/>
                </a:solidFill>
                <a:latin typeface="Calibri"/>
              </a:defRPr>
            </a:pPr>
            <a:r>
              <a:t>  containerd 1.7.11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>
                <a:solidFill>
                  <a:srgbClr val="BDBDBD"/>
                </a:solidFill>
                <a:latin typeface="Calibri"/>
              </a:defRPr>
            </a:pPr>
            <a:r>
              <a:t>  K8s v1.28.6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2011680"/>
            <a:ext cx="1828800" cy="164592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Calibri"/>
              </a:defRPr>
            </a:pPr>
            <a:r>
              <a:t>  worker2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79" y="233172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900">
                <a:solidFill>
                  <a:srgbClr val="BDBDBD"/>
                </a:solidFill>
                <a:latin typeface="Calibri"/>
              </a:defRPr>
            </a:pPr>
            <a:r>
              <a:t>  2 vCPU  •  2 GiB RAM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>
                <a:solidFill>
                  <a:srgbClr val="BDBDBD"/>
                </a:solidFill>
                <a:latin typeface="Calibri"/>
              </a:defRPr>
            </a:pPr>
            <a:r>
              <a:t>  containerd 1.7.11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>
                <a:solidFill>
                  <a:srgbClr val="BDBDBD"/>
                </a:solidFill>
                <a:latin typeface="Calibri"/>
              </a:defRPr>
            </a:pPr>
            <a:r>
              <a:t>  K8s v1.28.6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2011680"/>
            <a:ext cx="1828800" cy="164592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Calibri"/>
              </a:defRPr>
            </a:pPr>
            <a:r>
              <a:t>  worker3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3172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900">
                <a:solidFill>
                  <a:srgbClr val="BDBDBD"/>
                </a:solidFill>
                <a:latin typeface="Calibri"/>
              </a:defRPr>
            </a:pPr>
            <a:r>
              <a:t>  2 vCPU  •  4 GiB RAM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>
                <a:solidFill>
                  <a:srgbClr val="BDBDBD"/>
                </a:solidFill>
                <a:latin typeface="Calibri"/>
              </a:defRPr>
            </a:pPr>
            <a:r>
              <a:t>  containerd 1.7.11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>
                <a:solidFill>
                  <a:srgbClr val="BDBDBD"/>
                </a:solidFill>
                <a:latin typeface="Calibri"/>
              </a:defRPr>
            </a:pPr>
            <a:r>
              <a:t>  K8s v1.28.6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75520" y="2011680"/>
            <a:ext cx="1828800" cy="164592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011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Calibri"/>
              </a:defRPr>
            </a:pPr>
            <a:r>
              <a:t>  worker4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3172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900">
                <a:solidFill>
                  <a:srgbClr val="BDBDBD"/>
                </a:solidFill>
                <a:latin typeface="Calibri"/>
              </a:defRPr>
            </a:pPr>
            <a:r>
              <a:t>  2 vCPU  •  4 GiB RAM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>
                <a:solidFill>
                  <a:srgbClr val="BDBDBD"/>
                </a:solidFill>
                <a:latin typeface="Calibri"/>
              </a:defRPr>
            </a:pPr>
            <a:r>
              <a:t>  containerd 1.7.11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900">
                <a:solidFill>
                  <a:srgbClr val="BDBDBD"/>
                </a:solidFill>
                <a:latin typeface="Calibri"/>
              </a:defRPr>
            </a:pPr>
            <a:r>
              <a:t>  K8s v1.28.6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862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Installed Infrastructure Components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31520" y="4251960"/>
          <a:ext cx="10515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00445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Namespace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litmus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ChaosCenter (frontend, server, auth, MongoDB)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Helm chart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litmus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Litmus-core operator + CRDs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Helm chart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monitoring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Prometheus + kube-state-metrics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Helm chart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neo4j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Neo4j 5-community (512–768Mi)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K8s Deployment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kube-system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metrics-server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Official manifest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004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online-boutique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subscriber, chaos-operator, exporter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ChaosCenter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 Lifecycle — Data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463040"/>
            <a:ext cx="1737360" cy="146304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463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830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Parse Topology</a:t>
            </a:r>
            <a:br/>
            <a:r>
              <a:t>Validate Specs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1463040"/>
            <a:ext cx="1737360" cy="146304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20" y="1463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2. Pre-flight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7830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Check Nodes</a:t>
            </a:r>
            <a:br/>
            <a:r>
              <a:t>Clean Stale CRDs</a:t>
            </a:r>
            <a:br/>
            <a:r>
              <a:t>Port-Forward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63040"/>
            <a:ext cx="1737360" cy="146304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463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3. Placement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7830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  <a:br/>
            <a:r>
              <a:t>Wait Rollout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1737360" cy="146304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63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4. Chaos +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7830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Run ChaosEngine</a:t>
            </a:r>
            <a:br/>
            <a:r>
              <a:t>Collect Telemetry</a:t>
            </a:r>
            <a:br/>
            <a:r>
              <a:t>Phase Markers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463040"/>
            <a:ext cx="1737360" cy="146304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463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5. Collect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7830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Results CRDs</a:t>
            </a:r>
            <a:br/>
            <a:r>
              <a:t>Recovery Cycles</a:t>
            </a:r>
            <a:br/>
            <a:r>
              <a:t>Anomaly Labels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32720" y="1463040"/>
            <a:ext cx="1737360" cy="146304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78440" y="1463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6. Store &amp; 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1783080"/>
            <a:ext cx="1554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Sync to Neo4j</a:t>
            </a:r>
            <a:br/>
            <a:r>
              <a:t>ML Export</a:t>
            </a:r>
            <a:br/>
            <a:r>
              <a:t>Charts + HTML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011679" y="2194560"/>
            <a:ext cx="274321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35040" y="21945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46720" y="21945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058400" y="21945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74320" y="3291840"/>
            <a:ext cx="11612880" cy="3200400"/>
          </a:xfrm>
          <a:prstGeom prst="roundRect">
            <a:avLst/>
          </a:prstGeom>
          <a:solidFill>
            <a:srgbClr val="121222"/>
          </a:solidFill>
          <a:ln w="1905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337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Strategy Loop — For each of 6 strategies × N iterations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931920"/>
            <a:ext cx="1280160" cy="73152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Settle</a:t>
            </a:r>
            <a:br/>
            <a:r>
              <a:t>(30s)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11680" y="3931920"/>
            <a:ext cx="1280160" cy="7315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Start</a:t>
            </a:r>
            <a:br/>
            <a:r>
              <a:t>Probers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66160" y="3931920"/>
            <a:ext cx="1280160" cy="7315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Start</a:t>
            </a:r>
            <a:br/>
            <a:r>
              <a:t>Locust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0" y="3931920"/>
            <a:ext cx="1280160" cy="7315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Pre-Chaos</a:t>
            </a:r>
            <a:br/>
            <a:r>
              <a:t>Baseline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0" y="3931920"/>
            <a:ext cx="128016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Run Chaos</a:t>
            </a:r>
            <a:br/>
            <a:r>
              <a:t>(120s)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0" y="3931920"/>
            <a:ext cx="1280160" cy="7315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Post-Chaos</a:t>
            </a:r>
            <a:br/>
            <a:r>
              <a:t>Recovery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84080" y="3931920"/>
            <a:ext cx="1280160" cy="73152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Collect &amp;</a:t>
            </a:r>
            <a:br/>
            <a:r>
              <a:t>Sync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737360" y="4297680"/>
            <a:ext cx="274320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291840" y="4297680"/>
            <a:ext cx="274320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846320" y="4297680"/>
            <a:ext cx="274320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400800" y="4297680"/>
            <a:ext cx="274320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955279" y="4297680"/>
            <a:ext cx="274321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509760" y="4297680"/>
            <a:ext cx="274320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57200" y="4892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Phase Timeline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25780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PreChaos (steady state)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40480" y="525780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DuringChaos (fault active, 120s)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38160" y="525780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PostChaos (recovery period)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76072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6C7A"/>
                </a:solidFill>
                <a:latin typeface="Calibri"/>
              </a:defRPr>
            </a:pPr>
            <a:r>
              <a:t>All 5 continuous probers (latency, Redis, disk, resources, Prometheus) + RecoveryWatcher run as background threads throughout all 3 phases with 2–10s polling intervals.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Neo4j Graph Schema — Data Relations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937760" y="2560320"/>
            <a:ext cx="228600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ChaosRun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371600"/>
            <a:ext cx="1737360" cy="5486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PlacementStrategy</a:t>
            </a:r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2240280" y="1645920"/>
            <a:ext cx="3840480" cy="1280160"/>
          </a:xfrm>
          <a:prstGeom prst="line">
            <a:avLst/>
          </a:prstGeom>
          <a:ln w="19050">
            <a:solidFill>
              <a:srgbClr val="3498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657600" y="1188720"/>
            <a:ext cx="1737360" cy="5486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Deployment</a:t>
            </a:r>
          </a:p>
        </p:txBody>
      </p:sp>
      <p:cxnSp>
        <p:nvCxnSpPr>
          <p:cNvPr id="8" name="Connector 7"/>
          <p:cNvCxnSpPr/>
          <p:nvPr/>
        </p:nvCxnSpPr>
        <p:spPr>
          <a:xfrm flipH="1" flipV="1">
            <a:off x="4526280" y="1463040"/>
            <a:ext cx="1554480" cy="1463040"/>
          </a:xfrm>
          <a:prstGeom prst="line">
            <a:avLst/>
          </a:prstGeom>
          <a:ln w="19050">
            <a:solidFill>
              <a:srgbClr val="1AB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772400" y="1188720"/>
            <a:ext cx="1737360" cy="5486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RecoveryCycle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6080760" y="1463040"/>
            <a:ext cx="2560320" cy="1463040"/>
          </a:xfrm>
          <a:prstGeom prst="line">
            <a:avLst/>
          </a:prstGeom>
          <a:ln w="19050">
            <a:solidFill>
              <a:srgbClr val="2ECC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686800" y="2560320"/>
            <a:ext cx="1737360" cy="5486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ExperimentResult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6080760" y="2834639"/>
            <a:ext cx="3474720" cy="91441"/>
          </a:xfrm>
          <a:prstGeom prst="line">
            <a:avLst/>
          </a:prstGeom>
          <a:ln w="1905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86800" y="3840480"/>
            <a:ext cx="1737360" cy="5486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MetricsPhase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80760" y="2926080"/>
            <a:ext cx="3474720" cy="1188720"/>
          </a:xfrm>
          <a:prstGeom prst="line">
            <a:avLst/>
          </a:prstGeom>
          <a:ln w="19050">
            <a:solidFill>
              <a:srgbClr val="2ECC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0" y="4846320"/>
            <a:ext cx="1737360" cy="5486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MetricsSample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80760" y="2926080"/>
            <a:ext cx="2103119" cy="2194560"/>
          </a:xfrm>
          <a:prstGeom prst="line">
            <a:avLst/>
          </a:prstGeom>
          <a:ln w="19050">
            <a:solidFill>
              <a:srgbClr val="2ECC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937760" y="4846320"/>
            <a:ext cx="1737360" cy="5486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AnomalyLabel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806440" y="2926080"/>
            <a:ext cx="274320" cy="2194560"/>
          </a:xfrm>
          <a:prstGeom prst="line">
            <a:avLst/>
          </a:prstGeom>
          <a:ln w="1905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560320" y="4846320"/>
            <a:ext cx="1737360" cy="5486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CascadeEvent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3429000" y="2926080"/>
            <a:ext cx="2651760" cy="2194560"/>
          </a:xfrm>
          <a:prstGeom prst="line">
            <a:avLst/>
          </a:prstGeom>
          <a:ln w="19050">
            <a:solidFill>
              <a:srgbClr val="F39C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4400" y="3657600"/>
            <a:ext cx="1737360" cy="5486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PodSnapshot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1783080" y="2926080"/>
            <a:ext cx="4297680" cy="1005840"/>
          </a:xfrm>
          <a:prstGeom prst="line">
            <a:avLst/>
          </a:prstGeom>
          <a:ln w="19050">
            <a:solidFill>
              <a:srgbClr val="1AB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4400" y="2560320"/>
            <a:ext cx="1737360" cy="54864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ContainerLog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1783080" y="2834639"/>
            <a:ext cx="4297680" cy="91441"/>
          </a:xfrm>
          <a:prstGeom prst="line">
            <a:avLst/>
          </a:prstGeom>
          <a:ln w="19050">
            <a:solidFill>
              <a:srgbClr val="7F8C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515600" y="2560320"/>
            <a:ext cx="1371600" cy="457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ProbeResult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424160" y="2788920"/>
            <a:ext cx="91440" cy="0"/>
          </a:xfrm>
          <a:prstGeom prst="line">
            <a:avLst/>
          </a:prstGeom>
          <a:ln w="1905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657600" y="5760720"/>
            <a:ext cx="1371600" cy="4572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Service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4343400" y="5120640"/>
            <a:ext cx="1463040" cy="640080"/>
          </a:xfrm>
          <a:prstGeom prst="line">
            <a:avLst/>
          </a:prstGeom>
          <a:ln w="1905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91840" y="62636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6C7A"/>
                </a:solidFill>
                <a:latin typeface="Calibri"/>
              </a:defRPr>
            </a:pPr>
            <a:r>
              <a:t>DEPENDS_ON (service→service)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5760720"/>
            <a:ext cx="1371600" cy="45720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K8sNode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6263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6C7A"/>
                </a:solidFill>
                <a:latin typeface="Calibri"/>
              </a:defRPr>
            </a:pPr>
            <a:r>
              <a:t>SCHEDULED_ON, RUNNING_ON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14630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498DB"/>
                </a:solidFill>
                <a:latin typeface="Calibri"/>
              </a:defRPr>
            </a:pPr>
            <a:r>
              <a:t>USED_STRATEGY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914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ABC9C"/>
                </a:solidFill>
                <a:latin typeface="Calibri"/>
              </a:defRPr>
            </a:pPr>
            <a:r>
              <a:t>TARGETED_BY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914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ECC71"/>
                </a:solidFill>
                <a:latin typeface="Calibri"/>
              </a:defRPr>
            </a:pPr>
            <a:r>
              <a:t>HAS_RECOVERY_CYCLE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2286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74C3C"/>
                </a:solidFill>
                <a:latin typeface="Calibri"/>
              </a:defRPr>
            </a:pPr>
            <a:r>
              <a:t>HAS_RESULT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611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ECC71"/>
                </a:solidFill>
                <a:latin typeface="Calibri"/>
              </a:defRPr>
            </a:pPr>
            <a:r>
              <a:t>HAS_METRICS_PHASE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572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ECC71"/>
                </a:solidFill>
                <a:latin typeface="Calibri"/>
              </a:defRPr>
            </a:pPr>
            <a:r>
              <a:t>HAS_SAMPLE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4572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E74C3C"/>
                </a:solidFill>
                <a:latin typeface="Calibri"/>
              </a:defRPr>
            </a:pPr>
            <a:r>
              <a:t>HAS_ANOMALY_LABEL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4572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39C12"/>
                </a:solidFill>
                <a:latin typeface="Calibri"/>
              </a:defRPr>
            </a:pPr>
            <a:r>
              <a:t>HAS_CASCADE_EVENT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5943600"/>
            <a:ext cx="2468880" cy="5486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9B59B6"/>
                </a:solidFill>
                <a:latin typeface="Calibri"/>
              </a:defRPr>
            </a:pPr>
            <a:r>
              <a:t>14 Node Types</a:t>
            </a:r>
            <a:br/>
            <a:r>
              <a:t>15 Relationships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6C7A"/>
                </a:solidFill>
                <a:latin typeface="Calibri"/>
              </a:defRPr>
            </a:pPr>
            <a:r>
              <a:t>All nodes have a display-friendly 'name' property for Neo4j Browser graph visualization (e.g. 'spread (FAIL)', 'cycle #3 (1464ms)', 'pod-delete (critical)')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22860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BC9C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Default scheduler</a:t>
            </a:r>
            <a:br/>
            <a:r>
              <a:t>No fault injection</a:t>
            </a:r>
            <a:br/>
            <a:r>
              <a:t>(control group)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2286000"/>
            <a:ext cx="228600" cy="2286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2286000"/>
            <a:ext cx="228600" cy="2286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51760" y="2651760"/>
            <a:ext cx="228600" cy="2286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651760"/>
            <a:ext cx="228600" cy="2286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Contention: None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371600"/>
            <a:ext cx="3474720" cy="22860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417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7373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Default scheduler</a:t>
            </a:r>
            <a:br/>
            <a:r>
              <a:t>Full chaos injection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286000"/>
            <a:ext cx="228600" cy="2286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32320" y="2286000"/>
            <a:ext cx="228600" cy="2286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2651760"/>
            <a:ext cx="228600" cy="2286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2651760"/>
            <a:ext cx="228600" cy="2286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291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Contention: 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371600"/>
            <a:ext cx="3474720" cy="22860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417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7373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ALL pods → single node</a:t>
            </a:r>
            <a:br/>
            <a:r>
              <a:t>Max contention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32720" y="2286000"/>
            <a:ext cx="228600" cy="2286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561320" y="2423160"/>
            <a:ext cx="228600" cy="2286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332720" y="2560320"/>
            <a:ext cx="228600" cy="2286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561320" y="2697479"/>
            <a:ext cx="228600" cy="2286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32918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023360"/>
            <a:ext cx="3474720" cy="22860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690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3891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Round-robin across</a:t>
            </a:r>
            <a:br/>
            <a:r>
              <a:t>all worker nodes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468880" y="5120640"/>
            <a:ext cx="228600" cy="2286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834640" y="5120640"/>
            <a:ext cx="228600" cy="2286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200400" y="5120640"/>
            <a:ext cx="228600" cy="2286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566160" y="5120640"/>
            <a:ext cx="228600" cy="2286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9436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4023360"/>
            <a:ext cx="3474720" cy="22860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0" y="40690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3891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Random per-deployment</a:t>
            </a:r>
            <a:br/>
            <a:r>
              <a:t>Reproducible via seed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4937760"/>
            <a:ext cx="228600" cy="2286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040880" y="5303520"/>
            <a:ext cx="228600" cy="2286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00800" y="5303520"/>
            <a:ext cx="228600" cy="2286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040880" y="4937760"/>
            <a:ext cx="228600" cy="2286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0" y="59436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38160" y="4023360"/>
            <a:ext cx="3474720" cy="22860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0" y="40690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91E63"/>
                </a:solidFill>
                <a:latin typeface="Calibri"/>
              </a:defRPr>
            </a:pPr>
            <a:r>
              <a:t>Antagonistic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438912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Heavy pods → 1 node</a:t>
            </a:r>
            <a:br/>
            <a:r>
              <a:t>Light pods → spread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41280" y="4937760"/>
            <a:ext cx="228600" cy="22860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469880" y="5074920"/>
            <a:ext cx="228600" cy="22860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881360" y="5120640"/>
            <a:ext cx="228600" cy="22860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1155680" y="5303520"/>
            <a:ext cx="228600" cy="22860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0" y="59436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Contention: High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Multi-Signal Metrics Collection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Prober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Signal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Source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Interval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 Tracking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RecoveryWatcher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Pod deletion→scheduled→ready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K8s Watch API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Real-time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LatencyProber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HTTP route latency + errors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In-cluster HTTP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~2s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RedisProber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Read/write ops/s + latency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Redis commands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~10s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DiskProber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Sequential R/W ops/s + bytes/s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dd commands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~10s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ResourceProber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Node/pod CPU + memory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K8s Metrics API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~5s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PrometheusProber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pod_ready, CPU throttle, net I/O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PromQL queries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~10s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Three-Phase Collection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572000"/>
            <a:ext cx="3200400" cy="6400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PreChaos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0F0F8"/>
                </a:solidFill>
                <a:latin typeface="Calibri"/>
              </a:defRPr>
            </a:pPr>
            <a:r>
              <a:t>Steady-state baseline</a:t>
            </a:r>
            <a:br/>
            <a:r>
              <a:t>(30s default)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572000"/>
            <a:ext cx="4114800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0" y="45720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DuringChaos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48463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0F0F8"/>
                </a:solidFill>
                <a:latin typeface="Calibri"/>
              </a:defRPr>
            </a:pPr>
            <a:r>
              <a:t>Active fault injection</a:t>
            </a:r>
            <a:br/>
            <a:r>
              <a:t>(120s chaos duration)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4572000"/>
            <a:ext cx="347472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4572000"/>
            <a:ext cx="3291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PostChaos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846320"/>
            <a:ext cx="3291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0F0F8"/>
                </a:solidFill>
                <a:latin typeface="Calibri"/>
              </a:defRPr>
            </a:pPr>
            <a:r>
              <a:t>Recovery observation</a:t>
            </a:r>
            <a:br/>
            <a:r>
              <a:t>(until probers stop)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949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6C7A"/>
                </a:solidFill>
                <a:latin typeface="Calibri"/>
              </a:defRPr>
            </a:pPr>
            <a:r>
              <a:t>All prober data is aligned into unified time buckets (5s resolution) via timeseries.py, enabling per-sample ML labeling: each bucket gets anomaly_label = fault_type or 'none'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943600"/>
            <a:ext cx="5029200" cy="7315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Recovery Cycle 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63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DELETED → PodScheduled → Ready</a:t>
            </a:r>
            <a:br/>
            <a:r>
              <a:t>Tracks: deletion_to_scheduled_ms, scheduled_to_ready_ms, total_recovery_ms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5943600"/>
            <a:ext cx="5760720" cy="7315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594360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Signal Reliability Hierarchy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2636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HIGH: Recovery cycles, Load generator, Probe verdicts  •  MEDIUM: Resources, Prometheus  •  CONTROL: Redis  •  LOW: Cascade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Probe Design &amp; Resilience Scoring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Probe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Tolerance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frontend-product-strict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httpProbe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Continuous (2s)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3s, 1 retry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Confirm disruption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frontend-homepage-strict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httpProbe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Continuous (2s)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3s, 1 retry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Confirm disruption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frontend-homepage-moderate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httpProbe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Continuous (3s)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3s, 2 retries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Fast recovery detection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frontend-cart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httpProbe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Continuous (4s)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5s, 2 retries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Node contention control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frontend-homepage-edge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httpProbe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Edge (5s)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15s, 5 retries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Eventual recovery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frontend-healthz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httpProbe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Continuous (4s)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5s, 2 retries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Node-level pressure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Resilience Score Interpretation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526280"/>
            <a:ext cx="548640" cy="2286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All 6 probes failed — total disruption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800600"/>
            <a:ext cx="548640" cy="2286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8006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Only healthz passed — node alive but service down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074920"/>
            <a:ext cx="548640" cy="2286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0749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healthz + edge — eventual recovery 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349240"/>
            <a:ext cx="548640" cy="2286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49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3 probes passed — moderate resilience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23560"/>
            <a:ext cx="548640" cy="2286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62356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4 probes (tolerant + edge + cart + healthz)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897880"/>
            <a:ext cx="548640" cy="2286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89788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 probes passed — fast recovery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6172200"/>
            <a:ext cx="548640" cy="2286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61722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All probes passed — no visible disruption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4526280"/>
            <a:ext cx="5303520" cy="20116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5262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Scoring Formula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8920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score = Σ(probeSuccess% × weight) / Σ(weight)</a:t>
            </a:r>
            <a:br/>
            <a:r>
              <a:t>verdict = PASS if all experiments pass, else FAIL</a:t>
            </a:r>
            <a:br/>
            <a:r>
              <a:t>Default weight: 1.0 per experiment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4864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Fix Effectiveness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8064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confidence = 0.50 (base) + 0.25 (verdict change)</a:t>
            </a:r>
            <a:br/>
            <a:r>
              <a:t>+ min(0.15, Δscore/100) + 0.10 (all improved)</a:t>
            </a:r>
            <a:br/>
            <a:r>
              <a:t>fixEffective = verdict FAIL→PASS or Δscore ≥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Target Application — Online Boutique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12 Microservices — Service Dependency Graph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920240"/>
            <a:ext cx="2103120" cy="4572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651760"/>
            <a:ext cx="1645920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  <a:br/>
            <a:r>
              <a:t>service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1737360" y="2377440"/>
            <a:ext cx="4343400" cy="2743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200400" y="2651760"/>
            <a:ext cx="1645920" cy="6400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  <a:br/>
            <a:r>
              <a:t>service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4023360" y="2377440"/>
            <a:ext cx="2057400" cy="2743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486400" y="2651760"/>
            <a:ext cx="1645920" cy="6400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  <a:br/>
            <a:r>
              <a:t>service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80760" y="2377440"/>
            <a:ext cx="228600" cy="2743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72400" y="2651760"/>
            <a:ext cx="1645920" cy="6400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recommendation</a:t>
            </a:r>
            <a:br/>
            <a:r>
              <a:t>service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80760" y="2377440"/>
            <a:ext cx="2514600" cy="2743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058400" y="2651760"/>
            <a:ext cx="1645920" cy="6400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ad</a:t>
            </a:r>
            <a:br/>
            <a:r>
              <a:t>service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80760" y="2377440"/>
            <a:ext cx="4800600" cy="2743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200400" y="3657600"/>
            <a:ext cx="1645920" cy="5486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  <a:br/>
            <a:r>
              <a:t>service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4023360" y="2377440"/>
            <a:ext cx="2057400" cy="128016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57200" y="4480560"/>
            <a:ext cx="1463040" cy="5486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  <a:br/>
            <a:r>
              <a:t>service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188720" y="4206240"/>
            <a:ext cx="2834640" cy="2743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286000" y="4480560"/>
            <a:ext cx="1463040" cy="5486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  <a:br/>
            <a:r>
              <a:t>service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3017520" y="4206240"/>
            <a:ext cx="1005840" cy="2743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114800" y="4480560"/>
            <a:ext cx="1463040" cy="5486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  <a:br/>
            <a:r>
              <a:t>service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23360" y="4206240"/>
            <a:ext cx="822960" cy="2743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943600" y="3657600"/>
            <a:ext cx="137160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09360" y="3291840"/>
            <a:ext cx="320040" cy="36576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40080" y="2468880"/>
            <a:ext cx="2194560" cy="1005840"/>
          </a:xfrm>
          <a:prstGeom prst="roundRect">
            <a:avLst/>
          </a:prstGeom>
          <a:solidFill>
            <a:srgbClr val="000000"/>
          </a:solidFill>
          <a:ln w="381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204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74C3C"/>
                </a:solidFill>
                <a:latin typeface="Calibri"/>
              </a:defRPr>
            </a:pPr>
            <a:r>
              <a:t>← Chaos Target (pod-delete)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0" y="5303520"/>
            <a:ext cx="4846320" cy="13716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0" y="530352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Why productcatalogservice?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562356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Central dependency for homepage, product pages,</a:t>
            </a:r>
            <a:br/>
            <a:r>
              <a:t>  recommendations, and search results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100% pod deletion: PODS_AFFECTED_PERC=100%,</a:t>
            </a:r>
            <a:br/>
            <a:r>
              <a:t>  CHAOS_INTERVAL=5s, ~24 deletions per run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120s chaos duration with FORCE=true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303520"/>
            <a:ext cx="5943600" cy="13716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0352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98DB"/>
                </a:solidFill>
                <a:latin typeface="Calibri"/>
              </a:defRPr>
            </a:pPr>
            <a:r>
              <a:t>Load Generation Profiles (Locust)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548640" y="5669280"/>
          <a:ext cx="56692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286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Profile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Users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Spawn Rate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marL="50800" marR="50800" marT="25400" marB="25400">
                    <a:solidFill>
                      <a:srgbClr val="0096D6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steady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10/s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120s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ramp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5/s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180s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spike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200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50/s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90s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ML Export &amp; AI Analysis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ML Dataset Export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83080"/>
            <a:ext cx="1554480" cy="8229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Neo4j</a:t>
            </a:r>
            <a:br/>
            <a:r>
              <a:t>Graph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1783080"/>
            <a:ext cx="1554480" cy="8229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MetricsSample</a:t>
            </a:r>
            <a:br/>
            <a:r>
              <a:t>+ AnomalyLabel</a:t>
            </a:r>
            <a:br/>
            <a:r>
              <a:t>Join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783080"/>
            <a:ext cx="1554480" cy="82296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Time-Series</a:t>
            </a:r>
            <a:br/>
            <a:r>
              <a:t>Alignment</a:t>
            </a:r>
            <a:br/>
            <a:r>
              <a:t>(5s buckets)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1554480" cy="8229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Per-Sample</a:t>
            </a:r>
            <a:br/>
            <a:r>
              <a:t>Anomaly</a:t>
            </a:r>
            <a:br/>
            <a:r>
              <a:t>Labeling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1783080"/>
            <a:ext cx="155448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CSV / Parquet</a:t>
            </a:r>
            <a:br/>
            <a:r>
              <a:t>Dataset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32720" y="1783080"/>
            <a:ext cx="1554480" cy="82296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sklearn /</a:t>
            </a:r>
            <a:br/>
            <a:r>
              <a:t>PyTorch</a:t>
            </a:r>
            <a:br/>
            <a:r>
              <a:t>Model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11680" y="21945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840480" y="2194560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52160" y="2194560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863840" y="2194560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875519" y="2194560"/>
            <a:ext cx="457201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" y="2926080"/>
            <a:ext cx="5486400" cy="13716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9260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Dataset Columns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Metadata: run_id, timestamp, phase, strategy, resilience_score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Labels: anomaly_label (fault_type or 'none'), overall_verdict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Latency: latency:&lt;route&gt;:ms, latency:&lt;route&gt;:error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Resources: node/pod CPU/memory, pod_count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I/O: redis:&lt;op&gt;:ops_per_s, disk:&lt;op&gt;:bytes_per_s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Recovery: recovery_in_progress, recovery_cycle_id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926080"/>
            <a:ext cx="5486400" cy="13716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9260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Supported Anomaly Types (13 faults)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309360" y="3246120"/>
          <a:ext cx="521208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2606040"/>
              </a:tblGrid>
              <a:tr h="24003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 marL="50800" marR="50800" marT="25400" marB="25400"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Fault Types</a:t>
                      </a:r>
                    </a:p>
                  </a:txBody>
                  <a:tcPr marL="50800" marR="50800" marT="25400" marB="25400">
                    <a:solidFill>
                      <a:srgbClr val="E74C3C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pod-delete, node-drain, kubelet-service-kill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Saturation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cpu-hog, memory-hog, io-stress, disk-fill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Network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loss, latency, corruption, duplication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91E63"/>
                </a:solidFill>
                <a:latin typeface="Calibri"/>
              </a:defRPr>
            </a:pPr>
            <a:r>
              <a:t>AI Analysis — 9-Step Diagnostic Pipeline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5029200"/>
            <a:ext cx="1188720" cy="64008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1. Fault</a:t>
            </a:r>
            <a:br/>
            <a:r>
              <a:t>Identification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463040" y="5349240"/>
            <a:ext cx="109728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572768" y="5029200"/>
            <a:ext cx="1188720" cy="64008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2. Root Cause</a:t>
            </a:r>
            <a:br/>
            <a:r>
              <a:t>Analysis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61488" y="5349240"/>
            <a:ext cx="109727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871215" y="5029200"/>
            <a:ext cx="1188720" cy="64008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3. Impact</a:t>
            </a:r>
            <a:br/>
            <a:r>
              <a:t>Assessment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59935" y="5349240"/>
            <a:ext cx="109728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169663" y="5029200"/>
            <a:ext cx="1188720" cy="64008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4. Temporal</a:t>
            </a:r>
            <a:br/>
            <a:r>
              <a:t>Analysis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358383" y="5349240"/>
            <a:ext cx="109729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468112" y="5029200"/>
            <a:ext cx="1188720" cy="64008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5. Probe</a:t>
            </a:r>
            <a:br/>
            <a:r>
              <a:t>Analysis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656831" y="5349240"/>
            <a:ext cx="109728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766559" y="5029200"/>
            <a:ext cx="1188720" cy="64008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6. Diagnosis &amp;</a:t>
            </a:r>
            <a:br/>
            <a:r>
              <a:t>Mitigation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955279" y="5349240"/>
            <a:ext cx="109729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065008" y="5029200"/>
            <a:ext cx="1188720" cy="64008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7. Cross-Run</a:t>
            </a:r>
            <a:br/>
            <a:r>
              <a:t>Comparison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53728" y="5349240"/>
            <a:ext cx="109728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363456" y="5029200"/>
            <a:ext cx="1188720" cy="64008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8. Cross-Exp.</a:t>
            </a:r>
            <a:br/>
            <a:r>
              <a:t>Patterns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0552176" y="5349240"/>
            <a:ext cx="109728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661904" y="5029200"/>
            <a:ext cx="1188720" cy="64008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9. Executive</a:t>
            </a:r>
            <a:br/>
            <a:r>
              <a:t>Summary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943600"/>
            <a:ext cx="1124712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94360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91E63"/>
                </a:solidFill>
                <a:latin typeface="Calibri"/>
              </a:defRPr>
            </a:pPr>
            <a:r>
              <a:t>Autonomous Fix Loop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delete → init → verify → run → AI reads results → diagnoses (score=0? probes timing out; no recovery? ChaosCenter failing) → fixes code/config/cluster → re-run → compare → loop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Cascade Detection &amp; Graph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0175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Cascade Detection 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212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1. Establish pre-chaos baseline per route</a:t>
            </a:r>
            <a:br/>
            <a:r>
              <a:t>   (mean latency + error rate)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2. During chaos: compare each sample against baseline</a:t>
            </a:r>
            <a:br/>
            <a:r>
              <a:t>   degraded = latency &gt; baseline × 2.0 OR status ≠ 'ok'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3. Walk time-series chronologically per route:</a:t>
            </a:r>
            <a:br/>
            <a:r>
              <a:t>   record degradation start/end, peak latency, errors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4. Output: cascadeTimeline with affected routes,</a:t>
            </a:r>
            <a:br/>
            <a:r>
              <a:t>   timing, and cascadeRatio (affected/total)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5. Identifies fault propagation across service</a:t>
            </a:r>
            <a:br/>
            <a:r>
              <a:t>   dependency chains (e.g., productcatalog → frontend)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486400" cy="30175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B59B6"/>
                </a:solidFill>
                <a:latin typeface="Calibri"/>
              </a:defRPr>
            </a:pPr>
            <a:r>
              <a:t>Neo4j Graph Analysis Functions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9360" y="1828800"/>
          <a:ext cx="52120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2606040"/>
              </a:tblGrid>
              <a:tr h="3810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Function</a:t>
                      </a:r>
                    </a:p>
                  </a:txBody>
                  <a:tcPr marL="50800" marR="50800" marT="25400" marB="25400">
                    <a:solidFill>
                      <a:srgbClr val="9B59B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 marL="50800" marR="50800" marT="25400" marB="25400">
                    <a:solidFill>
                      <a:srgbClr val="9B59B6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blast_radius_report()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Upstream services affected by failure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topology_comparison()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Compare placements across runs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colocation_impact()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Resource contention from co-location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critical_path_analysis()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Longest dependency chain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strategy_summary()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Outcomes grouped by strategy</a:t>
                      </a:r>
                    </a:p>
                  </a:txBody>
                  <a:tcPr marL="50800" marR="50800" marT="25400" marB="25400">
                    <a:solidFill>
                      <a:srgbClr val="12122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4663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Example: pod-delete on productcatalogservice — Cascade Propagation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309360"/>
            <a:ext cx="10972800" cy="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6C7A"/>
                </a:solidFill>
                <a:latin typeface="Calibri"/>
              </a:defRPr>
            </a:pPr>
            <a:r>
              <a:t>t=0s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6C7A"/>
                </a:solidFill>
                <a:latin typeface="Calibri"/>
              </a:defRPr>
            </a:pPr>
            <a:r>
              <a:t>t=30s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6C7A"/>
                </a:solidFill>
                <a:latin typeface="Calibri"/>
              </a:defRPr>
            </a:pPr>
            <a:r>
              <a:t>t=60s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6C7A"/>
                </a:solidFill>
                <a:latin typeface="Calibri"/>
              </a:defRPr>
            </a:pPr>
            <a:r>
              <a:t>t=90s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6C7A"/>
                </a:solidFill>
                <a:latin typeface="Calibri"/>
              </a:defRPr>
            </a:pPr>
            <a:r>
              <a:t>t=120s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5020055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E74C3C"/>
                </a:solidFill>
                <a:latin typeface="Calibri"/>
              </a:defRPr>
            </a:pPr>
            <a:r>
              <a:t>productcatalog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0" y="5065776"/>
            <a:ext cx="4754880" cy="1828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" y="538581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39C12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5431536"/>
            <a:ext cx="3657600" cy="1828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" y="575157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F39C12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5797296"/>
            <a:ext cx="2926080" cy="1828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61173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ABC9C"/>
                </a:solidFill>
                <a:latin typeface="Calibri"/>
              </a:defRPr>
            </a:pPr>
            <a:r>
              <a:t>checkout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6163056"/>
            <a:ext cx="1828800" cy="1828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Module Architecture — Package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94960" cy="822960"/>
          </a:xfrm>
          <a:prstGeom prst="roundRect">
            <a:avLst/>
          </a:prstGeom>
          <a:solidFill>
            <a:srgbClr val="121222"/>
          </a:solidFill>
          <a:ln w="1905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config/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3716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loader.py, topology.py, validator.py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6C7A"/>
                </a:solidFill>
                <a:latin typeface="Calibri"/>
              </a:defRPr>
            </a:pPr>
            <a:r>
              <a:t>YAML loading, service graph extraction, ChaosEngine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77440"/>
            <a:ext cx="5394960" cy="822960"/>
          </a:xfrm>
          <a:prstGeom prst="roundRect">
            <a:avLst/>
          </a:prstGeom>
          <a:solidFill>
            <a:srgbClr val="121222"/>
          </a:solidFill>
          <a:ln w="1905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BC9C"/>
                </a:solidFill>
                <a:latin typeface="Calibri"/>
              </a:defRPr>
            </a:pPr>
            <a:r>
              <a:t>collector/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774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result_collector.py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88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6C7A"/>
                </a:solidFill>
                <a:latin typeface="Calibri"/>
              </a:defRPr>
            </a:pPr>
            <a:r>
              <a:t>ChaosResult CRDs, probe statuses, resilience scoring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394960" cy="822960"/>
          </a:xfrm>
          <a:prstGeom prst="roundRect">
            <a:avLst/>
          </a:prstGeom>
          <a:solidFill>
            <a:srgbClr val="121222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83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chaos/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832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runner.py, manifest.py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6C7A"/>
                </a:solidFill>
                <a:latin typeface="Calibri"/>
              </a:defRPr>
            </a:pPr>
            <a:r>
              <a:t>ChaosCenter GraphQL: save → trigger → poll experiments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389120"/>
            <a:ext cx="5394960" cy="822960"/>
          </a:xfrm>
          <a:prstGeom prst="roundRect">
            <a:avLst/>
          </a:prstGeom>
          <a:solidFill>
            <a:srgbClr val="121222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metrics/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3891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base.py, latency.py, recovery.py, resources.py,</a:t>
            </a:r>
            <a:br/>
            <a:r>
              <a:t>prometheus.py, throughput.py, cascade.py, anomaly_labels.py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800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6C7A"/>
                </a:solidFill>
                <a:latin typeface="Calibri"/>
              </a:defRPr>
            </a:pPr>
            <a:r>
              <a:t>6 continuous probers + cascade + anomaly + time-series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371600"/>
            <a:ext cx="5394960" cy="822960"/>
          </a:xfrm>
          <a:prstGeom prst="roundRect">
            <a:avLst/>
          </a:prstGeom>
          <a:solidFill>
            <a:srgbClr val="121222"/>
          </a:solidFill>
          <a:ln w="1905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59" y="1371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91E63"/>
                </a:solidFill>
                <a:latin typeface="Calibri"/>
              </a:defRPr>
            </a:pPr>
            <a:r>
              <a:t>placement/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3716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strategy.py, mutator.py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17830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6C7A"/>
                </a:solidFill>
                <a:latin typeface="Calibri"/>
              </a:defRPr>
            </a:pPr>
            <a:r>
              <a:t>4 strategies + K8s nodeSelector patching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377440"/>
            <a:ext cx="5394960" cy="822960"/>
          </a:xfrm>
          <a:prstGeom prst="roundRect">
            <a:avLst/>
          </a:prstGeom>
          <a:solidFill>
            <a:srgbClr val="121222"/>
          </a:solidFill>
          <a:ln w="1905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2377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BC9C"/>
                </a:solidFill>
                <a:latin typeface="Calibri"/>
              </a:defRPr>
            </a:pPr>
            <a:r>
              <a:t>orchestrator/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23774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strategy_runner.py, run_phases.py,</a:t>
            </a:r>
            <a:br/>
            <a:r>
              <a:t>probers.py, portforward.py, preflight.py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59" y="2788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6C7A"/>
                </a:solidFill>
                <a:latin typeface="Calibri"/>
              </a:defRPr>
            </a:pPr>
            <a:r>
              <a:t>RunContext + phase orchestration + port-forward lifecycle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383280"/>
            <a:ext cx="5394960" cy="822960"/>
          </a:xfrm>
          <a:prstGeom prst="roundRect">
            <a:avLst/>
          </a:prstGeom>
          <a:solidFill>
            <a:srgbClr val="121222"/>
          </a:solidFill>
          <a:ln w="1905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59" y="3383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storage/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33832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neo4j_store.py, neo4j_writer.py, neo4j_reader.py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59" y="37947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6C7A"/>
                </a:solidFill>
                <a:latin typeface="Calibri"/>
              </a:defRPr>
            </a:pPr>
            <a:r>
              <a:t>Neo4j graph DB — write 14 node types, read + reconstruct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389120"/>
            <a:ext cx="5394960" cy="822960"/>
          </a:xfrm>
          <a:prstGeom prst="roundRect">
            <a:avLst/>
          </a:prstGeom>
          <a:solidFill>
            <a:srgbClr val="121222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59" y="4389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output/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43891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generator.py, ml_export.py, visualize.py,</a:t>
            </a:r>
            <a:br/>
            <a:r>
              <a:t>charts.py, comparison.py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59" y="4800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6C7A"/>
                </a:solidFill>
                <a:latin typeface="Calibri"/>
              </a:defRPr>
            </a:pPr>
            <a:r>
              <a:t>JSON output, ML CSV/Parquet, matplotlib charts, HTML report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486400"/>
            <a:ext cx="1645920" cy="640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4864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loadgen/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760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Locust runner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86000" y="5486400"/>
            <a:ext cx="1645920" cy="640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31720" y="54864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probes/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31720" y="5760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Rust cmdProbe builder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0" y="5486400"/>
            <a:ext cx="1645920" cy="640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60520" y="54864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graph/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0520" y="5760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Neo4j analysis queries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5486400"/>
            <a:ext cx="1645920" cy="640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54864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provisioner/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63640" y="5760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Vagrant, K8s, ChaosCenter, Helm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0" y="5486400"/>
            <a:ext cx="1645920" cy="640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32520" y="54864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commands/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32520" y="5760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10 Click CLI modules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00400" y="6309360"/>
            <a:ext cx="5760720" cy="4114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91840" y="63093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63 source files  •  19,262 lines  •  504 tests  •  34 modules  •  7 packages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Data Flow Diagram — End-to-End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498DB"/>
                </a:solidFill>
                <a:latin typeface="Calibri"/>
              </a:defRPr>
            </a:pPr>
            <a: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554480"/>
            <a:ext cx="1828800" cy="5943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experiment.yaml</a:t>
            </a:r>
            <a:br/>
            <a:r>
              <a:t>(ChaosEngine specs)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286000"/>
            <a:ext cx="1828800" cy="5943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deploy/</a:t>
            </a:r>
            <a:br/>
            <a:r>
              <a:t>(K8s manifests)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017520"/>
            <a:ext cx="1828800" cy="5943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probes/</a:t>
            </a:r>
            <a:br/>
            <a:r>
              <a:t>(Rust cmdProbes)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280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BC9C"/>
                </a:solidFill>
                <a:latin typeface="Calibri"/>
              </a:defRPr>
            </a:pPr>
            <a:r>
              <a:t>PROCESSING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1554480"/>
            <a:ext cx="2011680" cy="59436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Config Loader</a:t>
            </a:r>
            <a:br/>
            <a:r>
              <a:t>→ Topology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103120" y="1847088"/>
            <a:ext cx="457200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60320" y="2286000"/>
            <a:ext cx="2011680" cy="5943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Placement Mutator</a:t>
            </a:r>
            <a:br/>
            <a:r>
              <a:t>→ nodeSelector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03120" y="2578608"/>
            <a:ext cx="457200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560320" y="3017520"/>
            <a:ext cx="2011680" cy="5943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ChaosRunner</a:t>
            </a:r>
            <a:br/>
            <a:r>
              <a:t>→ ChaosCenter API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03120" y="3310127"/>
            <a:ext cx="457200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560320" y="3749039"/>
            <a:ext cx="2011680" cy="5943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Load Generator</a:t>
            </a:r>
            <a:br/>
            <a:r>
              <a:t>→ Locust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03120" y="4041648"/>
            <a:ext cx="457200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0" y="1280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Calibri"/>
              </a:defRPr>
            </a:pPr>
            <a:r>
              <a:t>COLLECTION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1554480"/>
            <a:ext cx="2011680" cy="5943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RecoveryWatcher</a:t>
            </a:r>
            <a:br/>
            <a:r>
              <a:t>(K8s Watch)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1847088"/>
            <a:ext cx="457200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29200" y="2286000"/>
            <a:ext cx="2011680" cy="5943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5 Continuous</a:t>
            </a:r>
            <a:br/>
            <a:r>
              <a:t>Probers (threads)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578608"/>
            <a:ext cx="457200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029200" y="3017520"/>
            <a:ext cx="2011680" cy="5943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ResultCollector</a:t>
            </a:r>
            <a:br/>
            <a:r>
              <a:t>(ChaosResult CRDs)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2000" y="3310127"/>
            <a:ext cx="457200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029200" y="3749039"/>
            <a:ext cx="2011680" cy="5943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MetricsCollector</a:t>
            </a:r>
            <a:br/>
            <a:r>
              <a:t>(merge all data)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0" y="4041648"/>
            <a:ext cx="457200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029200" y="4480560"/>
            <a:ext cx="2011680" cy="5943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AnomalyLabels</a:t>
            </a:r>
            <a:br/>
            <a:r>
              <a:t>(ground truth)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773168"/>
            <a:ext cx="457200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498079" y="1280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B59B6"/>
                </a:solidFill>
                <a:latin typeface="Calibri"/>
              </a:defRPr>
            </a:pPr>
            <a:r>
              <a:t>STORAGE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98079" y="1554480"/>
            <a:ext cx="1828800" cy="1463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Neo4j</a:t>
            </a:r>
            <a:br/>
            <a:r>
              <a:t>Graph Store</a:t>
            </a:r>
            <a:br/>
            <a:br/>
            <a:r>
              <a:t>14 node types</a:t>
            </a:r>
            <a:br/>
            <a:r>
              <a:t>15 relationships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040880" y="2286000"/>
            <a:ext cx="457199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498079" y="3291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OUTPUT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79" y="3566160"/>
            <a:ext cx="1828800" cy="5943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ML Dataset</a:t>
            </a:r>
            <a:br/>
            <a:r>
              <a:t>(CSV/Parquet)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412480" y="3017520"/>
            <a:ext cx="0" cy="548640"/>
          </a:xfrm>
          <a:prstGeom prst="line">
            <a:avLst/>
          </a:prstGeom>
          <a:ln w="19050">
            <a:solidFill>
              <a:srgbClr val="9B5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498079" y="4297680"/>
            <a:ext cx="1828800" cy="5943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Charts</a:t>
            </a:r>
            <a:br/>
            <a:r>
              <a:t>(matplotlib)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412480" y="3017520"/>
            <a:ext cx="0" cy="1280160"/>
          </a:xfrm>
          <a:prstGeom prst="line">
            <a:avLst/>
          </a:prstGeom>
          <a:ln w="19050">
            <a:solidFill>
              <a:srgbClr val="9B5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498079" y="5029200"/>
            <a:ext cx="1828800" cy="5943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HTML Report</a:t>
            </a:r>
            <a:br/>
            <a:r>
              <a:t>(summary)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12480" y="3017520"/>
            <a:ext cx="0" cy="2011680"/>
          </a:xfrm>
          <a:prstGeom prst="line">
            <a:avLst/>
          </a:prstGeom>
          <a:ln w="19050">
            <a:solidFill>
              <a:srgbClr val="9B5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875520" y="1280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91E63"/>
                </a:solidFill>
                <a:latin typeface="Calibri"/>
              </a:defRPr>
            </a:pPr>
            <a:r>
              <a:t>AI FEEDBACK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75520" y="1554480"/>
            <a:ext cx="1645920" cy="59436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9-Step</a:t>
            </a:r>
            <a:br/>
            <a:r>
              <a:t>Diagnostic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326880" y="1847088"/>
            <a:ext cx="548640" cy="0"/>
          </a:xfrm>
          <a:prstGeom prst="line">
            <a:avLst/>
          </a:prstGeom>
          <a:ln w="190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875520" y="2286000"/>
            <a:ext cx="1645920" cy="59436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Root Cause</a:t>
            </a:r>
            <a:br/>
            <a:r>
              <a:t>Analysis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875520" y="3017520"/>
            <a:ext cx="1645920" cy="59436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Manifest</a:t>
            </a:r>
            <a:br/>
            <a:r>
              <a:t>Fix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75520" y="3749039"/>
            <a:ext cx="1645920" cy="59436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Re-Run &amp;</a:t>
            </a:r>
            <a:br/>
            <a:r>
              <a:t>Compare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0698480" y="4343400"/>
            <a:ext cx="0" cy="777240"/>
          </a:xfrm>
          <a:prstGeom prst="line">
            <a:avLst/>
          </a:prstGeom>
          <a:ln w="25400">
            <a:solidFill>
              <a:srgbClr val="E91E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640080" y="5120640"/>
            <a:ext cx="10058400" cy="0"/>
          </a:xfrm>
          <a:prstGeom prst="line">
            <a:avLst/>
          </a:prstGeom>
          <a:ln w="25400">
            <a:solidFill>
              <a:srgbClr val="E91E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40080" y="3611880"/>
            <a:ext cx="0" cy="1508760"/>
          </a:xfrm>
          <a:prstGeom prst="line">
            <a:avLst/>
          </a:prstGeom>
          <a:ln w="25400">
            <a:solidFill>
              <a:srgbClr val="E91E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114800" y="5166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91E63"/>
                </a:solidFill>
                <a:latin typeface="Calibri"/>
              </a:defRPr>
            </a:pPr>
            <a:r>
              <a:t>← AI Feedback Loop (edit manifests → re-run)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698480" y="2148840"/>
            <a:ext cx="0" cy="137160"/>
          </a:xfrm>
          <a:prstGeom prst="line">
            <a:avLst/>
          </a:prstGeom>
          <a:ln w="19050">
            <a:solidFill>
              <a:srgbClr val="E91E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698480" y="2880360"/>
            <a:ext cx="0" cy="137160"/>
          </a:xfrm>
          <a:prstGeom prst="line">
            <a:avLst/>
          </a:prstGeom>
          <a:ln w="19050">
            <a:solidFill>
              <a:srgbClr val="E91E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698480" y="3611879"/>
            <a:ext cx="0" cy="137160"/>
          </a:xfrm>
          <a:prstGeom prst="line">
            <a:avLst/>
          </a:prstGeom>
          <a:ln w="19050">
            <a:solidFill>
              <a:srgbClr val="E91E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14630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Neo4j as Sole Data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Graph database preserves causal relationships between faults, recovery cycles, and metrics. Enables Cypher-based blast radius analysis and dependency-aware queries lost in flat file storage.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486400" cy="14630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4173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ChaosCenter GraphQL (not raw CRDs)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78308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All experiments go through ChaosCenter API for dashboard visibility, audit trail, and experiment management. Wraps ChaosEngine in Argo Workflow with automatic RBAC and lifecycle management.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108960"/>
            <a:ext cx="5486400" cy="14630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154679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Background Thread Probers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2044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Continuous probers run as daemon threads with phase markers, enabling real-time multi-signal collection without blocking the chaos runner. All probers share ContinuousProberBase for lifecycle management.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108960"/>
            <a:ext cx="5486400" cy="14630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154679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91E63"/>
                </a:solidFill>
                <a:latin typeface="Calibri"/>
              </a:defRPr>
            </a:pPr>
            <a:r>
              <a:t>Structured AI-Consumable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52044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Every output field is designed for LLM consumption: structured JSON schema, explicit anomaly labels, signal reliability hierarchy, and 9-step diagnostic prompt that enables autonomous fix loops.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846320"/>
            <a:ext cx="5486400" cy="14630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892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6-Probe Scoring Granularity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25780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Probes are designed to produce 7 distinct score levels (0–100% in ~17% steps), each mapping to a specific resilience state. Includes controls for blast radius validation (cart, healthz probes).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846320"/>
            <a:ext cx="5486400" cy="14630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8920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Reproducible Randomness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25780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Random and antagonistic strategies use seeded PRNGs for reproducible experiments. Same seed → same placement → comparable results across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47472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6C7A"/>
                </a:solidFill>
                <a:latin typeface="Calibri"/>
              </a:defRPr>
            </a:pPr>
            <a:r>
              <a:t>Language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Python 3.10+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47472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508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6C7A"/>
                </a:solidFill>
                <a:latin typeface="Calibri"/>
              </a:defRPr>
            </a:pPr>
            <a: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8288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Click 8.x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47472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508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6C7A"/>
                </a:solidFill>
                <a:latin typeface="Calibri"/>
              </a:defRPr>
            </a:pPr>
            <a:r>
              <a:t>Container Runtime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18288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containerd 1.7.11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347472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7432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6C7A"/>
                </a:solidFill>
                <a:latin typeface="Calibri"/>
              </a:defRPr>
            </a:pPr>
            <a:r>
              <a:t>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063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BC9C"/>
                </a:solidFill>
                <a:latin typeface="Calibri"/>
              </a:defRPr>
            </a:pPr>
            <a:r>
              <a:t>Kubernetes v1.28.6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697480"/>
            <a:ext cx="347472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27432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6C7A"/>
                </a:solidFill>
                <a:latin typeface="Calibri"/>
              </a:defRPr>
            </a:pPr>
            <a:r>
              <a:t>Chaos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063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LitmusChaos + ChaosCenter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697480"/>
            <a:ext cx="347472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27432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6C7A"/>
                </a:solidFill>
                <a:latin typeface="Calibri"/>
              </a:defRPr>
            </a:pPr>
            <a:r>
              <a:t>Graph Database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063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B59B6"/>
                </a:solidFill>
                <a:latin typeface="Calibri"/>
              </a:defRPr>
            </a:pPr>
            <a:r>
              <a:t>Neo4j 5-community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931920"/>
            <a:ext cx="347472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9776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6C7A"/>
                </a:solidFill>
                <a:latin typeface="Calibri"/>
              </a:defRPr>
            </a:pPr>
            <a:r>
              <a:t>Monitoring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297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Prometheus + kube-state-metrics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3931920"/>
            <a:ext cx="347472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9776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6C7A"/>
                </a:solidFill>
                <a:latin typeface="Calibri"/>
              </a:defRPr>
            </a:pPr>
            <a:r>
              <a:t>Load Testing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297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Locust 2.20+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931920"/>
            <a:ext cx="347472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39776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6C7A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297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matplotlib 3.7+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166360"/>
            <a:ext cx="347472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212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6C7A"/>
                </a:solidFill>
                <a:latin typeface="Calibri"/>
              </a:defRPr>
            </a:pPr>
            <a:r>
              <a:t>ML Export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32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91E63"/>
                </a:solidFill>
                <a:latin typeface="Calibri"/>
              </a:defRPr>
            </a:pPr>
            <a:r>
              <a:t>CSV / Parquet (pyarrow)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5166360"/>
            <a:ext cx="347472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5212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6C7A"/>
                </a:solidFill>
                <a:latin typeface="Calibri"/>
              </a:defRPr>
            </a:pPr>
            <a:r>
              <a:t>Provisioning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5532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Kubespray 2.24 / Vagrant + libvirt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5166360"/>
            <a:ext cx="347472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5320" y="5212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6C7A"/>
                </a:solidFill>
                <a:latin typeface="Calibri"/>
              </a:defRPr>
            </a:pPr>
            <a:r>
              <a:t>Virtualization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5532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Proxmox (KVM/QEMU)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669280"/>
            <a:ext cx="1106424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66928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Runtime Dependencies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989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DBDBD"/>
                </a:solidFill>
                <a:latin typeface="Calibri"/>
              </a:defRPr>
            </a:pPr>
            <a:r>
              <a:t>kubernetes ≥28.0  •  click ≥8.0  •  pyyaml ≥6.0  •  locust ≥2.20  •  matplotlib ≥3.7  •  neo4j ≥5.0  •  pyarrow ≥12.0 (optional)  •  requests  •  urllib3  •  jinja2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Summary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3200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Key 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End-to-end chaos testing framework with</a:t>
            </a:r>
            <a:br/>
            <a:r>
              <a:t>  structured, AI-consumable output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6 placement strategies measuring 5 dimensions:</a:t>
            </a:r>
            <a:br/>
            <a:r>
              <a:t>  recovery, latency, I/O, resources, cascades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Neo4j graph storage preserving causal</a:t>
            </a:r>
            <a:br/>
            <a:r>
              <a:t>  relationships for dependency-aware analysis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Multi-signal telemetry collection (6 probers)</a:t>
            </a:r>
            <a:br/>
            <a:r>
              <a:t>  with 3-phase tracking and time alignment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Autonomous AI feedback loop:</a:t>
            </a:r>
            <a:br/>
            <a:r>
              <a:t>  test → diagnose → fix → re-test → compare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13 supported fault types with ground-truth</a:t>
            </a:r>
            <a:br/>
            <a:r>
              <a:t>  ML anomaly labels for training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3200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Multi-fault injection — concurrent faults</a:t>
            </a:r>
            <a:br/>
            <a:r>
              <a:t>  for complex failure scenarios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Larger cluster experiments —</a:t>
            </a:r>
            <a:br/>
            <a:r>
              <a:t>  scale to 20+ nodes, 100+ services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ML model training — anomaly detection,</a:t>
            </a:r>
            <a:br/>
            <a:r>
              <a:t>  latency/recovery/throughput prediction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Custom placement policies —</a:t>
            </a:r>
            <a:br/>
            <a:r>
              <a:t>  RL-based optimal 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Real-world validation —</a:t>
            </a:r>
            <a:br/>
            <a:r>
              <a:t>  production-like traffic patterns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Integration with GitOps —</a:t>
            </a:r>
            <a:br/>
            <a:r>
              <a:t>  automated PR creation for fixes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11064240" cy="173736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892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D6"/>
                </a:solidFill>
                <a:latin typeface="Calibri"/>
              </a:defRPr>
            </a:pPr>
            <a:r>
              <a:t>Core Message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alibri"/>
              </a:defRPr>
            </a:pPr>
            <a:r>
              <a:t>ChaosProbe bridges the gap between chaos engineering and machine learning by producing structured, graph-stored telemetry from controlled fault injection experiments. By systematically varying pod placement strategies and measuring recovery time, inter-service latency, Redis/disk I/O throughput, resource utilisation, and cascade propagation, it enables data-driven analysis of microservice resilience — both by traditional ML models and LLM-based autonomous operators.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