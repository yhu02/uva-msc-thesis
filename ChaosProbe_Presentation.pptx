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1371600" y="1371600"/>
            <a:ext cx="9418320" cy="1097280"/>
          </a:xfrm>
          <a:prstGeom prst="rect">
            <a:avLst/>
          </a:prstGeom>
          <a:noFill/>
        </p:spPr>
        <p:txBody>
          <a:bodyPr wrap="square">
            <a:spAutoFit/>
          </a:bodyPr>
          <a:lstStyle/>
          <a:p>
            <a:pPr algn="ctr">
              <a:defRPr sz="5400" b="1">
                <a:solidFill>
                  <a:srgbClr val="FFFFFF"/>
                </a:solidFill>
                <a:latin typeface="Calibri"/>
              </a:defRPr>
            </a:pPr>
            <a:r>
              <a:t>ChaosProbe</a:t>
            </a:r>
          </a:p>
        </p:txBody>
      </p:sp>
      <p:sp>
        <p:nvSpPr>
          <p:cNvPr id="3" name="TextBox 2"/>
          <p:cNvSpPr txBox="1"/>
          <p:nvPr/>
        </p:nvSpPr>
        <p:spPr>
          <a:xfrm>
            <a:off x="1371600" y="2468880"/>
            <a:ext cx="9418320" cy="914400"/>
          </a:xfrm>
          <a:prstGeom prst="rect">
            <a:avLst/>
          </a:prstGeom>
          <a:noFill/>
        </p:spPr>
        <p:txBody>
          <a:bodyPr wrap="square">
            <a:spAutoFit/>
          </a:bodyPr>
          <a:lstStyle/>
          <a:p>
            <a:pPr algn="ctr">
              <a:defRPr sz="2400" b="0">
                <a:solidFill>
                  <a:srgbClr val="0096D6"/>
                </a:solidFill>
                <a:latin typeface="Calibri"/>
              </a:defRPr>
            </a:pPr>
            <a:r>
              <a:t>Measuring the Impact of Chaos in Differing</a:t>
            </a:r>
            <a:br/>
            <a:r>
              <a:t>Placement Strategies within Cloud Systems</a:t>
            </a:r>
          </a:p>
        </p:txBody>
      </p:sp>
      <p:sp>
        <p:nvSpPr>
          <p:cNvPr id="4" name="Rectangle 3"/>
          <p:cNvSpPr/>
          <p:nvPr/>
        </p:nvSpPr>
        <p:spPr>
          <a:xfrm>
            <a:off x="4114800" y="3566160"/>
            <a:ext cx="393192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931920"/>
            <a:ext cx="9418320" cy="548640"/>
          </a:xfrm>
          <a:prstGeom prst="rect">
            <a:avLst/>
          </a:prstGeom>
          <a:noFill/>
        </p:spPr>
        <p:txBody>
          <a:bodyPr wrap="square">
            <a:spAutoFit/>
          </a:bodyPr>
          <a:lstStyle/>
          <a:p>
            <a:pPr algn="ctr">
              <a:defRPr sz="1800" b="0">
                <a:solidFill>
                  <a:srgbClr val="BDBDBD"/>
                </a:solidFill>
                <a:latin typeface="Calibri"/>
              </a:defRPr>
            </a:pPr>
            <a:r>
              <a:t>MSc Thesis — University of Amsterdam</a:t>
            </a:r>
          </a:p>
        </p:txBody>
      </p:sp>
      <p:sp>
        <p:nvSpPr>
          <p:cNvPr id="6" name="TextBox 5"/>
          <p:cNvSpPr txBox="1"/>
          <p:nvPr/>
        </p:nvSpPr>
        <p:spPr>
          <a:xfrm>
            <a:off x="1371600" y="4480560"/>
            <a:ext cx="9418320" cy="457200"/>
          </a:xfrm>
          <a:prstGeom prst="rect">
            <a:avLst/>
          </a:prstGeom>
          <a:noFill/>
        </p:spPr>
        <p:txBody>
          <a:bodyPr wrap="square">
            <a:spAutoFit/>
          </a:bodyPr>
          <a:lstStyle/>
          <a:p>
            <a:pPr algn="ctr">
              <a:defRPr sz="1400" b="0">
                <a:solidFill>
                  <a:srgbClr val="9090A0"/>
                </a:solidFill>
                <a:latin typeface="Calibri"/>
              </a:defRPr>
            </a:pPr>
            <a:r>
              <a:t>April 2026</a:t>
            </a:r>
          </a:p>
        </p:txBody>
      </p:sp>
      <p:sp>
        <p:nvSpPr>
          <p:cNvPr id="7" name="Rounded Rectangle 6"/>
          <p:cNvSpPr/>
          <p:nvPr/>
        </p:nvSpPr>
        <p:spPr>
          <a:xfrm>
            <a:off x="2286000"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0" y="5120640"/>
            <a:ext cx="1645920" cy="457200"/>
          </a:xfrm>
          <a:prstGeom prst="rect">
            <a:avLst/>
          </a:prstGeom>
          <a:noFill/>
        </p:spPr>
        <p:txBody>
          <a:bodyPr wrap="square">
            <a:spAutoFit/>
          </a:bodyPr>
          <a:lstStyle/>
          <a:p>
            <a:pPr algn="ctr">
              <a:defRPr sz="2400" b="1">
                <a:solidFill>
                  <a:srgbClr val="0096D6"/>
                </a:solidFill>
                <a:latin typeface="Calibri"/>
              </a:defRPr>
            </a:pPr>
            <a:r>
              <a:t>6</a:t>
            </a:r>
          </a:p>
        </p:txBody>
      </p:sp>
      <p:sp>
        <p:nvSpPr>
          <p:cNvPr id="9" name="TextBox 8"/>
          <p:cNvSpPr txBox="1"/>
          <p:nvPr/>
        </p:nvSpPr>
        <p:spPr>
          <a:xfrm>
            <a:off x="2286000" y="5532120"/>
            <a:ext cx="1645920" cy="457200"/>
          </a:xfrm>
          <a:prstGeom prst="rect">
            <a:avLst/>
          </a:prstGeom>
          <a:noFill/>
        </p:spPr>
        <p:txBody>
          <a:bodyPr wrap="square">
            <a:spAutoFit/>
          </a:bodyPr>
          <a:lstStyle/>
          <a:p>
            <a:pPr algn="ctr">
              <a:defRPr sz="1100" b="0">
                <a:solidFill>
                  <a:srgbClr val="BDBDBD"/>
                </a:solidFill>
                <a:latin typeface="Calibri"/>
              </a:defRPr>
            </a:pPr>
            <a:r>
              <a:t>Placement</a:t>
            </a:r>
            <a:br/>
            <a:r>
              <a:t>Strategies</a:t>
            </a:r>
          </a:p>
        </p:txBody>
      </p:sp>
      <p:sp>
        <p:nvSpPr>
          <p:cNvPr id="10" name="Rounded Rectangle 9"/>
          <p:cNvSpPr/>
          <p:nvPr/>
        </p:nvSpPr>
        <p:spPr>
          <a:xfrm>
            <a:off x="4389120"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5120640"/>
            <a:ext cx="1645920" cy="457200"/>
          </a:xfrm>
          <a:prstGeom prst="rect">
            <a:avLst/>
          </a:prstGeom>
          <a:noFill/>
        </p:spPr>
        <p:txBody>
          <a:bodyPr wrap="square">
            <a:spAutoFit/>
          </a:bodyPr>
          <a:lstStyle/>
          <a:p>
            <a:pPr algn="ctr">
              <a:defRPr sz="2400" b="1">
                <a:solidFill>
                  <a:srgbClr val="0096D6"/>
                </a:solidFill>
                <a:latin typeface="Calibri"/>
              </a:defRPr>
            </a:pPr>
            <a:r>
              <a:t>2</a:t>
            </a:r>
          </a:p>
        </p:txBody>
      </p:sp>
      <p:sp>
        <p:nvSpPr>
          <p:cNvPr id="12" name="TextBox 11"/>
          <p:cNvSpPr txBox="1"/>
          <p:nvPr/>
        </p:nvSpPr>
        <p:spPr>
          <a:xfrm>
            <a:off x="4389120" y="5532120"/>
            <a:ext cx="1645920" cy="457200"/>
          </a:xfrm>
          <a:prstGeom prst="rect">
            <a:avLst/>
          </a:prstGeom>
          <a:noFill/>
        </p:spPr>
        <p:txBody>
          <a:bodyPr wrap="square">
            <a:spAutoFit/>
          </a:bodyPr>
          <a:lstStyle/>
          <a:p>
            <a:pPr algn="ctr">
              <a:defRPr sz="1100" b="0">
                <a:solidFill>
                  <a:srgbClr val="BDBDBD"/>
                </a:solidFill>
                <a:latin typeface="Calibri"/>
              </a:defRPr>
            </a:pPr>
            <a:r>
              <a:t>Fault</a:t>
            </a:r>
            <a:br/>
            <a:r>
              <a:t>Types</a:t>
            </a:r>
          </a:p>
        </p:txBody>
      </p:sp>
      <p:sp>
        <p:nvSpPr>
          <p:cNvPr id="13" name="Rounded Rectangle 12"/>
          <p:cNvSpPr/>
          <p:nvPr/>
        </p:nvSpPr>
        <p:spPr>
          <a:xfrm>
            <a:off x="6492240"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5120640"/>
            <a:ext cx="1645920" cy="457200"/>
          </a:xfrm>
          <a:prstGeom prst="rect">
            <a:avLst/>
          </a:prstGeom>
          <a:noFill/>
        </p:spPr>
        <p:txBody>
          <a:bodyPr wrap="square">
            <a:spAutoFit/>
          </a:bodyPr>
          <a:lstStyle/>
          <a:p>
            <a:pPr algn="ctr">
              <a:defRPr sz="2400" b="1">
                <a:solidFill>
                  <a:srgbClr val="0096D6"/>
                </a:solidFill>
                <a:latin typeface="Calibri"/>
              </a:defRPr>
            </a:pPr>
            <a:r>
              <a:t>6</a:t>
            </a:r>
          </a:p>
        </p:txBody>
      </p:sp>
      <p:sp>
        <p:nvSpPr>
          <p:cNvPr id="15" name="TextBox 14"/>
          <p:cNvSpPr txBox="1"/>
          <p:nvPr/>
        </p:nvSpPr>
        <p:spPr>
          <a:xfrm>
            <a:off x="6492240" y="5532120"/>
            <a:ext cx="1645920" cy="457200"/>
          </a:xfrm>
          <a:prstGeom prst="rect">
            <a:avLst/>
          </a:prstGeom>
          <a:noFill/>
        </p:spPr>
        <p:txBody>
          <a:bodyPr wrap="square">
            <a:spAutoFit/>
          </a:bodyPr>
          <a:lstStyle/>
          <a:p>
            <a:pPr algn="ctr">
              <a:defRPr sz="1100" b="0">
                <a:solidFill>
                  <a:srgbClr val="BDBDBD"/>
                </a:solidFill>
                <a:latin typeface="Calibri"/>
              </a:defRPr>
            </a:pPr>
            <a:r>
              <a:t>Continuous</a:t>
            </a:r>
            <a:br/>
            <a:r>
              <a:t>Probers</a:t>
            </a:r>
          </a:p>
        </p:txBody>
      </p:sp>
      <p:sp>
        <p:nvSpPr>
          <p:cNvPr id="16" name="Rounded Rectangle 15"/>
          <p:cNvSpPr/>
          <p:nvPr/>
        </p:nvSpPr>
        <p:spPr>
          <a:xfrm>
            <a:off x="8595359"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59" y="5120640"/>
            <a:ext cx="1645920" cy="457200"/>
          </a:xfrm>
          <a:prstGeom prst="rect">
            <a:avLst/>
          </a:prstGeom>
          <a:noFill/>
        </p:spPr>
        <p:txBody>
          <a:bodyPr wrap="square">
            <a:spAutoFit/>
          </a:bodyPr>
          <a:lstStyle/>
          <a:p>
            <a:pPr algn="ctr">
              <a:defRPr sz="2400" b="1">
                <a:solidFill>
                  <a:srgbClr val="0096D6"/>
                </a:solidFill>
                <a:latin typeface="Calibri"/>
              </a:defRPr>
            </a:pPr>
            <a:r>
              <a:t>504</a:t>
            </a:r>
          </a:p>
        </p:txBody>
      </p:sp>
      <p:sp>
        <p:nvSpPr>
          <p:cNvPr id="18" name="TextBox 17"/>
          <p:cNvSpPr txBox="1"/>
          <p:nvPr/>
        </p:nvSpPr>
        <p:spPr>
          <a:xfrm>
            <a:off x="8595359" y="5532120"/>
            <a:ext cx="1645920" cy="457200"/>
          </a:xfrm>
          <a:prstGeom prst="rect">
            <a:avLst/>
          </a:prstGeom>
          <a:noFill/>
        </p:spPr>
        <p:txBody>
          <a:bodyPr wrap="square">
            <a:spAutoFit/>
          </a:bodyPr>
          <a:lstStyle/>
          <a:p>
            <a:pPr algn="ctr">
              <a:defRPr sz="1100" b="0">
                <a:solidFill>
                  <a:srgbClr val="BDBDBD"/>
                </a:solidFill>
                <a:latin typeface="Calibri"/>
              </a:defRPr>
            </a:pPr>
            <a:r>
              <a:t>Unit</a:t>
            </a:r>
            <a:br/>
            <a:r>
              <a:t>Tests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Research Question &amp; Motivation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1097280"/>
          </a:xfrm>
          <a:prstGeom prst="roundRect">
            <a:avLst/>
          </a:prstGeom>
          <a:solidFill>
            <a:srgbClr val="121222"/>
          </a:solidFill>
          <a:ln w="381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10698480" cy="320040"/>
          </a:xfrm>
          <a:prstGeom prst="rect">
            <a:avLst/>
          </a:prstGeom>
          <a:noFill/>
        </p:spPr>
        <p:txBody>
          <a:bodyPr wrap="square">
            <a:spAutoFit/>
          </a:bodyPr>
          <a:lstStyle/>
          <a:p>
            <a:pPr algn="l">
              <a:defRPr sz="1400" b="1">
                <a:solidFill>
                  <a:srgbClr val="0096D6"/>
                </a:solidFill>
                <a:latin typeface="Calibri"/>
              </a:defRPr>
            </a:pPr>
            <a:r>
              <a:t>Research Question</a:t>
            </a:r>
          </a:p>
        </p:txBody>
      </p:sp>
      <p:sp>
        <p:nvSpPr>
          <p:cNvPr id="6" name="TextBox 5"/>
          <p:cNvSpPr txBox="1"/>
          <p:nvPr/>
        </p:nvSpPr>
        <p:spPr>
          <a:xfrm>
            <a:off x="731520" y="1783080"/>
            <a:ext cx="10698480" cy="548640"/>
          </a:xfrm>
          <a:prstGeom prst="rect">
            <a:avLst/>
          </a:prstGeom>
          <a:noFill/>
        </p:spPr>
        <p:txBody>
          <a:bodyPr wrap="square">
            <a:spAutoFit/>
          </a:bodyPr>
          <a:lstStyle/>
          <a:p>
            <a:pPr algn="ctr">
              <a:defRPr sz="2000" b="1">
                <a:solidFill>
                  <a:srgbClr val="FFFFFF"/>
                </a:solidFill>
                <a:latin typeface="Calibri"/>
              </a:defRPr>
            </a:pPr>
            <a:r>
              <a:t>How does pod placement topology affect microservice resilience</a:t>
            </a:r>
            <a:br/>
            <a:r>
              <a:t>under fault injection in Kubernetes?</a:t>
            </a:r>
          </a:p>
        </p:txBody>
      </p:sp>
      <p:sp>
        <p:nvSpPr>
          <p:cNvPr id="7" name="TextBox 6"/>
          <p:cNvSpPr txBox="1"/>
          <p:nvPr/>
        </p:nvSpPr>
        <p:spPr>
          <a:xfrm>
            <a:off x="548640" y="2651760"/>
            <a:ext cx="10972800" cy="274320"/>
          </a:xfrm>
          <a:prstGeom prst="rect">
            <a:avLst/>
          </a:prstGeom>
          <a:noFill/>
        </p:spPr>
        <p:txBody>
          <a:bodyPr wrap="square">
            <a:spAutoFit/>
          </a:bodyPr>
          <a:lstStyle/>
          <a:p>
            <a:pPr algn="l">
              <a:defRPr sz="1600" b="1">
                <a:solidFill>
                  <a:srgbClr val="2ECC71"/>
                </a:solidFill>
                <a:latin typeface="Calibri"/>
              </a:defRPr>
            </a:pPr>
            <a:r>
              <a:t>Measured Dimensions</a:t>
            </a:r>
          </a:p>
        </p:txBody>
      </p:sp>
      <p:sp>
        <p:nvSpPr>
          <p:cNvPr id="8" name="Rounded Rectangle 7"/>
          <p:cNvSpPr/>
          <p:nvPr/>
        </p:nvSpPr>
        <p:spPr>
          <a:xfrm>
            <a:off x="548640" y="3017520"/>
            <a:ext cx="2286000" cy="100584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17520"/>
            <a:ext cx="2103120" cy="274320"/>
          </a:xfrm>
          <a:prstGeom prst="rect">
            <a:avLst/>
          </a:prstGeom>
          <a:noFill/>
        </p:spPr>
        <p:txBody>
          <a:bodyPr wrap="square">
            <a:spAutoFit/>
          </a:bodyPr>
          <a:lstStyle/>
          <a:p>
            <a:pPr algn="l">
              <a:defRPr sz="1300" b="1">
                <a:solidFill>
                  <a:srgbClr val="E74C3C"/>
                </a:solidFill>
                <a:latin typeface="Calibri"/>
              </a:defRPr>
            </a:pPr>
            <a:r>
              <a:t>Recovery Time</a:t>
            </a:r>
          </a:p>
        </p:txBody>
      </p:sp>
      <p:sp>
        <p:nvSpPr>
          <p:cNvPr id="10" name="TextBox 9"/>
          <p:cNvSpPr txBox="1"/>
          <p:nvPr/>
        </p:nvSpPr>
        <p:spPr>
          <a:xfrm>
            <a:off x="640080" y="3337560"/>
            <a:ext cx="2103120" cy="640080"/>
          </a:xfrm>
          <a:prstGeom prst="rect">
            <a:avLst/>
          </a:prstGeom>
          <a:noFill/>
        </p:spPr>
        <p:txBody>
          <a:bodyPr wrap="square">
            <a:spAutoFit/>
          </a:bodyPr>
          <a:lstStyle/>
          <a:p>
            <a:pPr algn="l">
              <a:defRPr sz="1100" b="0">
                <a:solidFill>
                  <a:srgbClr val="BDBDBD"/>
                </a:solidFill>
                <a:latin typeface="Calibri"/>
              </a:defRPr>
            </a:pPr>
            <a:r>
              <a:t>Pod deletion → scheduled → ready</a:t>
            </a:r>
            <a:br/>
            <a:r>
              <a:t>(milliseconds per cycle)</a:t>
            </a:r>
          </a:p>
        </p:txBody>
      </p:sp>
      <p:sp>
        <p:nvSpPr>
          <p:cNvPr id="11" name="Rounded Rectangle 10"/>
          <p:cNvSpPr/>
          <p:nvPr/>
        </p:nvSpPr>
        <p:spPr>
          <a:xfrm>
            <a:off x="3108960" y="3017520"/>
            <a:ext cx="2286000" cy="100584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3017520"/>
            <a:ext cx="2103120" cy="274320"/>
          </a:xfrm>
          <a:prstGeom prst="rect">
            <a:avLst/>
          </a:prstGeom>
          <a:noFill/>
        </p:spPr>
        <p:txBody>
          <a:bodyPr wrap="square">
            <a:spAutoFit/>
          </a:bodyPr>
          <a:lstStyle/>
          <a:p>
            <a:pPr algn="l">
              <a:defRPr sz="1300" b="1">
                <a:solidFill>
                  <a:srgbClr val="2ECC71"/>
                </a:solidFill>
                <a:latin typeface="Calibri"/>
              </a:defRPr>
            </a:pPr>
            <a:r>
              <a:t>Inter-Service Latency</a:t>
            </a:r>
          </a:p>
        </p:txBody>
      </p:sp>
      <p:sp>
        <p:nvSpPr>
          <p:cNvPr id="13" name="TextBox 12"/>
          <p:cNvSpPr txBox="1"/>
          <p:nvPr/>
        </p:nvSpPr>
        <p:spPr>
          <a:xfrm>
            <a:off x="3200400" y="3337560"/>
            <a:ext cx="2103120" cy="640080"/>
          </a:xfrm>
          <a:prstGeom prst="rect">
            <a:avLst/>
          </a:prstGeom>
          <a:noFill/>
        </p:spPr>
        <p:txBody>
          <a:bodyPr wrap="square">
            <a:spAutoFit/>
          </a:bodyPr>
          <a:lstStyle/>
          <a:p>
            <a:pPr algn="l">
              <a:defRPr sz="1100" b="0">
                <a:solidFill>
                  <a:srgbClr val="BDBDBD"/>
                </a:solidFill>
                <a:latin typeface="Calibri"/>
              </a:defRPr>
            </a:pPr>
            <a:r>
              <a:t>HTTP route response time</a:t>
            </a:r>
            <a:br/>
            <a:r>
              <a:t>during/after fault injection</a:t>
            </a:r>
          </a:p>
        </p:txBody>
      </p:sp>
      <p:sp>
        <p:nvSpPr>
          <p:cNvPr id="14" name="Rounded Rectangle 13"/>
          <p:cNvSpPr/>
          <p:nvPr/>
        </p:nvSpPr>
        <p:spPr>
          <a:xfrm>
            <a:off x="5669280" y="3017520"/>
            <a:ext cx="2286000" cy="100584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017520"/>
            <a:ext cx="2103120" cy="274320"/>
          </a:xfrm>
          <a:prstGeom prst="rect">
            <a:avLst/>
          </a:prstGeom>
          <a:noFill/>
        </p:spPr>
        <p:txBody>
          <a:bodyPr wrap="square">
            <a:spAutoFit/>
          </a:bodyPr>
          <a:lstStyle/>
          <a:p>
            <a:pPr algn="l">
              <a:defRPr sz="1300" b="1">
                <a:solidFill>
                  <a:srgbClr val="1ABC9C"/>
                </a:solidFill>
                <a:latin typeface="Calibri"/>
              </a:defRPr>
            </a:pPr>
            <a:r>
              <a:t>Resource Utilization</a:t>
            </a:r>
          </a:p>
        </p:txBody>
      </p:sp>
      <p:sp>
        <p:nvSpPr>
          <p:cNvPr id="16" name="TextBox 15"/>
          <p:cNvSpPr txBox="1"/>
          <p:nvPr/>
        </p:nvSpPr>
        <p:spPr>
          <a:xfrm>
            <a:off x="5760720" y="3337560"/>
            <a:ext cx="2103120" cy="640080"/>
          </a:xfrm>
          <a:prstGeom prst="rect">
            <a:avLst/>
          </a:prstGeom>
          <a:noFill/>
        </p:spPr>
        <p:txBody>
          <a:bodyPr wrap="square">
            <a:spAutoFit/>
          </a:bodyPr>
          <a:lstStyle/>
          <a:p>
            <a:pPr algn="l">
              <a:defRPr sz="1100" b="0">
                <a:solidFill>
                  <a:srgbClr val="BDBDBD"/>
                </a:solidFill>
                <a:latin typeface="Calibri"/>
              </a:defRPr>
            </a:pPr>
            <a:r>
              <a:t>Node/pod CPU &amp; memory</a:t>
            </a:r>
            <a:br/>
            <a:r>
              <a:t>under contention</a:t>
            </a:r>
          </a:p>
        </p:txBody>
      </p:sp>
      <p:sp>
        <p:nvSpPr>
          <p:cNvPr id="17" name="Rounded Rectangle 16"/>
          <p:cNvSpPr/>
          <p:nvPr/>
        </p:nvSpPr>
        <p:spPr>
          <a:xfrm>
            <a:off x="8229600" y="3017520"/>
            <a:ext cx="2286000" cy="100584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017520"/>
            <a:ext cx="2103120" cy="274320"/>
          </a:xfrm>
          <a:prstGeom prst="rect">
            <a:avLst/>
          </a:prstGeom>
          <a:noFill/>
        </p:spPr>
        <p:txBody>
          <a:bodyPr wrap="square">
            <a:spAutoFit/>
          </a:bodyPr>
          <a:lstStyle/>
          <a:p>
            <a:pPr algn="l">
              <a:defRPr sz="1300" b="1">
                <a:solidFill>
                  <a:srgbClr val="F39C12"/>
                </a:solidFill>
                <a:latin typeface="Calibri"/>
              </a:defRPr>
            </a:pPr>
            <a:r>
              <a:t>I/O Throughput</a:t>
            </a:r>
          </a:p>
        </p:txBody>
      </p:sp>
      <p:sp>
        <p:nvSpPr>
          <p:cNvPr id="19" name="TextBox 18"/>
          <p:cNvSpPr txBox="1"/>
          <p:nvPr/>
        </p:nvSpPr>
        <p:spPr>
          <a:xfrm>
            <a:off x="8321040" y="3337560"/>
            <a:ext cx="2103120" cy="640080"/>
          </a:xfrm>
          <a:prstGeom prst="rect">
            <a:avLst/>
          </a:prstGeom>
          <a:noFill/>
        </p:spPr>
        <p:txBody>
          <a:bodyPr wrap="square">
            <a:spAutoFit/>
          </a:bodyPr>
          <a:lstStyle/>
          <a:p>
            <a:pPr algn="l">
              <a:defRPr sz="1100" b="0">
                <a:solidFill>
                  <a:srgbClr val="BDBDBD"/>
                </a:solidFill>
                <a:latin typeface="Calibri"/>
              </a:defRPr>
            </a:pPr>
            <a:r>
              <a:t>Redis ops/s, disk sequential</a:t>
            </a:r>
            <a:br/>
            <a:r>
              <a:t>read/write bytes/s</a:t>
            </a:r>
          </a:p>
        </p:txBody>
      </p:sp>
      <p:sp>
        <p:nvSpPr>
          <p:cNvPr id="20" name="Rounded Rectangle 19"/>
          <p:cNvSpPr/>
          <p:nvPr/>
        </p:nvSpPr>
        <p:spPr>
          <a:xfrm>
            <a:off x="548640" y="4297680"/>
            <a:ext cx="11064240" cy="73152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343400"/>
            <a:ext cx="10698480" cy="274320"/>
          </a:xfrm>
          <a:prstGeom prst="rect">
            <a:avLst/>
          </a:prstGeom>
          <a:noFill/>
        </p:spPr>
        <p:txBody>
          <a:bodyPr wrap="square">
            <a:spAutoFit/>
          </a:bodyPr>
          <a:lstStyle/>
          <a:p>
            <a:pPr algn="l">
              <a:defRPr sz="1600" b="1">
                <a:solidFill>
                  <a:srgbClr val="0096D6"/>
                </a:solidFill>
                <a:latin typeface="Calibri"/>
              </a:defRPr>
            </a:pPr>
            <a:r>
              <a:t>Approach</a:t>
            </a:r>
          </a:p>
        </p:txBody>
      </p:sp>
      <p:sp>
        <p:nvSpPr>
          <p:cNvPr id="22" name="Rounded Rectangle 21"/>
          <p:cNvSpPr/>
          <p:nvPr/>
        </p:nvSpPr>
        <p:spPr>
          <a:xfrm>
            <a:off x="731520" y="4617720"/>
            <a:ext cx="1645920" cy="32004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Deploy</a:t>
            </a:r>
          </a:p>
        </p:txBody>
      </p:sp>
      <p:sp>
        <p:nvSpPr>
          <p:cNvPr id="23" name="Rounded Rectangle 22"/>
          <p:cNvSpPr/>
          <p:nvPr/>
        </p:nvSpPr>
        <p:spPr>
          <a:xfrm>
            <a:off x="2743200" y="4617720"/>
            <a:ext cx="1645920" cy="32004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Place</a:t>
            </a:r>
          </a:p>
        </p:txBody>
      </p:sp>
      <p:sp>
        <p:nvSpPr>
          <p:cNvPr id="24" name="Rounded Rectangle 23"/>
          <p:cNvSpPr/>
          <p:nvPr/>
        </p:nvSpPr>
        <p:spPr>
          <a:xfrm>
            <a:off x="4754880" y="4617720"/>
            <a:ext cx="16459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Inject</a:t>
            </a:r>
          </a:p>
        </p:txBody>
      </p:sp>
      <p:sp>
        <p:nvSpPr>
          <p:cNvPr id="25" name="Rounded Rectangle 24"/>
          <p:cNvSpPr/>
          <p:nvPr/>
        </p:nvSpPr>
        <p:spPr>
          <a:xfrm>
            <a:off x="6766560" y="4617720"/>
            <a:ext cx="1645920" cy="32004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Measure</a:t>
            </a:r>
          </a:p>
        </p:txBody>
      </p:sp>
      <p:sp>
        <p:nvSpPr>
          <p:cNvPr id="26" name="Rounded Rectangle 25"/>
          <p:cNvSpPr/>
          <p:nvPr/>
        </p:nvSpPr>
        <p:spPr>
          <a:xfrm>
            <a:off x="8778240" y="4617720"/>
            <a:ext cx="1645920" cy="3200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Compare</a:t>
            </a:r>
          </a:p>
        </p:txBody>
      </p:sp>
      <p:cxnSp>
        <p:nvCxnSpPr>
          <p:cNvPr id="27" name="Connector 26"/>
          <p:cNvCxnSpPr/>
          <p:nvPr/>
        </p:nvCxnSpPr>
        <p:spPr>
          <a:xfrm>
            <a:off x="237744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38912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40080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41248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548640" y="5303520"/>
            <a:ext cx="11064240" cy="11887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5303520"/>
            <a:ext cx="10698480" cy="274320"/>
          </a:xfrm>
          <a:prstGeom prst="rect">
            <a:avLst/>
          </a:prstGeom>
          <a:noFill/>
        </p:spPr>
        <p:txBody>
          <a:bodyPr wrap="square">
            <a:spAutoFit/>
          </a:bodyPr>
          <a:lstStyle/>
          <a:p>
            <a:pPr algn="l">
              <a:defRPr sz="1600" b="1">
                <a:solidFill>
                  <a:srgbClr val="2ECC71"/>
                </a:solidFill>
                <a:latin typeface="Calibri"/>
              </a:defRPr>
            </a:pPr>
            <a:r>
              <a:t>Hypotheses</a:t>
            </a:r>
          </a:p>
        </p:txBody>
      </p:sp>
      <p:sp>
        <p:nvSpPr>
          <p:cNvPr id="33" name="TextBox 32"/>
          <p:cNvSpPr txBox="1"/>
          <p:nvPr/>
        </p:nvSpPr>
        <p:spPr>
          <a:xfrm>
            <a:off x="731520" y="5623560"/>
            <a:ext cx="10698480" cy="82296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H1: Colocating all pods on one node causes worst resilience (maximum contention for CPU, memory, I/O, network)</a:t>
            </a:r>
          </a:p>
          <a:p>
            <a:pPr>
              <a:spcBef>
                <a:spcPts val="200"/>
              </a:spcBef>
              <a:spcAft>
                <a:spcPts val="200"/>
              </a:spcAft>
              <a:defRPr sz="1200">
                <a:solidFill>
                  <a:srgbClr val="BDBDBD"/>
                </a:solidFill>
                <a:latin typeface="Calibri"/>
              </a:defRPr>
            </a:pPr>
            <a:r>
              <a:t>H2: Spreading pods across nodes minimizes contention but may increase cross-node network latency</a:t>
            </a:r>
          </a:p>
          <a:p>
            <a:pPr>
              <a:spcBef>
                <a:spcPts val="200"/>
              </a:spcBef>
              <a:spcAft>
                <a:spcPts val="200"/>
              </a:spcAft>
              <a:defRPr sz="1200">
                <a:solidFill>
                  <a:srgbClr val="BDBDBD"/>
                </a:solidFill>
                <a:latin typeface="Calibri"/>
              </a:defRPr>
            </a:pPr>
            <a:r>
              <a:t>H3: Baseline (no real fault) should score 100% — any degradation indicates pre-existing instability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Microservices &amp; The Problem</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5303520" cy="228600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937760" cy="320040"/>
          </a:xfrm>
          <a:prstGeom prst="rect">
            <a:avLst/>
          </a:prstGeom>
          <a:noFill/>
        </p:spPr>
        <p:txBody>
          <a:bodyPr wrap="square">
            <a:spAutoFit/>
          </a:bodyPr>
          <a:lstStyle/>
          <a:p>
            <a:pPr algn="l">
              <a:defRPr sz="1600" b="1">
                <a:solidFill>
                  <a:srgbClr val="3498DB"/>
                </a:solidFill>
                <a:latin typeface="Calibri"/>
              </a:defRPr>
            </a:pPr>
            <a:r>
              <a:t>What Are Microservices?</a:t>
            </a:r>
          </a:p>
        </p:txBody>
      </p:sp>
      <p:sp>
        <p:nvSpPr>
          <p:cNvPr id="6" name="TextBox 5"/>
          <p:cNvSpPr txBox="1"/>
          <p:nvPr/>
        </p:nvSpPr>
        <p:spPr>
          <a:xfrm>
            <a:off x="731520" y="1737360"/>
            <a:ext cx="4937760" cy="18288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Decomposed application: each service has a</a:t>
            </a:r>
            <a:br/>
            <a:r>
              <a:t>  single responsibility and own lifecycle</a:t>
            </a:r>
          </a:p>
          <a:p>
            <a:pPr>
              <a:spcBef>
                <a:spcPts val="200"/>
              </a:spcBef>
              <a:spcAft>
                <a:spcPts val="200"/>
              </a:spcAft>
              <a:defRPr sz="1200">
                <a:solidFill>
                  <a:srgbClr val="BDBDBD"/>
                </a:solidFill>
                <a:latin typeface="Calibri"/>
              </a:defRPr>
            </a:pPr>
            <a:r>
              <a:t>• Communicate via network (HTTP / gRPC / Redis)</a:t>
            </a:r>
          </a:p>
          <a:p>
            <a:pPr>
              <a:spcBef>
                <a:spcPts val="200"/>
              </a:spcBef>
              <a:spcAft>
                <a:spcPts val="200"/>
              </a:spcAft>
              <a:defRPr sz="1200">
                <a:solidFill>
                  <a:srgbClr val="BDBDBD"/>
                </a:solidFill>
                <a:latin typeface="Calibri"/>
              </a:defRPr>
            </a:pPr>
            <a:r>
              <a:t>• Deployed as containers on Kubernetes</a:t>
            </a:r>
          </a:p>
          <a:p>
            <a:pPr>
              <a:spcBef>
                <a:spcPts val="200"/>
              </a:spcBef>
              <a:spcAft>
                <a:spcPts val="200"/>
              </a:spcAft>
              <a:defRPr sz="1200">
                <a:solidFill>
                  <a:srgbClr val="BDBDBD"/>
                </a:solidFill>
                <a:latin typeface="Calibri"/>
              </a:defRPr>
            </a:pPr>
            <a:r>
              <a:t>• Independently scalable and deployable</a:t>
            </a:r>
          </a:p>
        </p:txBody>
      </p:sp>
      <p:sp>
        <p:nvSpPr>
          <p:cNvPr id="7" name="Rounded Rectangle 6"/>
          <p:cNvSpPr/>
          <p:nvPr/>
        </p:nvSpPr>
        <p:spPr>
          <a:xfrm>
            <a:off x="6217920" y="1371600"/>
            <a:ext cx="5303520" cy="228600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4937760" cy="320040"/>
          </a:xfrm>
          <a:prstGeom prst="rect">
            <a:avLst/>
          </a:prstGeom>
          <a:noFill/>
        </p:spPr>
        <p:txBody>
          <a:bodyPr wrap="square">
            <a:spAutoFit/>
          </a:bodyPr>
          <a:lstStyle/>
          <a:p>
            <a:pPr algn="l">
              <a:defRPr sz="1600" b="1">
                <a:solidFill>
                  <a:srgbClr val="E74C3C"/>
                </a:solidFill>
                <a:latin typeface="Calibri"/>
              </a:defRPr>
            </a:pPr>
            <a:r>
              <a:t>The Problem</a:t>
            </a:r>
          </a:p>
        </p:txBody>
      </p:sp>
      <p:sp>
        <p:nvSpPr>
          <p:cNvPr id="9" name="TextBox 8"/>
          <p:cNvSpPr txBox="1"/>
          <p:nvPr/>
        </p:nvSpPr>
        <p:spPr>
          <a:xfrm>
            <a:off x="6400800" y="1737360"/>
            <a:ext cx="4937760" cy="18288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Kubernetes scheduler optimizes for resource fit,</a:t>
            </a:r>
            <a:br/>
            <a:r>
              <a:t>  not for resilience or fault isolation</a:t>
            </a:r>
          </a:p>
          <a:p>
            <a:pPr>
              <a:spcBef>
                <a:spcPts val="200"/>
              </a:spcBef>
              <a:spcAft>
                <a:spcPts val="200"/>
              </a:spcAft>
              <a:defRPr sz="1200">
                <a:solidFill>
                  <a:srgbClr val="BDBDBD"/>
                </a:solidFill>
                <a:latin typeface="Calibri"/>
              </a:defRPr>
            </a:pPr>
            <a:r>
              <a:t>• Pod placement determines which services share</a:t>
            </a:r>
            <a:br/>
            <a:r>
              <a:t>  node resources (CPU, memory, disk, network)</a:t>
            </a:r>
          </a:p>
          <a:p>
            <a:pPr>
              <a:spcBef>
                <a:spcPts val="200"/>
              </a:spcBef>
              <a:spcAft>
                <a:spcPts val="200"/>
              </a:spcAft>
              <a:defRPr sz="1200">
                <a:solidFill>
                  <a:srgbClr val="BDBDBD"/>
                </a:solidFill>
                <a:latin typeface="Calibri"/>
              </a:defRPr>
            </a:pPr>
            <a:r>
              <a:t>• Co-located services suffer correlated failures:</a:t>
            </a:r>
            <a:br/>
            <a:r>
              <a:t>  one fault cascades to neighbors on the same node</a:t>
            </a:r>
          </a:p>
        </p:txBody>
      </p:sp>
      <p:sp>
        <p:nvSpPr>
          <p:cNvPr id="10" name="Rounded Rectangle 9"/>
          <p:cNvSpPr/>
          <p:nvPr/>
        </p:nvSpPr>
        <p:spPr>
          <a:xfrm>
            <a:off x="548640" y="3931920"/>
            <a:ext cx="5303520" cy="13716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31920"/>
            <a:ext cx="4937760" cy="320040"/>
          </a:xfrm>
          <a:prstGeom prst="rect">
            <a:avLst/>
          </a:prstGeom>
          <a:noFill/>
        </p:spPr>
        <p:txBody>
          <a:bodyPr wrap="square">
            <a:spAutoFit/>
          </a:bodyPr>
          <a:lstStyle/>
          <a:p>
            <a:pPr algn="l">
              <a:defRPr sz="1600" b="1">
                <a:solidFill>
                  <a:srgbClr val="F39C12"/>
                </a:solidFill>
                <a:latin typeface="Calibri"/>
              </a:defRPr>
            </a:pPr>
            <a:r>
              <a:t>What We Investigated</a:t>
            </a:r>
          </a:p>
        </p:txBody>
      </p:sp>
      <p:sp>
        <p:nvSpPr>
          <p:cNvPr id="12" name="TextBox 11"/>
          <p:cNvSpPr txBox="1"/>
          <p:nvPr/>
        </p:nvSpPr>
        <p:spPr>
          <a:xfrm>
            <a:off x="731520" y="4297680"/>
            <a:ext cx="4937760" cy="9144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6 placement strategies × 2 fault types</a:t>
            </a:r>
          </a:p>
          <a:p>
            <a:pPr>
              <a:spcBef>
                <a:spcPts val="200"/>
              </a:spcBef>
              <a:spcAft>
                <a:spcPts val="200"/>
              </a:spcAft>
              <a:defRPr sz="1200">
                <a:solidFill>
                  <a:srgbClr val="BDBDBD"/>
                </a:solidFill>
                <a:latin typeface="Calibri"/>
              </a:defRPr>
            </a:pPr>
            <a:r>
              <a:t>• Measured: recovery time, latency, resources, I/O</a:t>
            </a:r>
          </a:p>
          <a:p>
            <a:pPr>
              <a:spcBef>
                <a:spcPts val="200"/>
              </a:spcBef>
              <a:spcAft>
                <a:spcPts val="200"/>
              </a:spcAft>
              <a:defRPr sz="1200">
                <a:solidFill>
                  <a:srgbClr val="BDBDBD"/>
                </a:solidFill>
                <a:latin typeface="Calibri"/>
              </a:defRPr>
            </a:pPr>
            <a:r>
              <a:t>• 12-microservice application (Google Online Boutique)</a:t>
            </a:r>
          </a:p>
        </p:txBody>
      </p:sp>
      <p:sp>
        <p:nvSpPr>
          <p:cNvPr id="13" name="Rounded Rectangle 12"/>
          <p:cNvSpPr/>
          <p:nvPr/>
        </p:nvSpPr>
        <p:spPr>
          <a:xfrm>
            <a:off x="6217920" y="3931920"/>
            <a:ext cx="5303520" cy="13716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931920"/>
            <a:ext cx="4937760" cy="320040"/>
          </a:xfrm>
          <a:prstGeom prst="rect">
            <a:avLst/>
          </a:prstGeom>
          <a:noFill/>
        </p:spPr>
        <p:txBody>
          <a:bodyPr wrap="square">
            <a:spAutoFit/>
          </a:bodyPr>
          <a:lstStyle/>
          <a:p>
            <a:pPr algn="l">
              <a:defRPr sz="1600" b="1">
                <a:solidFill>
                  <a:srgbClr val="2ECC71"/>
                </a:solidFill>
                <a:latin typeface="Calibri"/>
              </a:defRPr>
            </a:pPr>
            <a:r>
              <a:t>Our Proposed Solution</a:t>
            </a:r>
          </a:p>
        </p:txBody>
      </p:sp>
      <p:sp>
        <p:nvSpPr>
          <p:cNvPr id="15" name="TextBox 14"/>
          <p:cNvSpPr txBox="1"/>
          <p:nvPr/>
        </p:nvSpPr>
        <p:spPr>
          <a:xfrm>
            <a:off x="6400800" y="4297680"/>
            <a:ext cx="4937760" cy="9144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ChaosProbe: automated framework to systematically</a:t>
            </a:r>
            <a:br/>
            <a:r>
              <a:t>  test placement strategies under chaos injection</a:t>
            </a:r>
          </a:p>
          <a:p>
            <a:pPr>
              <a:spcBef>
                <a:spcPts val="200"/>
              </a:spcBef>
              <a:spcAft>
                <a:spcPts val="200"/>
              </a:spcAft>
              <a:defRPr sz="1200">
                <a:solidFill>
                  <a:srgbClr val="BDBDBD"/>
                </a:solidFill>
                <a:latin typeface="Calibri"/>
              </a:defRPr>
            </a:pPr>
            <a:r>
              <a:t>• Collect structured metrics, store in graph DB,</a:t>
            </a:r>
            <a:br/>
            <a:r>
              <a:t>  compare strategies quantitatively</a:t>
            </a:r>
          </a:p>
        </p:txBody>
      </p:sp>
      <p:sp>
        <p:nvSpPr>
          <p:cNvPr id="16" name="Rounded Rectangle 15"/>
          <p:cNvSpPr/>
          <p:nvPr/>
        </p:nvSpPr>
        <p:spPr>
          <a:xfrm>
            <a:off x="548640" y="5577840"/>
            <a:ext cx="11064240" cy="1005840"/>
          </a:xfrm>
          <a:prstGeom prst="roundRect">
            <a:avLst/>
          </a:prstGeom>
          <a:solidFill>
            <a:srgbClr val="121222"/>
          </a:solidFill>
          <a:ln w="12700">
            <a:solidFill>
              <a:srgbClr val="909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698480" cy="274320"/>
          </a:xfrm>
          <a:prstGeom prst="rect">
            <a:avLst/>
          </a:prstGeom>
          <a:noFill/>
        </p:spPr>
        <p:txBody>
          <a:bodyPr wrap="square">
            <a:spAutoFit/>
          </a:bodyPr>
          <a:lstStyle/>
          <a:p>
            <a:pPr algn="l">
              <a:defRPr sz="1400" b="1">
                <a:solidFill>
                  <a:srgbClr val="BDBDBD"/>
                </a:solidFill>
                <a:latin typeface="Calibri"/>
              </a:defRPr>
            </a:pPr>
            <a:r>
              <a:t>Context: Chaos Engineering</a:t>
            </a:r>
          </a:p>
        </p:txBody>
      </p:sp>
      <p:sp>
        <p:nvSpPr>
          <p:cNvPr id="18" name="TextBox 17"/>
          <p:cNvSpPr txBox="1"/>
          <p:nvPr/>
        </p:nvSpPr>
        <p:spPr>
          <a:xfrm>
            <a:off x="731520" y="5897880"/>
            <a:ext cx="10698480" cy="640080"/>
          </a:xfrm>
          <a:prstGeom prst="rect">
            <a:avLst/>
          </a:prstGeom>
          <a:noFill/>
        </p:spPr>
        <p:txBody>
          <a:bodyPr wrap="square">
            <a:spAutoFit/>
          </a:bodyPr>
          <a:lstStyle/>
          <a:p>
            <a:pPr algn="l">
              <a:defRPr sz="1200" b="0">
                <a:solidFill>
                  <a:srgbClr val="9090A0"/>
                </a:solidFill>
                <a:latin typeface="Calibri"/>
              </a:defRPr>
            </a:pPr>
            <a:r>
              <a:t>Chaos engineering is the discipline of experimenting on a system to build confidence in its ability to withstand turbulent conditions in production (Basiri et al., 2016). We extend this by systematically varying pod placement to isolate topology's effect on resilience.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Placement Strategies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371600"/>
            <a:ext cx="3474720" cy="2286000"/>
          </a:xfrm>
          <a:prstGeom prst="roundRect">
            <a:avLst/>
          </a:prstGeom>
          <a:solidFill>
            <a:srgbClr val="121222"/>
          </a:solidFill>
          <a:ln w="254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3291840" cy="320040"/>
          </a:xfrm>
          <a:prstGeom prst="rect">
            <a:avLst/>
          </a:prstGeom>
          <a:noFill/>
        </p:spPr>
        <p:txBody>
          <a:bodyPr wrap="square">
            <a:spAutoFit/>
          </a:bodyPr>
          <a:lstStyle/>
          <a:p>
            <a:pPr algn="l">
              <a:defRPr sz="1600" b="1">
                <a:solidFill>
                  <a:srgbClr val="7F8C8D"/>
                </a:solidFill>
                <a:latin typeface="Calibri"/>
              </a:defRPr>
            </a:pPr>
            <a:r>
              <a:t>Baseline</a:t>
            </a:r>
          </a:p>
        </p:txBody>
      </p:sp>
      <p:sp>
        <p:nvSpPr>
          <p:cNvPr id="6" name="TextBox 5"/>
          <p:cNvSpPr txBox="1"/>
          <p:nvPr/>
        </p:nvSpPr>
        <p:spPr>
          <a:xfrm>
            <a:off x="548640" y="1737360"/>
            <a:ext cx="1828800" cy="822960"/>
          </a:xfrm>
          <a:prstGeom prst="rect">
            <a:avLst/>
          </a:prstGeom>
          <a:noFill/>
        </p:spPr>
        <p:txBody>
          <a:bodyPr wrap="square">
            <a:spAutoFit/>
          </a:bodyPr>
          <a:lstStyle/>
          <a:p>
            <a:pPr algn="l">
              <a:defRPr sz="1100" b="0">
                <a:solidFill>
                  <a:srgbClr val="BDBDBD"/>
                </a:solidFill>
                <a:latin typeface="Calibri"/>
              </a:defRPr>
            </a:pPr>
            <a:r>
              <a:t>Default scheduler</a:t>
            </a:r>
            <a:br/>
            <a:r>
              <a:t>Trivial fault (1% CPU, 1s)</a:t>
            </a:r>
            <a:br/>
            <a:r>
              <a:t>Control group — no real disruption</a:t>
            </a:r>
          </a:p>
        </p:txBody>
      </p:sp>
      <p:sp>
        <p:nvSpPr>
          <p:cNvPr id="7" name="Rounded Rectangle 6"/>
          <p:cNvSpPr/>
          <p:nvPr/>
        </p:nvSpPr>
        <p:spPr>
          <a:xfrm>
            <a:off x="2651760" y="2286000"/>
            <a:ext cx="228600" cy="22860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91840" y="2286000"/>
            <a:ext cx="228600" cy="22860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51760" y="2651760"/>
            <a:ext cx="228600" cy="22860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91840" y="2651760"/>
            <a:ext cx="228600" cy="22860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3291840" cy="228600"/>
          </a:xfrm>
          <a:prstGeom prst="rect">
            <a:avLst/>
          </a:prstGeom>
          <a:noFill/>
        </p:spPr>
        <p:txBody>
          <a:bodyPr wrap="square">
            <a:spAutoFit/>
          </a:bodyPr>
          <a:lstStyle/>
          <a:p>
            <a:pPr algn="l">
              <a:defRPr sz="1100" b="1">
                <a:solidFill>
                  <a:srgbClr val="2ECC71"/>
                </a:solidFill>
                <a:latin typeface="Calibri"/>
              </a:defRPr>
            </a:pPr>
            <a:r>
              <a:t>Contention: None</a:t>
            </a:r>
          </a:p>
        </p:txBody>
      </p:sp>
      <p:sp>
        <p:nvSpPr>
          <p:cNvPr id="12" name="TextBox 11"/>
          <p:cNvSpPr txBox="1"/>
          <p:nvPr/>
        </p:nvSpPr>
        <p:spPr>
          <a:xfrm>
            <a:off x="548640" y="3291840"/>
            <a:ext cx="3291840" cy="274320"/>
          </a:xfrm>
          <a:prstGeom prst="rect">
            <a:avLst/>
          </a:prstGeom>
          <a:noFill/>
        </p:spPr>
        <p:txBody>
          <a:bodyPr wrap="square">
            <a:spAutoFit/>
          </a:bodyPr>
          <a:lstStyle/>
          <a:p>
            <a:pPr algn="l">
              <a:defRPr sz="1000" b="0">
                <a:solidFill>
                  <a:srgbClr val="9090A0"/>
                </a:solidFill>
                <a:latin typeface="Calibri"/>
              </a:defRPr>
            </a:pPr>
            <a:r>
              <a:t>Expected: 100% score</a:t>
            </a:r>
          </a:p>
        </p:txBody>
      </p:sp>
      <p:sp>
        <p:nvSpPr>
          <p:cNvPr id="13" name="Rounded Rectangle 12"/>
          <p:cNvSpPr/>
          <p:nvPr/>
        </p:nvSpPr>
        <p:spPr>
          <a:xfrm>
            <a:off x="4297680" y="1371600"/>
            <a:ext cx="3474720" cy="2286000"/>
          </a:xfrm>
          <a:prstGeom prst="roundRect">
            <a:avLst/>
          </a:prstGeom>
          <a:solidFill>
            <a:srgbClr val="121222"/>
          </a:solidFill>
          <a:ln w="254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1417320"/>
            <a:ext cx="3291840" cy="320040"/>
          </a:xfrm>
          <a:prstGeom prst="rect">
            <a:avLst/>
          </a:prstGeom>
          <a:noFill/>
        </p:spPr>
        <p:txBody>
          <a:bodyPr wrap="square">
            <a:spAutoFit/>
          </a:bodyPr>
          <a:lstStyle/>
          <a:p>
            <a:pPr algn="l">
              <a:defRPr sz="1600" b="1">
                <a:solidFill>
                  <a:srgbClr val="3498DB"/>
                </a:solidFill>
                <a:latin typeface="Calibri"/>
              </a:defRPr>
            </a:pPr>
            <a:r>
              <a:t>Default</a:t>
            </a:r>
          </a:p>
        </p:txBody>
      </p:sp>
      <p:sp>
        <p:nvSpPr>
          <p:cNvPr id="15" name="TextBox 14"/>
          <p:cNvSpPr txBox="1"/>
          <p:nvPr/>
        </p:nvSpPr>
        <p:spPr>
          <a:xfrm>
            <a:off x="4389120" y="1737360"/>
            <a:ext cx="1828800" cy="822960"/>
          </a:xfrm>
          <a:prstGeom prst="rect">
            <a:avLst/>
          </a:prstGeom>
          <a:noFill/>
        </p:spPr>
        <p:txBody>
          <a:bodyPr wrap="square">
            <a:spAutoFit/>
          </a:bodyPr>
          <a:lstStyle/>
          <a:p>
            <a:pPr algn="l">
              <a:defRPr sz="1100" b="0">
                <a:solidFill>
                  <a:srgbClr val="BDBDBD"/>
                </a:solidFill>
                <a:latin typeface="Calibri"/>
              </a:defRPr>
            </a:pPr>
            <a:r>
              <a:t>Default K8s scheduler</a:t>
            </a:r>
            <a:br/>
            <a:r>
              <a:t>Full chaos injection</a:t>
            </a:r>
            <a:br/>
            <a:r>
              <a:t>No placement mutation</a:t>
            </a:r>
          </a:p>
        </p:txBody>
      </p:sp>
      <p:sp>
        <p:nvSpPr>
          <p:cNvPr id="16" name="Rounded Rectangle 15"/>
          <p:cNvSpPr/>
          <p:nvPr/>
        </p:nvSpPr>
        <p:spPr>
          <a:xfrm>
            <a:off x="6492240" y="2286000"/>
            <a:ext cx="228600" cy="22860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32320" y="2286000"/>
            <a:ext cx="228600" cy="22860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92240" y="2651760"/>
            <a:ext cx="228600" cy="22860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132320" y="2651760"/>
            <a:ext cx="228600" cy="22860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3063240"/>
            <a:ext cx="3291840" cy="228600"/>
          </a:xfrm>
          <a:prstGeom prst="rect">
            <a:avLst/>
          </a:prstGeom>
          <a:noFill/>
        </p:spPr>
        <p:txBody>
          <a:bodyPr wrap="square">
            <a:spAutoFit/>
          </a:bodyPr>
          <a:lstStyle/>
          <a:p>
            <a:pPr algn="l">
              <a:defRPr sz="1100" b="1">
                <a:solidFill>
                  <a:srgbClr val="2ECC71"/>
                </a:solidFill>
                <a:latin typeface="Calibri"/>
              </a:defRPr>
            </a:pPr>
            <a:r>
              <a:t>Contention: Low</a:t>
            </a:r>
          </a:p>
        </p:txBody>
      </p:sp>
      <p:sp>
        <p:nvSpPr>
          <p:cNvPr id="21" name="TextBox 20"/>
          <p:cNvSpPr txBox="1"/>
          <p:nvPr/>
        </p:nvSpPr>
        <p:spPr>
          <a:xfrm>
            <a:off x="4389120" y="3291840"/>
            <a:ext cx="3291840" cy="274320"/>
          </a:xfrm>
          <a:prstGeom prst="rect">
            <a:avLst/>
          </a:prstGeom>
          <a:noFill/>
        </p:spPr>
        <p:txBody>
          <a:bodyPr wrap="square">
            <a:spAutoFit/>
          </a:bodyPr>
          <a:lstStyle/>
          <a:p>
            <a:pPr algn="l">
              <a:defRPr sz="1000" b="0">
                <a:solidFill>
                  <a:srgbClr val="9090A0"/>
                </a:solidFill>
                <a:latin typeface="Calibri"/>
              </a:defRPr>
            </a:pPr>
            <a:r>
              <a:t>Scheduler-determined placement</a:t>
            </a:r>
          </a:p>
        </p:txBody>
      </p:sp>
      <p:sp>
        <p:nvSpPr>
          <p:cNvPr id="22" name="Rounded Rectangle 21"/>
          <p:cNvSpPr/>
          <p:nvPr/>
        </p:nvSpPr>
        <p:spPr>
          <a:xfrm>
            <a:off x="8138160" y="1371600"/>
            <a:ext cx="3474720" cy="228600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1417320"/>
            <a:ext cx="3291840" cy="320040"/>
          </a:xfrm>
          <a:prstGeom prst="rect">
            <a:avLst/>
          </a:prstGeom>
          <a:noFill/>
        </p:spPr>
        <p:txBody>
          <a:bodyPr wrap="square">
            <a:spAutoFit/>
          </a:bodyPr>
          <a:lstStyle/>
          <a:p>
            <a:pPr algn="l">
              <a:defRPr sz="1600" b="1">
                <a:solidFill>
                  <a:srgbClr val="E74C3C"/>
                </a:solidFill>
                <a:latin typeface="Calibri"/>
              </a:defRPr>
            </a:pPr>
            <a:r>
              <a:t>Colocate</a:t>
            </a:r>
          </a:p>
        </p:txBody>
      </p:sp>
      <p:sp>
        <p:nvSpPr>
          <p:cNvPr id="24" name="TextBox 23"/>
          <p:cNvSpPr txBox="1"/>
          <p:nvPr/>
        </p:nvSpPr>
        <p:spPr>
          <a:xfrm>
            <a:off x="8229600" y="1737360"/>
            <a:ext cx="1828800" cy="822960"/>
          </a:xfrm>
          <a:prstGeom prst="rect">
            <a:avLst/>
          </a:prstGeom>
          <a:noFill/>
        </p:spPr>
        <p:txBody>
          <a:bodyPr wrap="square">
            <a:spAutoFit/>
          </a:bodyPr>
          <a:lstStyle/>
          <a:p>
            <a:pPr algn="l">
              <a:defRPr sz="1100" b="0">
                <a:solidFill>
                  <a:srgbClr val="BDBDBD"/>
                </a:solidFill>
                <a:latin typeface="Calibri"/>
              </a:defRPr>
            </a:pPr>
            <a:r>
              <a:t>ALL pods pinned to single node</a:t>
            </a:r>
            <a:br/>
            <a:r>
              <a:t>Max resource contention</a:t>
            </a:r>
            <a:br/>
            <a:r>
              <a:t>Worst-case scenario</a:t>
            </a:r>
          </a:p>
        </p:txBody>
      </p:sp>
      <p:sp>
        <p:nvSpPr>
          <p:cNvPr id="25" name="Rounded Rectangle 24"/>
          <p:cNvSpPr/>
          <p:nvPr/>
        </p:nvSpPr>
        <p:spPr>
          <a:xfrm>
            <a:off x="10332720" y="2286000"/>
            <a:ext cx="228600" cy="2286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561320" y="2423160"/>
            <a:ext cx="228600" cy="2286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332720" y="2560320"/>
            <a:ext cx="228600" cy="2286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61320" y="2697479"/>
            <a:ext cx="228600" cy="2286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0" y="3063240"/>
            <a:ext cx="3291840" cy="228600"/>
          </a:xfrm>
          <a:prstGeom prst="rect">
            <a:avLst/>
          </a:prstGeom>
          <a:noFill/>
        </p:spPr>
        <p:txBody>
          <a:bodyPr wrap="square">
            <a:spAutoFit/>
          </a:bodyPr>
          <a:lstStyle/>
          <a:p>
            <a:pPr algn="l">
              <a:defRPr sz="1100" b="1">
                <a:solidFill>
                  <a:srgbClr val="E74C3C"/>
                </a:solidFill>
                <a:latin typeface="Calibri"/>
              </a:defRPr>
            </a:pPr>
            <a:r>
              <a:t>Contention: Maximum</a:t>
            </a:r>
          </a:p>
        </p:txBody>
      </p:sp>
      <p:sp>
        <p:nvSpPr>
          <p:cNvPr id="30" name="TextBox 29"/>
          <p:cNvSpPr txBox="1"/>
          <p:nvPr/>
        </p:nvSpPr>
        <p:spPr>
          <a:xfrm>
            <a:off x="8229600" y="3291840"/>
            <a:ext cx="3291840" cy="274320"/>
          </a:xfrm>
          <a:prstGeom prst="rect">
            <a:avLst/>
          </a:prstGeom>
          <a:noFill/>
        </p:spPr>
        <p:txBody>
          <a:bodyPr wrap="square">
            <a:spAutoFit/>
          </a:bodyPr>
          <a:lstStyle/>
          <a:p>
            <a:pPr algn="l">
              <a:defRPr sz="1000" b="0">
                <a:solidFill>
                  <a:srgbClr val="9090A0"/>
                </a:solidFill>
                <a:latin typeface="Calibri"/>
              </a:defRPr>
            </a:pPr>
            <a:r>
              <a:t>Expected: worst resilience</a:t>
            </a:r>
          </a:p>
        </p:txBody>
      </p:sp>
      <p:sp>
        <p:nvSpPr>
          <p:cNvPr id="31" name="Rounded Rectangle 30"/>
          <p:cNvSpPr/>
          <p:nvPr/>
        </p:nvSpPr>
        <p:spPr>
          <a:xfrm>
            <a:off x="457200" y="4023360"/>
            <a:ext cx="3474720" cy="2286000"/>
          </a:xfrm>
          <a:prstGeom prst="roundRect">
            <a:avLst/>
          </a:prstGeom>
          <a:solidFill>
            <a:srgbClr val="121222"/>
          </a:solidFill>
          <a:ln w="254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069080"/>
            <a:ext cx="3291840" cy="320040"/>
          </a:xfrm>
          <a:prstGeom prst="rect">
            <a:avLst/>
          </a:prstGeom>
          <a:noFill/>
        </p:spPr>
        <p:txBody>
          <a:bodyPr wrap="square">
            <a:spAutoFit/>
          </a:bodyPr>
          <a:lstStyle/>
          <a:p>
            <a:pPr algn="l">
              <a:defRPr sz="1600" b="1">
                <a:solidFill>
                  <a:srgbClr val="2ECC71"/>
                </a:solidFill>
                <a:latin typeface="Calibri"/>
              </a:defRPr>
            </a:pPr>
            <a:r>
              <a:t>Spread</a:t>
            </a:r>
          </a:p>
        </p:txBody>
      </p:sp>
      <p:sp>
        <p:nvSpPr>
          <p:cNvPr id="33" name="TextBox 32"/>
          <p:cNvSpPr txBox="1"/>
          <p:nvPr/>
        </p:nvSpPr>
        <p:spPr>
          <a:xfrm>
            <a:off x="548640" y="4389120"/>
            <a:ext cx="1828800" cy="822960"/>
          </a:xfrm>
          <a:prstGeom prst="rect">
            <a:avLst/>
          </a:prstGeom>
          <a:noFill/>
        </p:spPr>
        <p:txBody>
          <a:bodyPr wrap="square">
            <a:spAutoFit/>
          </a:bodyPr>
          <a:lstStyle/>
          <a:p>
            <a:pPr algn="l">
              <a:defRPr sz="1100" b="0">
                <a:solidFill>
                  <a:srgbClr val="BDBDBD"/>
                </a:solidFill>
                <a:latin typeface="Calibri"/>
              </a:defRPr>
            </a:pPr>
            <a:r>
              <a:t>Round-robin distribution</a:t>
            </a:r>
            <a:br/>
            <a:r>
              <a:t>across all worker nodes</a:t>
            </a:r>
            <a:br/>
            <a:r>
              <a:t>Minimal per-node contention</a:t>
            </a:r>
          </a:p>
        </p:txBody>
      </p:sp>
      <p:sp>
        <p:nvSpPr>
          <p:cNvPr id="34" name="Rounded Rectangle 33"/>
          <p:cNvSpPr/>
          <p:nvPr/>
        </p:nvSpPr>
        <p:spPr>
          <a:xfrm>
            <a:off x="2468880" y="5120640"/>
            <a:ext cx="228600" cy="22860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834640" y="5120640"/>
            <a:ext cx="228600" cy="22860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200400" y="5120640"/>
            <a:ext cx="228600" cy="22860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566160" y="5120640"/>
            <a:ext cx="228600" cy="22860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715000"/>
            <a:ext cx="3291840" cy="228600"/>
          </a:xfrm>
          <a:prstGeom prst="rect">
            <a:avLst/>
          </a:prstGeom>
          <a:noFill/>
        </p:spPr>
        <p:txBody>
          <a:bodyPr wrap="square">
            <a:spAutoFit/>
          </a:bodyPr>
          <a:lstStyle/>
          <a:p>
            <a:pPr algn="l">
              <a:defRPr sz="1100" b="1">
                <a:solidFill>
                  <a:srgbClr val="2ECC71"/>
                </a:solidFill>
                <a:latin typeface="Calibri"/>
              </a:defRPr>
            </a:pPr>
            <a:r>
              <a:t>Contention: Minimum</a:t>
            </a:r>
          </a:p>
        </p:txBody>
      </p:sp>
      <p:sp>
        <p:nvSpPr>
          <p:cNvPr id="39" name="TextBox 38"/>
          <p:cNvSpPr txBox="1"/>
          <p:nvPr/>
        </p:nvSpPr>
        <p:spPr>
          <a:xfrm>
            <a:off x="548640" y="5943600"/>
            <a:ext cx="3291840" cy="274320"/>
          </a:xfrm>
          <a:prstGeom prst="rect">
            <a:avLst/>
          </a:prstGeom>
          <a:noFill/>
        </p:spPr>
        <p:txBody>
          <a:bodyPr wrap="square">
            <a:spAutoFit/>
          </a:bodyPr>
          <a:lstStyle/>
          <a:p>
            <a:pPr algn="l">
              <a:defRPr sz="1000" b="0">
                <a:solidFill>
                  <a:srgbClr val="9090A0"/>
                </a:solidFill>
                <a:latin typeface="Calibri"/>
              </a:defRPr>
            </a:pPr>
            <a:r>
              <a:t>Expected: best resilience</a:t>
            </a:r>
          </a:p>
        </p:txBody>
      </p:sp>
      <p:sp>
        <p:nvSpPr>
          <p:cNvPr id="40" name="Rounded Rectangle 39"/>
          <p:cNvSpPr/>
          <p:nvPr/>
        </p:nvSpPr>
        <p:spPr>
          <a:xfrm>
            <a:off x="4297680" y="4023360"/>
            <a:ext cx="3474720" cy="2286000"/>
          </a:xfrm>
          <a:prstGeom prst="roundRect">
            <a:avLst/>
          </a:prstGeom>
          <a:solidFill>
            <a:srgbClr val="121222"/>
          </a:solidFill>
          <a:ln w="254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89120" y="4069080"/>
            <a:ext cx="3291840" cy="320040"/>
          </a:xfrm>
          <a:prstGeom prst="rect">
            <a:avLst/>
          </a:prstGeom>
          <a:noFill/>
        </p:spPr>
        <p:txBody>
          <a:bodyPr wrap="square">
            <a:spAutoFit/>
          </a:bodyPr>
          <a:lstStyle/>
          <a:p>
            <a:pPr algn="l">
              <a:defRPr sz="1600" b="1">
                <a:solidFill>
                  <a:srgbClr val="F39C12"/>
                </a:solidFill>
                <a:latin typeface="Calibri"/>
              </a:defRPr>
            </a:pPr>
            <a:r>
              <a:t>Random</a:t>
            </a:r>
          </a:p>
        </p:txBody>
      </p:sp>
      <p:sp>
        <p:nvSpPr>
          <p:cNvPr id="42" name="TextBox 41"/>
          <p:cNvSpPr txBox="1"/>
          <p:nvPr/>
        </p:nvSpPr>
        <p:spPr>
          <a:xfrm>
            <a:off x="4389120" y="4389120"/>
            <a:ext cx="1828800" cy="822960"/>
          </a:xfrm>
          <a:prstGeom prst="rect">
            <a:avLst/>
          </a:prstGeom>
          <a:noFill/>
        </p:spPr>
        <p:txBody>
          <a:bodyPr wrap="square">
            <a:spAutoFit/>
          </a:bodyPr>
          <a:lstStyle/>
          <a:p>
            <a:pPr algn="l">
              <a:defRPr sz="1100" b="0">
                <a:solidFill>
                  <a:srgbClr val="BDBDBD"/>
                </a:solidFill>
                <a:latin typeface="Calibri"/>
              </a:defRPr>
            </a:pPr>
            <a:r>
              <a:t>Random assignment per pod</a:t>
            </a:r>
            <a:br/>
            <a:r>
              <a:t>Reproducible via seed</a:t>
            </a:r>
            <a:br/>
            <a:r>
              <a:t>Unpredictable contention</a:t>
            </a:r>
          </a:p>
        </p:txBody>
      </p:sp>
      <p:sp>
        <p:nvSpPr>
          <p:cNvPr id="43" name="Rounded Rectangle 42"/>
          <p:cNvSpPr/>
          <p:nvPr/>
        </p:nvSpPr>
        <p:spPr>
          <a:xfrm>
            <a:off x="6400800" y="4937760"/>
            <a:ext cx="228600" cy="22860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7040880" y="5303520"/>
            <a:ext cx="228600" cy="22860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400800" y="5303520"/>
            <a:ext cx="228600" cy="22860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040880" y="4937760"/>
            <a:ext cx="228600" cy="22860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89120" y="5715000"/>
            <a:ext cx="3291840" cy="228600"/>
          </a:xfrm>
          <a:prstGeom prst="rect">
            <a:avLst/>
          </a:prstGeom>
          <a:noFill/>
        </p:spPr>
        <p:txBody>
          <a:bodyPr wrap="square">
            <a:spAutoFit/>
          </a:bodyPr>
          <a:lstStyle/>
          <a:p>
            <a:pPr algn="l">
              <a:defRPr sz="1100" b="1">
                <a:solidFill>
                  <a:srgbClr val="F39C12"/>
                </a:solidFill>
                <a:latin typeface="Calibri"/>
              </a:defRPr>
            </a:pPr>
            <a:r>
              <a:t>Contention: Variable</a:t>
            </a:r>
          </a:p>
        </p:txBody>
      </p:sp>
      <p:sp>
        <p:nvSpPr>
          <p:cNvPr id="48" name="TextBox 47"/>
          <p:cNvSpPr txBox="1"/>
          <p:nvPr/>
        </p:nvSpPr>
        <p:spPr>
          <a:xfrm>
            <a:off x="4389120" y="5943600"/>
            <a:ext cx="3291840" cy="274320"/>
          </a:xfrm>
          <a:prstGeom prst="rect">
            <a:avLst/>
          </a:prstGeom>
          <a:noFill/>
        </p:spPr>
        <p:txBody>
          <a:bodyPr wrap="square">
            <a:spAutoFit/>
          </a:bodyPr>
          <a:lstStyle/>
          <a:p>
            <a:pPr algn="l">
              <a:defRPr sz="1000" b="0">
                <a:solidFill>
                  <a:srgbClr val="9090A0"/>
                </a:solidFill>
                <a:latin typeface="Calibri"/>
              </a:defRPr>
            </a:pPr>
            <a:r>
              <a:t>Seed-based reproducibility</a:t>
            </a:r>
          </a:p>
        </p:txBody>
      </p:sp>
      <p:sp>
        <p:nvSpPr>
          <p:cNvPr id="49" name="Rounded Rectangle 48"/>
          <p:cNvSpPr/>
          <p:nvPr/>
        </p:nvSpPr>
        <p:spPr>
          <a:xfrm>
            <a:off x="8138160" y="4023360"/>
            <a:ext cx="3474720" cy="2286000"/>
          </a:xfrm>
          <a:prstGeom prst="roundRect">
            <a:avLst/>
          </a:prstGeom>
          <a:solidFill>
            <a:srgbClr val="121222"/>
          </a:solidFill>
          <a:ln w="254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4069080"/>
            <a:ext cx="3291840" cy="320040"/>
          </a:xfrm>
          <a:prstGeom prst="rect">
            <a:avLst/>
          </a:prstGeom>
          <a:noFill/>
        </p:spPr>
        <p:txBody>
          <a:bodyPr wrap="square">
            <a:spAutoFit/>
          </a:bodyPr>
          <a:lstStyle/>
          <a:p>
            <a:pPr algn="l">
              <a:defRPr sz="1600" b="1">
                <a:solidFill>
                  <a:srgbClr val="9B59B6"/>
                </a:solidFill>
                <a:latin typeface="Calibri"/>
              </a:defRPr>
            </a:pPr>
            <a:r>
              <a:t>Antagonistic</a:t>
            </a:r>
          </a:p>
        </p:txBody>
      </p:sp>
      <p:sp>
        <p:nvSpPr>
          <p:cNvPr id="51" name="TextBox 50"/>
          <p:cNvSpPr txBox="1"/>
          <p:nvPr/>
        </p:nvSpPr>
        <p:spPr>
          <a:xfrm>
            <a:off x="8229600" y="4389120"/>
            <a:ext cx="1828800" cy="822960"/>
          </a:xfrm>
          <a:prstGeom prst="rect">
            <a:avLst/>
          </a:prstGeom>
          <a:noFill/>
        </p:spPr>
        <p:txBody>
          <a:bodyPr wrap="square">
            <a:spAutoFit/>
          </a:bodyPr>
          <a:lstStyle/>
          <a:p>
            <a:pPr algn="l">
              <a:defRPr sz="1100" b="0">
                <a:solidFill>
                  <a:srgbClr val="BDBDBD"/>
                </a:solidFill>
                <a:latin typeface="Calibri"/>
              </a:defRPr>
            </a:pPr>
            <a:r>
              <a:t>Heavy pods → 1 node</a:t>
            </a:r>
            <a:br/>
            <a:r>
              <a:t>Light pods → remaining nodes</a:t>
            </a:r>
            <a:br/>
            <a:r>
              <a:t>Intentional CPU/mem hotspot</a:t>
            </a:r>
          </a:p>
        </p:txBody>
      </p:sp>
      <p:sp>
        <p:nvSpPr>
          <p:cNvPr id="52" name="Rounded Rectangle 51"/>
          <p:cNvSpPr/>
          <p:nvPr/>
        </p:nvSpPr>
        <p:spPr>
          <a:xfrm>
            <a:off x="10241280" y="4937760"/>
            <a:ext cx="228600" cy="228600"/>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0469880" y="5074920"/>
            <a:ext cx="228600" cy="228600"/>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0881360" y="5120640"/>
            <a:ext cx="228600" cy="228600"/>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1155680" y="5303520"/>
            <a:ext cx="228600" cy="228600"/>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29600" y="5715000"/>
            <a:ext cx="3291840" cy="228600"/>
          </a:xfrm>
          <a:prstGeom prst="rect">
            <a:avLst/>
          </a:prstGeom>
          <a:noFill/>
        </p:spPr>
        <p:txBody>
          <a:bodyPr wrap="square">
            <a:spAutoFit/>
          </a:bodyPr>
          <a:lstStyle/>
          <a:p>
            <a:pPr algn="l">
              <a:defRPr sz="1100" b="1">
                <a:solidFill>
                  <a:srgbClr val="E74C3C"/>
                </a:solidFill>
                <a:latin typeface="Calibri"/>
              </a:defRPr>
            </a:pPr>
            <a:r>
              <a:t>Contention: High</a:t>
            </a:r>
          </a:p>
        </p:txBody>
      </p:sp>
      <p:sp>
        <p:nvSpPr>
          <p:cNvPr id="57" name="TextBox 56"/>
          <p:cNvSpPr txBox="1"/>
          <p:nvPr/>
        </p:nvSpPr>
        <p:spPr>
          <a:xfrm>
            <a:off x="8229600" y="5943600"/>
            <a:ext cx="3291840" cy="274320"/>
          </a:xfrm>
          <a:prstGeom prst="rect">
            <a:avLst/>
          </a:prstGeom>
          <a:noFill/>
        </p:spPr>
        <p:txBody>
          <a:bodyPr wrap="square">
            <a:spAutoFit/>
          </a:bodyPr>
          <a:lstStyle/>
          <a:p>
            <a:pPr algn="l">
              <a:defRPr sz="1000" b="0">
                <a:solidFill>
                  <a:srgbClr val="9090A0"/>
                </a:solidFill>
                <a:latin typeface="Calibri"/>
              </a:defRPr>
            </a:pPr>
            <a:r>
              <a:t>Resource-weighted 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Target Application — Online Boutique</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486400" cy="320040"/>
          </a:xfrm>
          <a:prstGeom prst="rect">
            <a:avLst/>
          </a:prstGeom>
          <a:noFill/>
        </p:spPr>
        <p:txBody>
          <a:bodyPr wrap="square">
            <a:spAutoFit/>
          </a:bodyPr>
          <a:lstStyle/>
          <a:p>
            <a:pPr algn="l">
              <a:defRPr sz="1600" b="1">
                <a:solidFill>
                  <a:srgbClr val="0096D6"/>
                </a:solidFill>
                <a:latin typeface="Calibri"/>
              </a:defRPr>
            </a:pPr>
            <a:r>
              <a:t>12 Microservices — Service Dependency Graph</a:t>
            </a:r>
          </a:p>
        </p:txBody>
      </p:sp>
      <p:sp>
        <p:nvSpPr>
          <p:cNvPr id="5" name="Rounded Rectangle 4"/>
          <p:cNvSpPr/>
          <p:nvPr/>
        </p:nvSpPr>
        <p:spPr>
          <a:xfrm>
            <a:off x="3200400" y="1737360"/>
            <a:ext cx="1828800" cy="45720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frontend</a:t>
            </a:r>
          </a:p>
        </p:txBody>
      </p:sp>
      <p:sp>
        <p:nvSpPr>
          <p:cNvPr id="6" name="Rounded Rectangle 5"/>
          <p:cNvSpPr/>
          <p:nvPr/>
        </p:nvSpPr>
        <p:spPr>
          <a:xfrm>
            <a:off x="457200" y="2468880"/>
            <a:ext cx="118872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productcatalog</a:t>
            </a:r>
          </a:p>
        </p:txBody>
      </p:sp>
      <p:cxnSp>
        <p:nvCxnSpPr>
          <p:cNvPr id="7" name="Connector 6"/>
          <p:cNvCxnSpPr/>
          <p:nvPr/>
        </p:nvCxnSpPr>
        <p:spPr>
          <a:xfrm flipH="1">
            <a:off x="1051560" y="2194560"/>
            <a:ext cx="306324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20240" y="2468880"/>
            <a:ext cx="118872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currency</a:t>
            </a:r>
          </a:p>
        </p:txBody>
      </p:sp>
      <p:cxnSp>
        <p:nvCxnSpPr>
          <p:cNvPr id="9" name="Connector 8"/>
          <p:cNvCxnSpPr/>
          <p:nvPr/>
        </p:nvCxnSpPr>
        <p:spPr>
          <a:xfrm flipH="1">
            <a:off x="2514600" y="2194560"/>
            <a:ext cx="16002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2468880"/>
            <a:ext cx="118872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cart</a:t>
            </a:r>
          </a:p>
        </p:txBody>
      </p:sp>
      <p:cxnSp>
        <p:nvCxnSpPr>
          <p:cNvPr id="11" name="Connector 10"/>
          <p:cNvCxnSpPr/>
          <p:nvPr/>
        </p:nvCxnSpPr>
        <p:spPr>
          <a:xfrm flipH="1">
            <a:off x="3977640" y="2194560"/>
            <a:ext cx="13716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54880" y="2468880"/>
            <a:ext cx="118872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recommend.</a:t>
            </a:r>
          </a:p>
        </p:txBody>
      </p:sp>
      <p:cxnSp>
        <p:nvCxnSpPr>
          <p:cNvPr id="13" name="Connector 12"/>
          <p:cNvCxnSpPr/>
          <p:nvPr/>
        </p:nvCxnSpPr>
        <p:spPr>
          <a:xfrm>
            <a:off x="4114800" y="2194560"/>
            <a:ext cx="123444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011680" y="3200400"/>
            <a:ext cx="128016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checkout</a:t>
            </a:r>
          </a:p>
        </p:txBody>
      </p:sp>
      <p:cxnSp>
        <p:nvCxnSpPr>
          <p:cNvPr id="15" name="Connector 14"/>
          <p:cNvCxnSpPr/>
          <p:nvPr/>
        </p:nvCxnSpPr>
        <p:spPr>
          <a:xfrm flipH="1">
            <a:off x="2651760" y="2194560"/>
            <a:ext cx="1463040" cy="100584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114800" y="3200400"/>
            <a:ext cx="137160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redis-cart</a:t>
            </a:r>
          </a:p>
        </p:txBody>
      </p:sp>
      <p:cxnSp>
        <p:nvCxnSpPr>
          <p:cNvPr id="17" name="Connector 16"/>
          <p:cNvCxnSpPr/>
          <p:nvPr/>
        </p:nvCxnSpPr>
        <p:spPr>
          <a:xfrm>
            <a:off x="3977639" y="2926080"/>
            <a:ext cx="822961"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57200" y="3931920"/>
            <a:ext cx="118872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email</a:t>
            </a:r>
          </a:p>
        </p:txBody>
      </p:sp>
      <p:cxnSp>
        <p:nvCxnSpPr>
          <p:cNvPr id="19" name="Connector 18"/>
          <p:cNvCxnSpPr/>
          <p:nvPr/>
        </p:nvCxnSpPr>
        <p:spPr>
          <a:xfrm flipH="1">
            <a:off x="1051560" y="3657600"/>
            <a:ext cx="16002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828800" y="3931920"/>
            <a:ext cx="118872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payment</a:t>
            </a:r>
          </a:p>
        </p:txBody>
      </p:sp>
      <p:cxnSp>
        <p:nvCxnSpPr>
          <p:cNvPr id="21" name="Connector 20"/>
          <p:cNvCxnSpPr/>
          <p:nvPr/>
        </p:nvCxnSpPr>
        <p:spPr>
          <a:xfrm flipH="1">
            <a:off x="2423160" y="3657600"/>
            <a:ext cx="2286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200400" y="3931920"/>
            <a:ext cx="118872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shipping</a:t>
            </a:r>
          </a:p>
        </p:txBody>
      </p:sp>
      <p:cxnSp>
        <p:nvCxnSpPr>
          <p:cNvPr id="23" name="Connector 22"/>
          <p:cNvCxnSpPr/>
          <p:nvPr/>
        </p:nvCxnSpPr>
        <p:spPr>
          <a:xfrm>
            <a:off x="2651760" y="3657600"/>
            <a:ext cx="11430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4320" y="2286000"/>
            <a:ext cx="1554480" cy="822960"/>
          </a:xfrm>
          <a:prstGeom prst="roundRect">
            <a:avLst/>
          </a:prstGeom>
          <a:noFill/>
          <a:ln w="381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3154680"/>
            <a:ext cx="1554480" cy="274320"/>
          </a:xfrm>
          <a:prstGeom prst="rect">
            <a:avLst/>
          </a:prstGeom>
          <a:noFill/>
        </p:spPr>
        <p:txBody>
          <a:bodyPr wrap="square">
            <a:spAutoFit/>
          </a:bodyPr>
          <a:lstStyle/>
          <a:p>
            <a:pPr algn="ctr">
              <a:defRPr sz="1000" b="1">
                <a:solidFill>
                  <a:srgbClr val="E74C3C"/>
                </a:solidFill>
                <a:latin typeface="Calibri"/>
              </a:defRPr>
            </a:pPr>
            <a:r>
              <a:t>Chaos Target</a:t>
            </a:r>
          </a:p>
        </p:txBody>
      </p:sp>
      <p:sp>
        <p:nvSpPr>
          <p:cNvPr id="26" name="Rounded Rectangle 25"/>
          <p:cNvSpPr/>
          <p:nvPr/>
        </p:nvSpPr>
        <p:spPr>
          <a:xfrm>
            <a:off x="6400800" y="1371600"/>
            <a:ext cx="5303520" cy="182880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1371600"/>
            <a:ext cx="4937760" cy="274320"/>
          </a:xfrm>
          <a:prstGeom prst="rect">
            <a:avLst/>
          </a:prstGeom>
          <a:noFill/>
        </p:spPr>
        <p:txBody>
          <a:bodyPr wrap="square">
            <a:spAutoFit/>
          </a:bodyPr>
          <a:lstStyle/>
          <a:p>
            <a:pPr algn="l">
              <a:defRPr sz="1400" b="1">
                <a:solidFill>
                  <a:srgbClr val="E74C3C"/>
                </a:solidFill>
                <a:latin typeface="Calibri"/>
              </a:defRPr>
            </a:pPr>
            <a:r>
              <a:t>Why productcatalogservice?</a:t>
            </a:r>
          </a:p>
        </p:txBody>
      </p:sp>
      <p:sp>
        <p:nvSpPr>
          <p:cNvPr id="28" name="TextBox 27"/>
          <p:cNvSpPr txBox="1"/>
          <p:nvPr/>
        </p:nvSpPr>
        <p:spPr>
          <a:xfrm>
            <a:off x="6583680" y="1691640"/>
            <a:ext cx="4937760" cy="1371600"/>
          </a:xfrm>
          <a:prstGeom prst="rect">
            <a:avLst/>
          </a:prstGeom>
          <a:noFill/>
        </p:spPr>
        <p:txBody>
          <a:bodyPr wrap="square">
            <a:spAutoFit/>
          </a:bodyPr>
          <a:lstStyle/>
          <a:p>
            <a:pPr>
              <a:spcBef>
                <a:spcPts val="200"/>
              </a:spcBef>
              <a:spcAft>
                <a:spcPts val="200"/>
              </a:spcAft>
              <a:defRPr sz="1100">
                <a:solidFill>
                  <a:srgbClr val="BDBDBD"/>
                </a:solidFill>
                <a:latin typeface="Calibri"/>
              </a:defRPr>
            </a:pPr>
            <a:r>
              <a:t>• Central dependency: homepage, product pages,</a:t>
            </a:r>
            <a:br/>
            <a:r>
              <a:t>  recommendations, and search all depend on it</a:t>
            </a:r>
          </a:p>
          <a:p>
            <a:pPr>
              <a:spcBef>
                <a:spcPts val="200"/>
              </a:spcBef>
              <a:spcAft>
                <a:spcPts val="200"/>
              </a:spcAft>
              <a:defRPr sz="1100">
                <a:solidFill>
                  <a:srgbClr val="BDBDBD"/>
                </a:solidFill>
                <a:latin typeface="Calibri"/>
              </a:defRPr>
            </a:pPr>
            <a:r>
              <a:t>• Maximum blast radius: failure cascades to</a:t>
            </a:r>
            <a:br/>
            <a:r>
              <a:t>  frontend and all downstream consumers</a:t>
            </a:r>
          </a:p>
          <a:p>
            <a:pPr>
              <a:spcBef>
                <a:spcPts val="200"/>
              </a:spcBef>
              <a:spcAft>
                <a:spcPts val="200"/>
              </a:spcAft>
              <a:defRPr sz="1100">
                <a:solidFill>
                  <a:srgbClr val="BDBDBD"/>
                </a:solidFill>
                <a:latin typeface="Calibri"/>
              </a:defRPr>
            </a:pPr>
            <a:r>
              <a:t>• Single replica: 100% pod-delete guarantees</a:t>
            </a:r>
            <a:br/>
            <a:r>
              <a:t>  complete service unavailability during chaos</a:t>
            </a:r>
          </a:p>
        </p:txBody>
      </p:sp>
      <p:sp>
        <p:nvSpPr>
          <p:cNvPr id="29" name="Rounded Rectangle 28"/>
          <p:cNvSpPr/>
          <p:nvPr/>
        </p:nvSpPr>
        <p:spPr>
          <a:xfrm>
            <a:off x="6400800" y="3474720"/>
            <a:ext cx="5303520" cy="16459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3474720"/>
            <a:ext cx="4937760" cy="274320"/>
          </a:xfrm>
          <a:prstGeom prst="rect">
            <a:avLst/>
          </a:prstGeom>
          <a:noFill/>
        </p:spPr>
        <p:txBody>
          <a:bodyPr wrap="square">
            <a:spAutoFit/>
          </a:bodyPr>
          <a:lstStyle/>
          <a:p>
            <a:pPr algn="l">
              <a:defRPr sz="1400" b="1">
                <a:solidFill>
                  <a:srgbClr val="2ECC71"/>
                </a:solidFill>
                <a:latin typeface="Calibri"/>
              </a:defRPr>
            </a:pPr>
            <a:r>
              <a:t>Placement Impact Hypothesis</a:t>
            </a:r>
          </a:p>
        </p:txBody>
      </p:sp>
      <p:sp>
        <p:nvSpPr>
          <p:cNvPr id="31" name="TextBox 30"/>
          <p:cNvSpPr txBox="1"/>
          <p:nvPr/>
        </p:nvSpPr>
        <p:spPr>
          <a:xfrm>
            <a:off x="6583680" y="3794760"/>
            <a:ext cx="4937760" cy="1280160"/>
          </a:xfrm>
          <a:prstGeom prst="rect">
            <a:avLst/>
          </a:prstGeom>
          <a:noFill/>
        </p:spPr>
        <p:txBody>
          <a:bodyPr wrap="square">
            <a:spAutoFit/>
          </a:bodyPr>
          <a:lstStyle/>
          <a:p>
            <a:pPr>
              <a:spcBef>
                <a:spcPts val="200"/>
              </a:spcBef>
              <a:spcAft>
                <a:spcPts val="200"/>
              </a:spcAft>
              <a:defRPr sz="1100">
                <a:solidFill>
                  <a:srgbClr val="BDBDBD"/>
                </a:solidFill>
                <a:latin typeface="Calibri"/>
              </a:defRPr>
            </a:pPr>
            <a:r>
              <a:t>• Colocate: productcatalog + frontend on same node</a:t>
            </a:r>
            <a:br/>
            <a:r>
              <a:t>  → correlated failure, worst latency &amp; recovery</a:t>
            </a:r>
          </a:p>
          <a:p>
            <a:pPr>
              <a:spcBef>
                <a:spcPts val="200"/>
              </a:spcBef>
              <a:spcAft>
                <a:spcPts val="200"/>
              </a:spcAft>
              <a:defRPr sz="1100">
                <a:solidFill>
                  <a:srgbClr val="BDBDBD"/>
                </a:solidFill>
                <a:latin typeface="Calibri"/>
              </a:defRPr>
            </a:pPr>
            <a:r>
              <a:t>• Spread: productcatalog isolated on own node</a:t>
            </a:r>
            <a:br/>
            <a:r>
              <a:t>  → fault contained, fastest recovery</a:t>
            </a:r>
          </a:p>
          <a:p>
            <a:pPr>
              <a:spcBef>
                <a:spcPts val="200"/>
              </a:spcBef>
              <a:spcAft>
                <a:spcPts val="200"/>
              </a:spcAft>
              <a:defRPr sz="1100">
                <a:solidFill>
                  <a:srgbClr val="BDBDBD"/>
                </a:solidFill>
                <a:latin typeface="Calibri"/>
              </a:defRPr>
            </a:pPr>
            <a:r>
              <a:t>• Baseline: trivial fault (1% CPU, 1s)</a:t>
            </a:r>
            <a:br/>
            <a:r>
              <a:t>  → all probes pass, score = 100%</a:t>
            </a:r>
          </a:p>
        </p:txBody>
      </p:sp>
      <p:sp>
        <p:nvSpPr>
          <p:cNvPr id="32" name="Rounded Rectangle 31"/>
          <p:cNvSpPr/>
          <p:nvPr/>
        </p:nvSpPr>
        <p:spPr>
          <a:xfrm>
            <a:off x="457200" y="5303520"/>
            <a:ext cx="5029200" cy="118872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303520"/>
            <a:ext cx="4663440" cy="274320"/>
          </a:xfrm>
          <a:prstGeom prst="rect">
            <a:avLst/>
          </a:prstGeom>
          <a:noFill/>
        </p:spPr>
        <p:txBody>
          <a:bodyPr wrap="square">
            <a:spAutoFit/>
          </a:bodyPr>
          <a:lstStyle/>
          <a:p>
            <a:pPr algn="l">
              <a:defRPr sz="1300" b="1">
                <a:solidFill>
                  <a:srgbClr val="3498DB"/>
                </a:solidFill>
                <a:latin typeface="Calibri"/>
              </a:defRPr>
            </a:pPr>
            <a:r>
              <a:t>Load Generation (Locust)</a:t>
            </a:r>
          </a:p>
        </p:txBody>
      </p:sp>
      <p:graphicFrame>
        <p:nvGraphicFramePr>
          <p:cNvPr id="34" name="Table 33"/>
          <p:cNvGraphicFramePr>
            <a:graphicFrameLocks noGrp="1"/>
          </p:cNvGraphicFramePr>
          <p:nvPr/>
        </p:nvGraphicFramePr>
        <p:xfrm>
          <a:off x="640080" y="5623560"/>
          <a:ext cx="4663440" cy="640080"/>
        </p:xfrm>
        <a:graphic>
          <a:graphicData uri="http://schemas.openxmlformats.org/drawingml/2006/table">
            <a:tbl>
              <a:tblPr firstRow="1" bandRow="1">
                <a:tableStyleId>{5C22544A-7EE6-4342-B048-85BDC9FD1C3A}</a:tableStyleId>
              </a:tblPr>
              <a:tblGrid>
                <a:gridCol w="1165860"/>
                <a:gridCol w="1165860"/>
                <a:gridCol w="1165860"/>
                <a:gridCol w="1165860"/>
              </a:tblGrid>
              <a:tr h="320040">
                <a:tc>
                  <a:txBody>
                    <a:bodyPr wrap="square"/>
                    <a:lstStyle/>
                    <a:p>
                      <a:pPr algn="l"/>
                      <a:r>
                        <a:rPr sz="1000" b="1">
                          <a:solidFill>
                            <a:srgbClr val="FFFFFF"/>
                          </a:solidFill>
                          <a:latin typeface="Calibri"/>
                        </a:rPr>
                        <a:t>Profile</a:t>
                      </a:r>
                    </a:p>
                  </a:txBody>
                  <a:tcPr marL="76200" marR="76200" marT="38100" marB="38100">
                    <a:solidFill>
                      <a:srgbClr val="0096D6"/>
                    </a:solidFill>
                  </a:tcPr>
                </a:tc>
                <a:tc>
                  <a:txBody>
                    <a:bodyPr wrap="square"/>
                    <a:lstStyle/>
                    <a:p>
                      <a:pPr algn="l"/>
                      <a:r>
                        <a:rPr sz="1000" b="1">
                          <a:solidFill>
                            <a:srgbClr val="FFFFFF"/>
                          </a:solidFill>
                          <a:latin typeface="Calibri"/>
                        </a:rPr>
                        <a:t>Users</a:t>
                      </a:r>
                    </a:p>
                  </a:txBody>
                  <a:tcPr marL="76200" marR="76200" marT="38100" marB="38100">
                    <a:solidFill>
                      <a:srgbClr val="0096D6"/>
                    </a:solidFill>
                  </a:tcPr>
                </a:tc>
                <a:tc>
                  <a:txBody>
                    <a:bodyPr wrap="square"/>
                    <a:lstStyle/>
                    <a:p>
                      <a:pPr algn="l"/>
                      <a:r>
                        <a:rPr sz="1000" b="1">
                          <a:solidFill>
                            <a:srgbClr val="FFFFFF"/>
                          </a:solidFill>
                          <a:latin typeface="Calibri"/>
                        </a:rPr>
                        <a:t>Spawn Rate</a:t>
                      </a:r>
                    </a:p>
                  </a:txBody>
                  <a:tcPr marL="76200" marR="76200" marT="38100" marB="38100">
                    <a:solidFill>
                      <a:srgbClr val="0096D6"/>
                    </a:solidFill>
                  </a:tcPr>
                </a:tc>
                <a:tc>
                  <a:txBody>
                    <a:bodyPr wrap="square"/>
                    <a:lstStyle/>
                    <a:p>
                      <a:pPr algn="l"/>
                      <a:r>
                        <a:rPr sz="1000" b="1">
                          <a:solidFill>
                            <a:srgbClr val="FFFFFF"/>
                          </a:solidFill>
                          <a:latin typeface="Calibri"/>
                        </a:rPr>
                        <a:t>Duration</a:t>
                      </a:r>
                    </a:p>
                  </a:txBody>
                  <a:tcPr marL="76200" marR="76200" marT="38100" marB="38100">
                    <a:solidFill>
                      <a:srgbClr val="0096D6"/>
                    </a:solidFill>
                  </a:tcPr>
                </a:tc>
              </a:tr>
              <a:tr h="320040">
                <a:tc>
                  <a:txBody>
                    <a:bodyPr wrap="square"/>
                    <a:lstStyle/>
                    <a:p>
                      <a:pPr algn="l"/>
                      <a:r>
                        <a:rPr sz="1000" b="0">
                          <a:solidFill>
                            <a:srgbClr val="FFFFFF"/>
                          </a:solidFill>
                          <a:latin typeface="Calibri"/>
                        </a:rPr>
                        <a:t>steady</a:t>
                      </a:r>
                    </a:p>
                  </a:txBody>
                  <a:tcPr marL="76200" marR="76200" marT="38100" marB="38100">
                    <a:solidFill>
                      <a:srgbClr val="2A2A3E"/>
                    </a:solidFill>
                  </a:tcPr>
                </a:tc>
                <a:tc>
                  <a:txBody>
                    <a:bodyPr wrap="square"/>
                    <a:lstStyle/>
                    <a:p>
                      <a:pPr algn="l"/>
                      <a:r>
                        <a:rPr sz="1000" b="0">
                          <a:solidFill>
                            <a:srgbClr val="FFFFFF"/>
                          </a:solidFill>
                          <a:latin typeface="Calibri"/>
                        </a:rPr>
                        <a:t>50</a:t>
                      </a:r>
                    </a:p>
                  </a:txBody>
                  <a:tcPr marL="76200" marR="76200" marT="38100" marB="38100">
                    <a:solidFill>
                      <a:srgbClr val="2A2A3E"/>
                    </a:solidFill>
                  </a:tcPr>
                </a:tc>
                <a:tc>
                  <a:txBody>
                    <a:bodyPr wrap="square"/>
                    <a:lstStyle/>
                    <a:p>
                      <a:pPr algn="l"/>
                      <a:r>
                        <a:rPr sz="1000" b="0">
                          <a:solidFill>
                            <a:srgbClr val="FFFFFF"/>
                          </a:solidFill>
                          <a:latin typeface="Calibri"/>
                        </a:rPr>
                        <a:t>10/s</a:t>
                      </a:r>
                    </a:p>
                  </a:txBody>
                  <a:tcPr marL="76200" marR="76200" marT="38100" marB="38100">
                    <a:solidFill>
                      <a:srgbClr val="2A2A3E"/>
                    </a:solidFill>
                  </a:tcPr>
                </a:tc>
                <a:tc>
                  <a:txBody>
                    <a:bodyPr wrap="square"/>
                    <a:lstStyle/>
                    <a:p>
                      <a:pPr algn="l"/>
                      <a:r>
                        <a:rPr sz="1000" b="0">
                          <a:solidFill>
                            <a:srgbClr val="FFFFFF"/>
                          </a:solidFill>
                          <a:latin typeface="Calibri"/>
                        </a:rPr>
                        <a:t>120s</a:t>
                      </a:r>
                    </a:p>
                  </a:txBody>
                  <a:tcPr marL="76200" marR="76200" marT="38100" marB="38100">
                    <a:solidFill>
                      <a:srgbClr val="2A2A3E"/>
                    </a:solidFill>
                  </a:tcPr>
                </a:tc>
              </a:tr>
            </a:tbl>
          </a:graphicData>
        </a:graphic>
      </p:graphicFrame>
      <p:sp>
        <p:nvSpPr>
          <p:cNvPr id="35" name="TextBox 34"/>
          <p:cNvSpPr txBox="1"/>
          <p:nvPr/>
        </p:nvSpPr>
        <p:spPr>
          <a:xfrm>
            <a:off x="6400800" y="5303520"/>
            <a:ext cx="5303520" cy="274320"/>
          </a:xfrm>
          <a:prstGeom prst="rect">
            <a:avLst/>
          </a:prstGeom>
          <a:noFill/>
        </p:spPr>
        <p:txBody>
          <a:bodyPr wrap="square">
            <a:spAutoFit/>
          </a:bodyPr>
          <a:lstStyle/>
          <a:p>
            <a:pPr algn="l">
              <a:defRPr sz="1300" b="1">
                <a:solidFill>
                  <a:srgbClr val="9090A0"/>
                </a:solidFill>
                <a:latin typeface="Calibri"/>
              </a:defRPr>
            </a:pPr>
            <a:r>
              <a:t>Additional Services</a:t>
            </a:r>
          </a:p>
        </p:txBody>
      </p:sp>
      <p:sp>
        <p:nvSpPr>
          <p:cNvPr id="36" name="TextBox 35"/>
          <p:cNvSpPr txBox="1"/>
          <p:nvPr/>
        </p:nvSpPr>
        <p:spPr>
          <a:xfrm>
            <a:off x="6400800" y="5623560"/>
            <a:ext cx="5303520" cy="731520"/>
          </a:xfrm>
          <a:prstGeom prst="rect">
            <a:avLst/>
          </a:prstGeom>
          <a:noFill/>
        </p:spPr>
        <p:txBody>
          <a:bodyPr wrap="square">
            <a:spAutoFit/>
          </a:bodyPr>
          <a:lstStyle/>
          <a:p>
            <a:pPr algn="l">
              <a:defRPr sz="1100" b="0">
                <a:solidFill>
                  <a:srgbClr val="9090A0"/>
                </a:solidFill>
                <a:latin typeface="Calibri"/>
              </a:defRPr>
            </a:pPr>
            <a:r>
              <a:t>ad-service, loadgenerator (Locust), plus infrastructure:</a:t>
            </a:r>
            <a:br/>
            <a:r>
              <a:t>ChaosCenter (litmus namespace), Prometheus (monitoring),</a:t>
            </a:r>
            <a:br/>
            <a:r>
              <a:t>Neo4j (neo4j namespace), metrics-server (kube-system)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Key Design Decisions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188720"/>
            <a:ext cx="11064240" cy="54864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698480" cy="457200"/>
          </a:xfrm>
          <a:prstGeom prst="rect">
            <a:avLst/>
          </a:prstGeom>
          <a:noFill/>
        </p:spPr>
        <p:txBody>
          <a:bodyPr wrap="square">
            <a:spAutoFit/>
          </a:bodyPr>
          <a:lstStyle/>
          <a:p>
            <a:pPr algn="l">
              <a:defRPr sz="1300" b="0">
                <a:solidFill>
                  <a:srgbClr val="BDBDBD"/>
                </a:solidFill>
                <a:latin typeface="Calibri"/>
              </a:defRPr>
            </a:pPr>
            <a:r>
              <a:t>ChaosProbe contributions: Placement engine, metrics collection framework, result aggregation, Neo4j graph storage, visualization pipeline  |  Existing tools: LitmusChaos, Prometheus, Neo4j, Locust</a:t>
            </a:r>
          </a:p>
        </p:txBody>
      </p:sp>
      <p:sp>
        <p:nvSpPr>
          <p:cNvPr id="6" name="Rounded Rectangle 5"/>
          <p:cNvSpPr/>
          <p:nvPr/>
        </p:nvSpPr>
        <p:spPr>
          <a:xfrm>
            <a:off x="457200" y="1920240"/>
            <a:ext cx="5486400" cy="1280160"/>
          </a:xfrm>
          <a:prstGeom prst="roundRect">
            <a:avLst/>
          </a:prstGeom>
          <a:solidFill>
            <a:srgbClr val="121222"/>
          </a:solidFill>
          <a:ln w="254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65960"/>
            <a:ext cx="5212080" cy="274320"/>
          </a:xfrm>
          <a:prstGeom prst="rect">
            <a:avLst/>
          </a:prstGeom>
          <a:noFill/>
        </p:spPr>
        <p:txBody>
          <a:bodyPr wrap="square">
            <a:spAutoFit/>
          </a:bodyPr>
          <a:lstStyle/>
          <a:p>
            <a:pPr algn="l">
              <a:defRPr sz="1400" b="1">
                <a:solidFill>
                  <a:srgbClr val="9B59B6"/>
                </a:solidFill>
                <a:latin typeface="Calibri"/>
              </a:defRPr>
            </a:pPr>
            <a:r>
              <a:t>Neo4j Graph Store</a:t>
            </a:r>
          </a:p>
        </p:txBody>
      </p:sp>
      <p:sp>
        <p:nvSpPr>
          <p:cNvPr id="8" name="TextBox 7"/>
          <p:cNvSpPr txBox="1"/>
          <p:nvPr/>
        </p:nvSpPr>
        <p:spPr>
          <a:xfrm>
            <a:off x="594360" y="2286000"/>
            <a:ext cx="5212080" cy="868680"/>
          </a:xfrm>
          <a:prstGeom prst="rect">
            <a:avLst/>
          </a:prstGeom>
          <a:noFill/>
        </p:spPr>
        <p:txBody>
          <a:bodyPr wrap="square">
            <a:spAutoFit/>
          </a:bodyPr>
          <a:lstStyle/>
          <a:p>
            <a:pPr algn="l">
              <a:defRPr sz="1200" b="0">
                <a:solidFill>
                  <a:srgbClr val="BDBDBD"/>
                </a:solidFill>
                <a:latin typeface="Calibri"/>
              </a:defRPr>
            </a:pPr>
            <a:r>
              <a:t>Graph DB preserves causal relationships between faults, recovery cycles, and metrics. Cypher queries enable blast-radius analysis and topology comparison.</a:t>
            </a:r>
          </a:p>
        </p:txBody>
      </p:sp>
      <p:sp>
        <p:nvSpPr>
          <p:cNvPr id="9" name="Rounded Rectangle 8"/>
          <p:cNvSpPr/>
          <p:nvPr/>
        </p:nvSpPr>
        <p:spPr>
          <a:xfrm>
            <a:off x="6309360" y="1920240"/>
            <a:ext cx="5486400" cy="128016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965960"/>
            <a:ext cx="5212080" cy="274320"/>
          </a:xfrm>
          <a:prstGeom prst="rect">
            <a:avLst/>
          </a:prstGeom>
          <a:noFill/>
        </p:spPr>
        <p:txBody>
          <a:bodyPr wrap="square">
            <a:spAutoFit/>
          </a:bodyPr>
          <a:lstStyle/>
          <a:p>
            <a:pPr algn="l">
              <a:defRPr sz="1400" b="1">
                <a:solidFill>
                  <a:srgbClr val="E74C3C"/>
                </a:solidFill>
                <a:latin typeface="Calibri"/>
              </a:defRPr>
            </a:pPr>
            <a:r>
              <a:t>ChaosCenter GraphQL API</a:t>
            </a:r>
          </a:p>
        </p:txBody>
      </p:sp>
      <p:sp>
        <p:nvSpPr>
          <p:cNvPr id="11" name="TextBox 10"/>
          <p:cNvSpPr txBox="1"/>
          <p:nvPr/>
        </p:nvSpPr>
        <p:spPr>
          <a:xfrm>
            <a:off x="6446520" y="2286000"/>
            <a:ext cx="5212080" cy="868680"/>
          </a:xfrm>
          <a:prstGeom prst="rect">
            <a:avLst/>
          </a:prstGeom>
          <a:noFill/>
        </p:spPr>
        <p:txBody>
          <a:bodyPr wrap="square">
            <a:spAutoFit/>
          </a:bodyPr>
          <a:lstStyle/>
          <a:p>
            <a:pPr algn="l">
              <a:defRPr sz="1200" b="0">
                <a:solidFill>
                  <a:srgbClr val="BDBDBD"/>
                </a:solidFill>
                <a:latin typeface="Calibri"/>
              </a:defRPr>
            </a:pPr>
            <a:r>
              <a:t>All experiments submitted via ChaosCenter for audit trail and dashboard visibility. Wraps ChaosEngine in Argo Workflow with RBAC management.</a:t>
            </a:r>
          </a:p>
        </p:txBody>
      </p:sp>
      <p:sp>
        <p:nvSpPr>
          <p:cNvPr id="12" name="Rounded Rectangle 11"/>
          <p:cNvSpPr/>
          <p:nvPr/>
        </p:nvSpPr>
        <p:spPr>
          <a:xfrm>
            <a:off x="457200" y="3474720"/>
            <a:ext cx="5486400" cy="1280160"/>
          </a:xfrm>
          <a:prstGeom prst="roundRect">
            <a:avLst/>
          </a:prstGeom>
          <a:solidFill>
            <a:srgbClr val="121222"/>
          </a:solidFill>
          <a:ln w="254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520439"/>
            <a:ext cx="5212080" cy="274320"/>
          </a:xfrm>
          <a:prstGeom prst="rect">
            <a:avLst/>
          </a:prstGeom>
          <a:noFill/>
        </p:spPr>
        <p:txBody>
          <a:bodyPr wrap="square">
            <a:spAutoFit/>
          </a:bodyPr>
          <a:lstStyle/>
          <a:p>
            <a:pPr algn="l">
              <a:defRPr sz="1400" b="1">
                <a:solidFill>
                  <a:srgbClr val="2ECC71"/>
                </a:solidFill>
                <a:latin typeface="Calibri"/>
              </a:defRPr>
            </a:pPr>
            <a:r>
              <a:t>Background Thread Probers</a:t>
            </a:r>
          </a:p>
        </p:txBody>
      </p:sp>
      <p:sp>
        <p:nvSpPr>
          <p:cNvPr id="14" name="TextBox 13"/>
          <p:cNvSpPr txBox="1"/>
          <p:nvPr/>
        </p:nvSpPr>
        <p:spPr>
          <a:xfrm>
            <a:off x="594360" y="3840480"/>
            <a:ext cx="5212080" cy="868680"/>
          </a:xfrm>
          <a:prstGeom prst="rect">
            <a:avLst/>
          </a:prstGeom>
          <a:noFill/>
        </p:spPr>
        <p:txBody>
          <a:bodyPr wrap="square">
            <a:spAutoFit/>
          </a:bodyPr>
          <a:lstStyle/>
          <a:p>
            <a:pPr algn="l">
              <a:defRPr sz="1200" b="0">
                <a:solidFill>
                  <a:srgbClr val="BDBDBD"/>
                </a:solidFill>
                <a:latin typeface="Calibri"/>
              </a:defRPr>
            </a:pPr>
            <a:r>
              <a:t>6 continuous probers run as daemon threads with phase markers. Non-blocking, real-time collection via shared ContinuousProberBase lifecycle.</a:t>
            </a:r>
          </a:p>
        </p:txBody>
      </p:sp>
      <p:sp>
        <p:nvSpPr>
          <p:cNvPr id="15" name="Rounded Rectangle 14"/>
          <p:cNvSpPr/>
          <p:nvPr/>
        </p:nvSpPr>
        <p:spPr>
          <a:xfrm>
            <a:off x="6309360" y="3474720"/>
            <a:ext cx="5486400" cy="1280160"/>
          </a:xfrm>
          <a:prstGeom prst="roundRect">
            <a:avLst/>
          </a:prstGeom>
          <a:solidFill>
            <a:srgbClr val="121222"/>
          </a:solidFill>
          <a:ln w="254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520439"/>
            <a:ext cx="5212080" cy="274320"/>
          </a:xfrm>
          <a:prstGeom prst="rect">
            <a:avLst/>
          </a:prstGeom>
          <a:noFill/>
        </p:spPr>
        <p:txBody>
          <a:bodyPr wrap="square">
            <a:spAutoFit/>
          </a:bodyPr>
          <a:lstStyle/>
          <a:p>
            <a:pPr algn="l">
              <a:defRPr sz="1400" b="1">
                <a:solidFill>
                  <a:srgbClr val="F39C12"/>
                </a:solidFill>
                <a:latin typeface="Calibri"/>
              </a:defRPr>
            </a:pPr>
            <a:r>
              <a:t>6-Probe Scoring Granularity</a:t>
            </a:r>
          </a:p>
        </p:txBody>
      </p:sp>
      <p:sp>
        <p:nvSpPr>
          <p:cNvPr id="17" name="TextBox 16"/>
          <p:cNvSpPr txBox="1"/>
          <p:nvPr/>
        </p:nvSpPr>
        <p:spPr>
          <a:xfrm>
            <a:off x="6446520" y="3840480"/>
            <a:ext cx="5212080" cy="868680"/>
          </a:xfrm>
          <a:prstGeom prst="rect">
            <a:avLst/>
          </a:prstGeom>
          <a:noFill/>
        </p:spPr>
        <p:txBody>
          <a:bodyPr wrap="square">
            <a:spAutoFit/>
          </a:bodyPr>
          <a:lstStyle/>
          <a:p>
            <a:pPr algn="l">
              <a:defRPr sz="1200" b="0">
                <a:solidFill>
                  <a:srgbClr val="BDBDBD"/>
                </a:solidFill>
                <a:latin typeface="Calibri"/>
              </a:defRPr>
            </a:pPr>
            <a:r>
              <a:t>Probes produce 7 distinct score levels (0–100%). Each maps to a resilience state. Includes controls for blast-radius validation (cart, healthz).</a:t>
            </a:r>
          </a:p>
        </p:txBody>
      </p:sp>
      <p:sp>
        <p:nvSpPr>
          <p:cNvPr id="18" name="Rounded Rectangle 17"/>
          <p:cNvSpPr/>
          <p:nvPr/>
        </p:nvSpPr>
        <p:spPr>
          <a:xfrm>
            <a:off x="457200" y="5029200"/>
            <a:ext cx="5486400" cy="1280160"/>
          </a:xfrm>
          <a:prstGeom prst="roundRect">
            <a:avLst/>
          </a:prstGeom>
          <a:solidFill>
            <a:srgbClr val="121222"/>
          </a:solidFill>
          <a:ln w="254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074920"/>
            <a:ext cx="5212080" cy="274320"/>
          </a:xfrm>
          <a:prstGeom prst="rect">
            <a:avLst/>
          </a:prstGeom>
          <a:noFill/>
        </p:spPr>
        <p:txBody>
          <a:bodyPr wrap="square">
            <a:spAutoFit/>
          </a:bodyPr>
          <a:lstStyle/>
          <a:p>
            <a:pPr algn="l">
              <a:defRPr sz="1400" b="1">
                <a:solidFill>
                  <a:srgbClr val="1ABC9C"/>
                </a:solidFill>
                <a:latin typeface="Calibri"/>
              </a:defRPr>
            </a:pPr>
            <a:r>
              <a:t>Reproducible Randomness</a:t>
            </a:r>
          </a:p>
        </p:txBody>
      </p:sp>
      <p:sp>
        <p:nvSpPr>
          <p:cNvPr id="20" name="TextBox 19"/>
          <p:cNvSpPr txBox="1"/>
          <p:nvPr/>
        </p:nvSpPr>
        <p:spPr>
          <a:xfrm>
            <a:off x="594360" y="5394960"/>
            <a:ext cx="5212080" cy="868680"/>
          </a:xfrm>
          <a:prstGeom prst="rect">
            <a:avLst/>
          </a:prstGeom>
          <a:noFill/>
        </p:spPr>
        <p:txBody>
          <a:bodyPr wrap="square">
            <a:spAutoFit/>
          </a:bodyPr>
          <a:lstStyle/>
          <a:p>
            <a:pPr algn="l">
              <a:defRPr sz="1200" b="0">
                <a:solidFill>
                  <a:srgbClr val="BDBDBD"/>
                </a:solidFill>
                <a:latin typeface="Calibri"/>
              </a:defRPr>
            </a:pPr>
            <a:r>
              <a:t>Random and antagonistic strategies use seeded PRNGs. Same seed = same placement = comparable results across experiment runs.</a:t>
            </a:r>
          </a:p>
        </p:txBody>
      </p:sp>
      <p:sp>
        <p:nvSpPr>
          <p:cNvPr id="21" name="Rounded Rectangle 20"/>
          <p:cNvSpPr/>
          <p:nvPr/>
        </p:nvSpPr>
        <p:spPr>
          <a:xfrm>
            <a:off x="6309360" y="5029200"/>
            <a:ext cx="5486400" cy="1280160"/>
          </a:xfrm>
          <a:prstGeom prst="roundRect">
            <a:avLst/>
          </a:prstGeom>
          <a:solidFill>
            <a:srgbClr val="121222"/>
          </a:solidFill>
          <a:ln w="254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5074920"/>
            <a:ext cx="5212080" cy="274320"/>
          </a:xfrm>
          <a:prstGeom prst="rect">
            <a:avLst/>
          </a:prstGeom>
          <a:noFill/>
        </p:spPr>
        <p:txBody>
          <a:bodyPr wrap="square">
            <a:spAutoFit/>
          </a:bodyPr>
          <a:lstStyle/>
          <a:p>
            <a:pPr algn="l">
              <a:defRPr sz="1400" b="1">
                <a:solidFill>
                  <a:srgbClr val="7F8C8D"/>
                </a:solidFill>
                <a:latin typeface="Calibri"/>
              </a:defRPr>
            </a:pPr>
            <a:r>
              <a:t>Trivial-Fault Baseline</a:t>
            </a:r>
          </a:p>
        </p:txBody>
      </p:sp>
      <p:sp>
        <p:nvSpPr>
          <p:cNvPr id="23" name="TextBox 22"/>
          <p:cNvSpPr txBox="1"/>
          <p:nvPr/>
        </p:nvSpPr>
        <p:spPr>
          <a:xfrm>
            <a:off x="6446520" y="5394960"/>
            <a:ext cx="5212080" cy="868680"/>
          </a:xfrm>
          <a:prstGeom prst="rect">
            <a:avLst/>
          </a:prstGeom>
          <a:noFill/>
        </p:spPr>
        <p:txBody>
          <a:bodyPr wrap="square">
            <a:spAutoFit/>
          </a:bodyPr>
          <a:lstStyle/>
          <a:p>
            <a:pPr algn="l">
              <a:defRPr sz="1200" b="0">
                <a:solidFill>
                  <a:srgbClr val="BDBDBD"/>
                </a:solidFill>
                <a:latin typeface="Calibri"/>
              </a:defRPr>
            </a:pPr>
            <a:r>
              <a:t>Baseline swaps pod-delete → pod-cpu-hog (1% CPU, 1s). Probes execute identically but no pods are killed, giving a true control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System Architecture</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280160"/>
            <a:ext cx="5486400" cy="274320"/>
          </a:xfrm>
          <a:prstGeom prst="rect">
            <a:avLst/>
          </a:prstGeom>
          <a:noFill/>
        </p:spPr>
        <p:txBody>
          <a:bodyPr wrap="square">
            <a:spAutoFit/>
          </a:bodyPr>
          <a:lstStyle/>
          <a:p>
            <a:pPr algn="l">
              <a:defRPr sz="1600" b="1">
                <a:solidFill>
                  <a:srgbClr val="0096D6"/>
                </a:solidFill>
                <a:latin typeface="Calibri"/>
              </a:defRPr>
            </a:pPr>
            <a:r>
              <a:t>ChaosProbe (our contribution)</a:t>
            </a:r>
          </a:p>
        </p:txBody>
      </p:sp>
      <p:sp>
        <p:nvSpPr>
          <p:cNvPr id="5" name="Rounded Rectangle 4"/>
          <p:cNvSpPr/>
          <p:nvPr/>
        </p:nvSpPr>
        <p:spPr>
          <a:xfrm>
            <a:off x="274320" y="1645920"/>
            <a:ext cx="2560320" cy="91440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691640"/>
            <a:ext cx="2377440" cy="365760"/>
          </a:xfrm>
          <a:prstGeom prst="rect">
            <a:avLst/>
          </a:prstGeom>
          <a:noFill/>
        </p:spPr>
        <p:txBody>
          <a:bodyPr wrap="square">
            <a:spAutoFit/>
          </a:bodyPr>
          <a:lstStyle/>
          <a:p>
            <a:pPr algn="l">
              <a:defRPr sz="1100" b="1">
                <a:solidFill>
                  <a:srgbClr val="1ABC9C"/>
                </a:solidFill>
                <a:latin typeface="Calibri"/>
              </a:defRPr>
            </a:pPr>
            <a:r>
              <a:t>Placement</a:t>
            </a:r>
            <a:br/>
            <a:r>
              <a:t>Engine</a:t>
            </a:r>
          </a:p>
        </p:txBody>
      </p:sp>
      <p:sp>
        <p:nvSpPr>
          <p:cNvPr id="7" name="TextBox 6"/>
          <p:cNvSpPr txBox="1"/>
          <p:nvPr/>
        </p:nvSpPr>
        <p:spPr>
          <a:xfrm>
            <a:off x="365760" y="2057400"/>
            <a:ext cx="2377440" cy="457200"/>
          </a:xfrm>
          <a:prstGeom prst="rect">
            <a:avLst/>
          </a:prstGeom>
          <a:noFill/>
        </p:spPr>
        <p:txBody>
          <a:bodyPr wrap="square">
            <a:spAutoFit/>
          </a:bodyPr>
          <a:lstStyle/>
          <a:p>
            <a:pPr algn="l">
              <a:defRPr sz="1000" b="0">
                <a:solidFill>
                  <a:srgbClr val="BDBDBD"/>
                </a:solidFill>
                <a:latin typeface="Calibri"/>
              </a:defRPr>
            </a:pPr>
            <a:r>
              <a:t>6 strategies: mutate nodeSelector</a:t>
            </a:r>
            <a:br/>
            <a:r>
              <a:t>per deployment to target nodes</a:t>
            </a:r>
          </a:p>
        </p:txBody>
      </p:sp>
      <p:sp>
        <p:nvSpPr>
          <p:cNvPr id="8" name="Rounded Rectangle 7"/>
          <p:cNvSpPr/>
          <p:nvPr/>
        </p:nvSpPr>
        <p:spPr>
          <a:xfrm>
            <a:off x="274320" y="2743200"/>
            <a:ext cx="2560320" cy="9144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788920"/>
            <a:ext cx="2377440" cy="365760"/>
          </a:xfrm>
          <a:prstGeom prst="rect">
            <a:avLst/>
          </a:prstGeom>
          <a:noFill/>
        </p:spPr>
        <p:txBody>
          <a:bodyPr wrap="square">
            <a:spAutoFit/>
          </a:bodyPr>
          <a:lstStyle/>
          <a:p>
            <a:pPr algn="l">
              <a:defRPr sz="1100" b="1">
                <a:solidFill>
                  <a:srgbClr val="2ECC71"/>
                </a:solidFill>
                <a:latin typeface="Calibri"/>
              </a:defRPr>
            </a:pPr>
            <a:r>
              <a:t>Metrics</a:t>
            </a:r>
            <a:br/>
            <a:r>
              <a:t>Collection</a:t>
            </a:r>
          </a:p>
        </p:txBody>
      </p:sp>
      <p:sp>
        <p:nvSpPr>
          <p:cNvPr id="10" name="TextBox 9"/>
          <p:cNvSpPr txBox="1"/>
          <p:nvPr/>
        </p:nvSpPr>
        <p:spPr>
          <a:xfrm>
            <a:off x="365760" y="3154680"/>
            <a:ext cx="2377440" cy="457200"/>
          </a:xfrm>
          <a:prstGeom prst="rect">
            <a:avLst/>
          </a:prstGeom>
          <a:noFill/>
        </p:spPr>
        <p:txBody>
          <a:bodyPr wrap="square">
            <a:spAutoFit/>
          </a:bodyPr>
          <a:lstStyle/>
          <a:p>
            <a:pPr algn="l">
              <a:defRPr sz="1000" b="0">
                <a:solidFill>
                  <a:srgbClr val="BDBDBD"/>
                </a:solidFill>
                <a:latin typeface="Calibri"/>
              </a:defRPr>
            </a:pPr>
            <a:r>
              <a:t>6 continuous probers (threads):</a:t>
            </a:r>
            <a:br/>
            <a:r>
              <a:t>recovery, latency, resources,</a:t>
            </a:r>
            <a:br/>
            <a:r>
              <a:t>Redis, disk, Prometheus</a:t>
            </a:r>
          </a:p>
        </p:txBody>
      </p:sp>
      <p:sp>
        <p:nvSpPr>
          <p:cNvPr id="11" name="Rounded Rectangle 10"/>
          <p:cNvSpPr/>
          <p:nvPr/>
        </p:nvSpPr>
        <p:spPr>
          <a:xfrm>
            <a:off x="274320" y="3840480"/>
            <a:ext cx="2560320" cy="9144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3886200"/>
            <a:ext cx="2377440" cy="365760"/>
          </a:xfrm>
          <a:prstGeom prst="rect">
            <a:avLst/>
          </a:prstGeom>
          <a:noFill/>
        </p:spPr>
        <p:txBody>
          <a:bodyPr wrap="square">
            <a:spAutoFit/>
          </a:bodyPr>
          <a:lstStyle/>
          <a:p>
            <a:pPr algn="l">
              <a:defRPr sz="1100" b="1">
                <a:solidFill>
                  <a:srgbClr val="F39C12"/>
                </a:solidFill>
                <a:latin typeface="Calibri"/>
              </a:defRPr>
            </a:pPr>
            <a:r>
              <a:t>Result</a:t>
            </a:r>
            <a:br/>
            <a:r>
              <a:t>Aggregation</a:t>
            </a:r>
          </a:p>
        </p:txBody>
      </p:sp>
      <p:sp>
        <p:nvSpPr>
          <p:cNvPr id="13" name="TextBox 12"/>
          <p:cNvSpPr txBox="1"/>
          <p:nvPr/>
        </p:nvSpPr>
        <p:spPr>
          <a:xfrm>
            <a:off x="365760" y="4251960"/>
            <a:ext cx="2377440" cy="457200"/>
          </a:xfrm>
          <a:prstGeom prst="rect">
            <a:avLst/>
          </a:prstGeom>
          <a:noFill/>
        </p:spPr>
        <p:txBody>
          <a:bodyPr wrap="square">
            <a:spAutoFit/>
          </a:bodyPr>
          <a:lstStyle/>
          <a:p>
            <a:pPr algn="l">
              <a:defRPr sz="1000" b="0">
                <a:solidFill>
                  <a:srgbClr val="BDBDBD"/>
                </a:solidFill>
                <a:latin typeface="Calibri"/>
              </a:defRPr>
            </a:pPr>
            <a:r>
              <a:t>ChaosResult CRDs, probe verdicts,</a:t>
            </a:r>
            <a:br/>
            <a:r>
              <a:t>resilience scoring, phase tracking</a:t>
            </a:r>
          </a:p>
        </p:txBody>
      </p:sp>
      <p:sp>
        <p:nvSpPr>
          <p:cNvPr id="14" name="Rounded Rectangle 13"/>
          <p:cNvSpPr/>
          <p:nvPr/>
        </p:nvSpPr>
        <p:spPr>
          <a:xfrm>
            <a:off x="3108960" y="1645920"/>
            <a:ext cx="2560320" cy="91440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1691640"/>
            <a:ext cx="2377440" cy="365760"/>
          </a:xfrm>
          <a:prstGeom prst="rect">
            <a:avLst/>
          </a:prstGeom>
          <a:noFill/>
        </p:spPr>
        <p:txBody>
          <a:bodyPr wrap="square">
            <a:spAutoFit/>
          </a:bodyPr>
          <a:lstStyle/>
          <a:p>
            <a:pPr algn="l">
              <a:defRPr sz="1100" b="1">
                <a:solidFill>
                  <a:srgbClr val="3498DB"/>
                </a:solidFill>
                <a:latin typeface="Calibri"/>
              </a:defRPr>
            </a:pPr>
            <a:r>
              <a:t>Orchestrator</a:t>
            </a:r>
          </a:p>
        </p:txBody>
      </p:sp>
      <p:sp>
        <p:nvSpPr>
          <p:cNvPr id="16" name="TextBox 15"/>
          <p:cNvSpPr txBox="1"/>
          <p:nvPr/>
        </p:nvSpPr>
        <p:spPr>
          <a:xfrm>
            <a:off x="3200400" y="2057400"/>
            <a:ext cx="2377440" cy="457200"/>
          </a:xfrm>
          <a:prstGeom prst="rect">
            <a:avLst/>
          </a:prstGeom>
          <a:noFill/>
        </p:spPr>
        <p:txBody>
          <a:bodyPr wrap="square">
            <a:spAutoFit/>
          </a:bodyPr>
          <a:lstStyle/>
          <a:p>
            <a:pPr algn="l">
              <a:defRPr sz="1000" b="0">
                <a:solidFill>
                  <a:srgbClr val="BDBDBD"/>
                </a:solidFill>
                <a:latin typeface="Calibri"/>
              </a:defRPr>
            </a:pPr>
            <a:r>
              <a:t>Strategy runner, run phases,</a:t>
            </a:r>
            <a:br/>
            <a:r>
              <a:t>preflight checks, port-forward</a:t>
            </a:r>
          </a:p>
        </p:txBody>
      </p:sp>
      <p:sp>
        <p:nvSpPr>
          <p:cNvPr id="17" name="Rounded Rectangle 16"/>
          <p:cNvSpPr/>
          <p:nvPr/>
        </p:nvSpPr>
        <p:spPr>
          <a:xfrm>
            <a:off x="3108960" y="2743200"/>
            <a:ext cx="2560320" cy="91440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2788920"/>
            <a:ext cx="2377440" cy="365760"/>
          </a:xfrm>
          <a:prstGeom prst="rect">
            <a:avLst/>
          </a:prstGeom>
          <a:noFill/>
        </p:spPr>
        <p:txBody>
          <a:bodyPr wrap="square">
            <a:spAutoFit/>
          </a:bodyPr>
          <a:lstStyle/>
          <a:p>
            <a:pPr algn="l">
              <a:defRPr sz="1100" b="1">
                <a:solidFill>
                  <a:srgbClr val="9B59B6"/>
                </a:solidFill>
                <a:latin typeface="Calibri"/>
              </a:defRPr>
            </a:pPr>
            <a:r>
              <a:t>Graph</a:t>
            </a:r>
            <a:br/>
            <a:r>
              <a:t>Storage</a:t>
            </a:r>
          </a:p>
        </p:txBody>
      </p:sp>
      <p:sp>
        <p:nvSpPr>
          <p:cNvPr id="19" name="TextBox 18"/>
          <p:cNvSpPr txBox="1"/>
          <p:nvPr/>
        </p:nvSpPr>
        <p:spPr>
          <a:xfrm>
            <a:off x="3200400" y="3154680"/>
            <a:ext cx="2377440" cy="457200"/>
          </a:xfrm>
          <a:prstGeom prst="rect">
            <a:avLst/>
          </a:prstGeom>
          <a:noFill/>
        </p:spPr>
        <p:txBody>
          <a:bodyPr wrap="square">
            <a:spAutoFit/>
          </a:bodyPr>
          <a:lstStyle/>
          <a:p>
            <a:pPr algn="l">
              <a:defRPr sz="1000" b="0">
                <a:solidFill>
                  <a:srgbClr val="BDBDBD"/>
                </a:solidFill>
                <a:latin typeface="Calibri"/>
              </a:defRPr>
            </a:pPr>
            <a:r>
              <a:t>Neo4j writer/reader: 14 node types,</a:t>
            </a:r>
            <a:br/>
            <a:r>
              <a:t>18 relationships, Cypher queries</a:t>
            </a:r>
          </a:p>
        </p:txBody>
      </p:sp>
      <p:sp>
        <p:nvSpPr>
          <p:cNvPr id="20" name="Rounded Rectangle 19"/>
          <p:cNvSpPr/>
          <p:nvPr/>
        </p:nvSpPr>
        <p:spPr>
          <a:xfrm>
            <a:off x="3108960" y="3840480"/>
            <a:ext cx="2560320" cy="9144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3886200"/>
            <a:ext cx="2377440" cy="365760"/>
          </a:xfrm>
          <a:prstGeom prst="rect">
            <a:avLst/>
          </a:prstGeom>
          <a:noFill/>
        </p:spPr>
        <p:txBody>
          <a:bodyPr wrap="square">
            <a:spAutoFit/>
          </a:bodyPr>
          <a:lstStyle/>
          <a:p>
            <a:pPr algn="l">
              <a:defRPr sz="1100" b="1">
                <a:solidFill>
                  <a:srgbClr val="F39C12"/>
                </a:solidFill>
                <a:latin typeface="Calibri"/>
              </a:defRPr>
            </a:pPr>
            <a:r>
              <a:t>Visualization</a:t>
            </a:r>
          </a:p>
        </p:txBody>
      </p:sp>
      <p:sp>
        <p:nvSpPr>
          <p:cNvPr id="22" name="TextBox 21"/>
          <p:cNvSpPr txBox="1"/>
          <p:nvPr/>
        </p:nvSpPr>
        <p:spPr>
          <a:xfrm>
            <a:off x="3200400" y="4251960"/>
            <a:ext cx="2377440" cy="457200"/>
          </a:xfrm>
          <a:prstGeom prst="rect">
            <a:avLst/>
          </a:prstGeom>
          <a:noFill/>
        </p:spPr>
        <p:txBody>
          <a:bodyPr wrap="square">
            <a:spAutoFit/>
          </a:bodyPr>
          <a:lstStyle/>
          <a:p>
            <a:pPr algn="l">
              <a:defRPr sz="1000" b="0">
                <a:solidFill>
                  <a:srgbClr val="BDBDBD"/>
                </a:solidFill>
                <a:latin typeface="Calibri"/>
              </a:defRPr>
            </a:pPr>
            <a:r>
              <a:t>matplotlib charts, HTML report,</a:t>
            </a:r>
            <a:br/>
            <a:r>
              <a:t>ML export (CSV/Parquet)</a:t>
            </a:r>
          </a:p>
        </p:txBody>
      </p:sp>
      <p:sp>
        <p:nvSpPr>
          <p:cNvPr id="23" name="TextBox 22"/>
          <p:cNvSpPr txBox="1"/>
          <p:nvPr/>
        </p:nvSpPr>
        <p:spPr>
          <a:xfrm>
            <a:off x="6217920" y="1280160"/>
            <a:ext cx="5486400" cy="274320"/>
          </a:xfrm>
          <a:prstGeom prst="rect">
            <a:avLst/>
          </a:prstGeom>
          <a:noFill/>
        </p:spPr>
        <p:txBody>
          <a:bodyPr wrap="square">
            <a:spAutoFit/>
          </a:bodyPr>
          <a:lstStyle/>
          <a:p>
            <a:pPr algn="l">
              <a:defRPr sz="1600" b="1">
                <a:solidFill>
                  <a:srgbClr val="7F8C8D"/>
                </a:solidFill>
                <a:latin typeface="Calibri"/>
              </a:defRPr>
            </a:pPr>
            <a:r>
              <a:t>Infrastructure (existing tools)</a:t>
            </a:r>
          </a:p>
        </p:txBody>
      </p:sp>
      <p:sp>
        <p:nvSpPr>
          <p:cNvPr id="24" name="Rounded Rectangle 23"/>
          <p:cNvSpPr/>
          <p:nvPr/>
        </p:nvSpPr>
        <p:spPr>
          <a:xfrm>
            <a:off x="6217920" y="1645920"/>
            <a:ext cx="2560320" cy="91440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59" y="1691640"/>
            <a:ext cx="2377440" cy="365760"/>
          </a:xfrm>
          <a:prstGeom prst="rect">
            <a:avLst/>
          </a:prstGeom>
          <a:noFill/>
        </p:spPr>
        <p:txBody>
          <a:bodyPr wrap="square">
            <a:spAutoFit/>
          </a:bodyPr>
          <a:lstStyle/>
          <a:p>
            <a:pPr algn="l">
              <a:defRPr sz="1100" b="1">
                <a:solidFill>
                  <a:srgbClr val="E74C3C"/>
                </a:solidFill>
                <a:latin typeface="Calibri"/>
              </a:defRPr>
            </a:pPr>
            <a:r>
              <a:t>LitmusChaos +</a:t>
            </a:r>
            <a:br/>
            <a:r>
              <a:t>ChaosCenter</a:t>
            </a:r>
          </a:p>
        </p:txBody>
      </p:sp>
      <p:sp>
        <p:nvSpPr>
          <p:cNvPr id="26" name="TextBox 25"/>
          <p:cNvSpPr txBox="1"/>
          <p:nvPr/>
        </p:nvSpPr>
        <p:spPr>
          <a:xfrm>
            <a:off x="6309359" y="2057400"/>
            <a:ext cx="2377440" cy="457200"/>
          </a:xfrm>
          <a:prstGeom prst="rect">
            <a:avLst/>
          </a:prstGeom>
          <a:noFill/>
        </p:spPr>
        <p:txBody>
          <a:bodyPr wrap="square">
            <a:spAutoFit/>
          </a:bodyPr>
          <a:lstStyle/>
          <a:p>
            <a:pPr algn="l">
              <a:defRPr sz="1000" b="0">
                <a:solidFill>
                  <a:srgbClr val="BDBDBD"/>
                </a:solidFill>
                <a:latin typeface="Calibri"/>
              </a:defRPr>
            </a:pPr>
            <a:r>
              <a:t>Fault injection engine.</a:t>
            </a:r>
            <a:br/>
            <a:r>
              <a:t>ChaosEngine CRDs, Argo Workflows,</a:t>
            </a:r>
            <a:br/>
            <a:r>
              <a:t>ChaosCenter dashboard + API</a:t>
            </a:r>
          </a:p>
        </p:txBody>
      </p:sp>
      <p:sp>
        <p:nvSpPr>
          <p:cNvPr id="27" name="Rounded Rectangle 26"/>
          <p:cNvSpPr/>
          <p:nvPr/>
        </p:nvSpPr>
        <p:spPr>
          <a:xfrm>
            <a:off x="6217920" y="2743200"/>
            <a:ext cx="2560320" cy="9144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59" y="2788920"/>
            <a:ext cx="2377440" cy="365760"/>
          </a:xfrm>
          <a:prstGeom prst="rect">
            <a:avLst/>
          </a:prstGeom>
          <a:noFill/>
        </p:spPr>
        <p:txBody>
          <a:bodyPr wrap="square">
            <a:spAutoFit/>
          </a:bodyPr>
          <a:lstStyle/>
          <a:p>
            <a:pPr algn="l">
              <a:defRPr sz="1100" b="1">
                <a:solidFill>
                  <a:srgbClr val="2ECC71"/>
                </a:solidFill>
                <a:latin typeface="Calibri"/>
              </a:defRPr>
            </a:pPr>
            <a:r>
              <a:t>Prometheus +</a:t>
            </a:r>
            <a:br/>
            <a:r>
              <a:t>kube-state-metrics</a:t>
            </a:r>
          </a:p>
        </p:txBody>
      </p:sp>
      <p:sp>
        <p:nvSpPr>
          <p:cNvPr id="29" name="TextBox 28"/>
          <p:cNvSpPr txBox="1"/>
          <p:nvPr/>
        </p:nvSpPr>
        <p:spPr>
          <a:xfrm>
            <a:off x="6309359" y="3154680"/>
            <a:ext cx="2377440" cy="457200"/>
          </a:xfrm>
          <a:prstGeom prst="rect">
            <a:avLst/>
          </a:prstGeom>
          <a:noFill/>
        </p:spPr>
        <p:txBody>
          <a:bodyPr wrap="square">
            <a:spAutoFit/>
          </a:bodyPr>
          <a:lstStyle/>
          <a:p>
            <a:pPr algn="l">
              <a:defRPr sz="1000" b="0">
                <a:solidFill>
                  <a:srgbClr val="BDBDBD"/>
                </a:solidFill>
                <a:latin typeface="Calibri"/>
              </a:defRPr>
            </a:pPr>
            <a:r>
              <a:t>Cluster monitoring.</a:t>
            </a:r>
            <a:br/>
            <a:r>
              <a:t>PromQL queries for pod_ready,</a:t>
            </a:r>
            <a:br/>
            <a:r>
              <a:t>CPU throttle, memory, network</a:t>
            </a:r>
          </a:p>
        </p:txBody>
      </p:sp>
      <p:sp>
        <p:nvSpPr>
          <p:cNvPr id="30" name="Rounded Rectangle 29"/>
          <p:cNvSpPr/>
          <p:nvPr/>
        </p:nvSpPr>
        <p:spPr>
          <a:xfrm>
            <a:off x="6217920" y="3840480"/>
            <a:ext cx="2560320" cy="91440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59" y="3886200"/>
            <a:ext cx="2377440" cy="365760"/>
          </a:xfrm>
          <a:prstGeom prst="rect">
            <a:avLst/>
          </a:prstGeom>
          <a:noFill/>
        </p:spPr>
        <p:txBody>
          <a:bodyPr wrap="square">
            <a:spAutoFit/>
          </a:bodyPr>
          <a:lstStyle/>
          <a:p>
            <a:pPr algn="l">
              <a:defRPr sz="1100" b="1">
                <a:solidFill>
                  <a:srgbClr val="9B59B6"/>
                </a:solidFill>
                <a:latin typeface="Calibri"/>
              </a:defRPr>
            </a:pPr>
            <a:r>
              <a:t>Neo4j 5</a:t>
            </a:r>
            <a:br/>
            <a:r>
              <a:t>Community</a:t>
            </a:r>
          </a:p>
        </p:txBody>
      </p:sp>
      <p:sp>
        <p:nvSpPr>
          <p:cNvPr id="32" name="TextBox 31"/>
          <p:cNvSpPr txBox="1"/>
          <p:nvPr/>
        </p:nvSpPr>
        <p:spPr>
          <a:xfrm>
            <a:off x="6309359" y="4251960"/>
            <a:ext cx="2377440" cy="457200"/>
          </a:xfrm>
          <a:prstGeom prst="rect">
            <a:avLst/>
          </a:prstGeom>
          <a:noFill/>
        </p:spPr>
        <p:txBody>
          <a:bodyPr wrap="square">
            <a:spAutoFit/>
          </a:bodyPr>
          <a:lstStyle/>
          <a:p>
            <a:pPr algn="l">
              <a:defRPr sz="1000" b="0">
                <a:solidFill>
                  <a:srgbClr val="BDBDBD"/>
                </a:solidFill>
                <a:latin typeface="Calibri"/>
              </a:defRPr>
            </a:pPr>
            <a:r>
              <a:t>Graph database.</a:t>
            </a:r>
            <a:br/>
            <a:r>
              <a:t>14 node types, 18 relationships.</a:t>
            </a:r>
            <a:br/>
            <a:r>
              <a:t>Cypher query language</a:t>
            </a:r>
          </a:p>
        </p:txBody>
      </p:sp>
      <p:sp>
        <p:nvSpPr>
          <p:cNvPr id="33" name="Rounded Rectangle 32"/>
          <p:cNvSpPr/>
          <p:nvPr/>
        </p:nvSpPr>
        <p:spPr>
          <a:xfrm>
            <a:off x="9052560" y="1645920"/>
            <a:ext cx="2560320" cy="91440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0" y="1691640"/>
            <a:ext cx="2377440" cy="365760"/>
          </a:xfrm>
          <a:prstGeom prst="rect">
            <a:avLst/>
          </a:prstGeom>
          <a:noFill/>
        </p:spPr>
        <p:txBody>
          <a:bodyPr wrap="square">
            <a:spAutoFit/>
          </a:bodyPr>
          <a:lstStyle/>
          <a:p>
            <a:pPr algn="l">
              <a:defRPr sz="1100" b="1">
                <a:solidFill>
                  <a:srgbClr val="1ABC9C"/>
                </a:solidFill>
                <a:latin typeface="Calibri"/>
              </a:defRPr>
            </a:pPr>
            <a:r>
              <a:t>Kubernetes</a:t>
            </a:r>
            <a:br/>
            <a:r>
              <a:t>v1.28.6</a:t>
            </a:r>
          </a:p>
        </p:txBody>
      </p:sp>
      <p:sp>
        <p:nvSpPr>
          <p:cNvPr id="35" name="TextBox 34"/>
          <p:cNvSpPr txBox="1"/>
          <p:nvPr/>
        </p:nvSpPr>
        <p:spPr>
          <a:xfrm>
            <a:off x="9144000" y="2057400"/>
            <a:ext cx="2377440" cy="457200"/>
          </a:xfrm>
          <a:prstGeom prst="rect">
            <a:avLst/>
          </a:prstGeom>
          <a:noFill/>
        </p:spPr>
        <p:txBody>
          <a:bodyPr wrap="square">
            <a:spAutoFit/>
          </a:bodyPr>
          <a:lstStyle/>
          <a:p>
            <a:pPr algn="l">
              <a:defRPr sz="1000" b="0">
                <a:solidFill>
                  <a:srgbClr val="BDBDBD"/>
                </a:solidFill>
                <a:latin typeface="Calibri"/>
              </a:defRPr>
            </a:pPr>
            <a:r>
              <a:t>Container orchestration.</a:t>
            </a:r>
            <a:br/>
            <a:r>
              <a:t>containerd runtime, Metrics API,</a:t>
            </a:r>
            <a:br/>
            <a:r>
              <a:t>Watch API for recovery tracking</a:t>
            </a:r>
          </a:p>
        </p:txBody>
      </p:sp>
      <p:sp>
        <p:nvSpPr>
          <p:cNvPr id="36" name="Rounded Rectangle 35"/>
          <p:cNvSpPr/>
          <p:nvPr/>
        </p:nvSpPr>
        <p:spPr>
          <a:xfrm>
            <a:off x="9052560" y="2743200"/>
            <a:ext cx="2560320" cy="91440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0" y="2788920"/>
            <a:ext cx="2377440" cy="365760"/>
          </a:xfrm>
          <a:prstGeom prst="rect">
            <a:avLst/>
          </a:prstGeom>
          <a:noFill/>
        </p:spPr>
        <p:txBody>
          <a:bodyPr wrap="square">
            <a:spAutoFit/>
          </a:bodyPr>
          <a:lstStyle/>
          <a:p>
            <a:pPr algn="l">
              <a:defRPr sz="1100" b="1">
                <a:solidFill>
                  <a:srgbClr val="3498DB"/>
                </a:solidFill>
                <a:latin typeface="Calibri"/>
              </a:defRPr>
            </a:pPr>
            <a:r>
              <a:t>Locust</a:t>
            </a:r>
          </a:p>
        </p:txBody>
      </p:sp>
      <p:sp>
        <p:nvSpPr>
          <p:cNvPr id="38" name="TextBox 37"/>
          <p:cNvSpPr txBox="1"/>
          <p:nvPr/>
        </p:nvSpPr>
        <p:spPr>
          <a:xfrm>
            <a:off x="9144000" y="3154680"/>
            <a:ext cx="2377440" cy="457200"/>
          </a:xfrm>
          <a:prstGeom prst="rect">
            <a:avLst/>
          </a:prstGeom>
          <a:noFill/>
        </p:spPr>
        <p:txBody>
          <a:bodyPr wrap="square">
            <a:spAutoFit/>
          </a:bodyPr>
          <a:lstStyle/>
          <a:p>
            <a:pPr algn="l">
              <a:defRPr sz="1000" b="0">
                <a:solidFill>
                  <a:srgbClr val="BDBDBD"/>
                </a:solidFill>
                <a:latin typeface="Calibri"/>
              </a:defRPr>
            </a:pPr>
            <a:r>
              <a:t>Load generation.</a:t>
            </a:r>
            <a:br/>
            <a:r>
              <a:t>Configurable user count, spawn rate.</a:t>
            </a:r>
            <a:br/>
            <a:r>
              <a:t>HTTP traffic to frontend</a:t>
            </a:r>
          </a:p>
        </p:txBody>
      </p:sp>
      <p:sp>
        <p:nvSpPr>
          <p:cNvPr id="39" name="Rounded Rectangle 38"/>
          <p:cNvSpPr/>
          <p:nvPr/>
        </p:nvSpPr>
        <p:spPr>
          <a:xfrm>
            <a:off x="9052560" y="3840480"/>
            <a:ext cx="2560320" cy="914400"/>
          </a:xfrm>
          <a:prstGeom prst="roundRect">
            <a:avLst/>
          </a:prstGeom>
          <a:solidFill>
            <a:srgbClr val="121222"/>
          </a:solidFill>
          <a:ln w="127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0" y="3886200"/>
            <a:ext cx="2377440" cy="365760"/>
          </a:xfrm>
          <a:prstGeom prst="rect">
            <a:avLst/>
          </a:prstGeom>
          <a:noFill/>
        </p:spPr>
        <p:txBody>
          <a:bodyPr wrap="square">
            <a:spAutoFit/>
          </a:bodyPr>
          <a:lstStyle/>
          <a:p>
            <a:pPr algn="l">
              <a:defRPr sz="1100" b="1">
                <a:solidFill>
                  <a:srgbClr val="7F8C8D"/>
                </a:solidFill>
                <a:latin typeface="Calibri"/>
              </a:defRPr>
            </a:pPr>
            <a:r>
              <a:t>Proxmox</a:t>
            </a:r>
            <a:br/>
            <a:r>
              <a:t>(KVM/QEMU)</a:t>
            </a:r>
          </a:p>
        </p:txBody>
      </p:sp>
      <p:sp>
        <p:nvSpPr>
          <p:cNvPr id="41" name="TextBox 40"/>
          <p:cNvSpPr txBox="1"/>
          <p:nvPr/>
        </p:nvSpPr>
        <p:spPr>
          <a:xfrm>
            <a:off x="9144000" y="4251960"/>
            <a:ext cx="2377440" cy="457200"/>
          </a:xfrm>
          <a:prstGeom prst="rect">
            <a:avLst/>
          </a:prstGeom>
          <a:noFill/>
        </p:spPr>
        <p:txBody>
          <a:bodyPr wrap="square">
            <a:spAutoFit/>
          </a:bodyPr>
          <a:lstStyle/>
          <a:p>
            <a:pPr algn="l">
              <a:defRPr sz="1000" b="0">
                <a:solidFill>
                  <a:srgbClr val="BDBDBD"/>
                </a:solidFill>
                <a:latin typeface="Calibri"/>
              </a:defRPr>
            </a:pPr>
            <a:r>
              <a:t>Virtualization host.</a:t>
            </a:r>
            <a:br/>
            <a:r>
              <a:t>5 VMs: 1 control plane +</a:t>
            </a:r>
            <a:br/>
            <a:r>
              <a:t>4 worker nodes</a:t>
            </a:r>
          </a:p>
        </p:txBody>
      </p:sp>
      <p:cxnSp>
        <p:nvCxnSpPr>
          <p:cNvPr id="42" name="Connector 41"/>
          <p:cNvCxnSpPr/>
          <p:nvPr/>
        </p:nvCxnSpPr>
        <p:spPr>
          <a:xfrm>
            <a:off x="5669280" y="2103120"/>
            <a:ext cx="548640" cy="0"/>
          </a:xfrm>
          <a:prstGeom prst="line">
            <a:avLst/>
          </a:prstGeom>
          <a:ln w="25400">
            <a:solidFill>
              <a:srgbClr val="0096D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669280" y="3200400"/>
            <a:ext cx="548640" cy="0"/>
          </a:xfrm>
          <a:prstGeom prst="line">
            <a:avLst/>
          </a:prstGeom>
          <a:ln w="25400">
            <a:solidFill>
              <a:srgbClr val="0096D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69280" y="4297680"/>
            <a:ext cx="548640" cy="0"/>
          </a:xfrm>
          <a:prstGeom prst="line">
            <a:avLst/>
          </a:prstGeom>
          <a:ln w="25400">
            <a:solidFill>
              <a:srgbClr val="0096D6"/>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0" y="1874519"/>
            <a:ext cx="548640" cy="182880"/>
          </a:xfrm>
          <a:prstGeom prst="rect">
            <a:avLst/>
          </a:prstGeom>
          <a:noFill/>
        </p:spPr>
        <p:txBody>
          <a:bodyPr wrap="square">
            <a:spAutoFit/>
          </a:bodyPr>
          <a:lstStyle/>
          <a:p>
            <a:pPr algn="l">
              <a:defRPr sz="1000" b="0">
                <a:solidFill>
                  <a:srgbClr val="9090A0"/>
                </a:solidFill>
                <a:latin typeface="Calibri"/>
              </a:defRPr>
            </a:pPr>
            <a:r>
              <a:t>uses</a:t>
            </a:r>
          </a:p>
        </p:txBody>
      </p:sp>
      <p:sp>
        <p:nvSpPr>
          <p:cNvPr id="46" name="TextBox 45"/>
          <p:cNvSpPr txBox="1"/>
          <p:nvPr/>
        </p:nvSpPr>
        <p:spPr>
          <a:xfrm>
            <a:off x="5669280" y="2971800"/>
            <a:ext cx="548640" cy="182880"/>
          </a:xfrm>
          <a:prstGeom prst="rect">
            <a:avLst/>
          </a:prstGeom>
          <a:noFill/>
        </p:spPr>
        <p:txBody>
          <a:bodyPr wrap="square">
            <a:spAutoFit/>
          </a:bodyPr>
          <a:lstStyle/>
          <a:p>
            <a:pPr algn="l">
              <a:defRPr sz="1000" b="0">
                <a:solidFill>
                  <a:srgbClr val="9090A0"/>
                </a:solidFill>
                <a:latin typeface="Calibri"/>
              </a:defRPr>
            </a:pPr>
            <a:r>
              <a:t>queries</a:t>
            </a:r>
          </a:p>
        </p:txBody>
      </p:sp>
      <p:sp>
        <p:nvSpPr>
          <p:cNvPr id="47" name="TextBox 46"/>
          <p:cNvSpPr txBox="1"/>
          <p:nvPr/>
        </p:nvSpPr>
        <p:spPr>
          <a:xfrm>
            <a:off x="5669280" y="4069080"/>
            <a:ext cx="548640" cy="182880"/>
          </a:xfrm>
          <a:prstGeom prst="rect">
            <a:avLst/>
          </a:prstGeom>
          <a:noFill/>
        </p:spPr>
        <p:txBody>
          <a:bodyPr wrap="square">
            <a:spAutoFit/>
          </a:bodyPr>
          <a:lstStyle/>
          <a:p>
            <a:pPr algn="l">
              <a:defRPr sz="1000" b="0">
                <a:solidFill>
                  <a:srgbClr val="9090A0"/>
                </a:solidFill>
                <a:latin typeface="Calibri"/>
              </a:defRPr>
            </a:pPr>
            <a:r>
              <a:t>stores</a:t>
            </a:r>
          </a:p>
        </p:txBody>
      </p:sp>
      <p:sp>
        <p:nvSpPr>
          <p:cNvPr id="48" name="TextBox 47"/>
          <p:cNvSpPr txBox="1"/>
          <p:nvPr/>
        </p:nvSpPr>
        <p:spPr>
          <a:xfrm>
            <a:off x="274320" y="5029200"/>
            <a:ext cx="10972800" cy="731520"/>
          </a:xfrm>
          <a:prstGeom prst="rect">
            <a:avLst/>
          </a:prstGeom>
          <a:noFill/>
        </p:spPr>
        <p:txBody>
          <a:bodyPr wrap="square">
            <a:spAutoFit/>
          </a:bodyPr>
          <a:lstStyle/>
          <a:p>
            <a:pPr algn="l">
              <a:defRPr sz="1100" b="0">
                <a:solidFill>
                  <a:srgbClr val="9090A0"/>
                </a:solidFill>
                <a:latin typeface="Calibri"/>
              </a:defRPr>
            </a:pPr>
            <a:r>
              <a:t>CLI commands: chaosprobe init (provision cluster) → chaosprobe run (execute experiments) → chaosprobe visualize (generate charts) → chaosprobe graph (Neo4j analysis queries)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Infrastructure &amp; Cluster Topology</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3200400"/>
          </a:xfrm>
          <a:prstGeom prst="roundRect">
            <a:avLst/>
          </a:prstGeom>
          <a:solidFill>
            <a:srgbClr val="121222"/>
          </a:solidFill>
          <a:ln w="25400">
            <a:solidFill>
              <a:srgbClr val="909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2743200" cy="274320"/>
          </a:xfrm>
          <a:prstGeom prst="rect">
            <a:avLst/>
          </a:prstGeom>
          <a:noFill/>
        </p:spPr>
        <p:txBody>
          <a:bodyPr wrap="square">
            <a:spAutoFit/>
          </a:bodyPr>
          <a:lstStyle/>
          <a:p>
            <a:pPr algn="l">
              <a:defRPr sz="1300" b="1">
                <a:solidFill>
                  <a:srgbClr val="BDBDBD"/>
                </a:solidFill>
                <a:latin typeface="Calibri"/>
              </a:defRPr>
            </a:pPr>
            <a:r>
              <a:t>Proxmox Host (KVM/QEMU)</a:t>
            </a:r>
          </a:p>
        </p:txBody>
      </p:sp>
      <p:sp>
        <p:nvSpPr>
          <p:cNvPr id="6" name="Rounded Rectangle 5"/>
          <p:cNvSpPr/>
          <p:nvPr/>
        </p:nvSpPr>
        <p:spPr>
          <a:xfrm>
            <a:off x="914400" y="1828800"/>
            <a:ext cx="2011680" cy="1371600"/>
          </a:xfrm>
          <a:prstGeom prst="roundRect">
            <a:avLst/>
          </a:prstGeom>
          <a:solidFill>
            <a:srgbClr val="223355"/>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828800" cy="274320"/>
          </a:xfrm>
          <a:prstGeom prst="rect">
            <a:avLst/>
          </a:prstGeom>
          <a:noFill/>
        </p:spPr>
        <p:txBody>
          <a:bodyPr wrap="square">
            <a:spAutoFit/>
          </a:bodyPr>
          <a:lstStyle/>
          <a:p>
            <a:pPr algn="l">
              <a:defRPr sz="1100" b="1">
                <a:solidFill>
                  <a:srgbClr val="0096D6"/>
                </a:solidFill>
                <a:latin typeface="Calibri"/>
              </a:defRPr>
            </a:pPr>
            <a:r>
              <a:t>cp1 — Control Plane</a:t>
            </a:r>
          </a:p>
        </p:txBody>
      </p:sp>
      <p:sp>
        <p:nvSpPr>
          <p:cNvPr id="8" name="TextBox 7"/>
          <p:cNvSpPr txBox="1"/>
          <p:nvPr/>
        </p:nvSpPr>
        <p:spPr>
          <a:xfrm>
            <a:off x="1005840" y="2103120"/>
            <a:ext cx="182880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2 GiB RAM</a:t>
            </a:r>
          </a:p>
          <a:p>
            <a:pPr>
              <a:spcBef>
                <a:spcPts val="200"/>
              </a:spcBef>
              <a:spcAft>
                <a:spcPts val="200"/>
              </a:spcAft>
              <a:defRPr sz="1000">
                <a:solidFill>
                  <a:srgbClr val="BDBDBD"/>
                </a:solidFill>
                <a:latin typeface="Calibri"/>
              </a:defRPr>
            </a:pPr>
            <a:r>
              <a:t>K8s API Server + etcd</a:t>
            </a:r>
          </a:p>
          <a:p>
            <a:pPr>
              <a:spcBef>
                <a:spcPts val="200"/>
              </a:spcBef>
              <a:spcAft>
                <a:spcPts val="200"/>
              </a:spcAft>
              <a:defRPr sz="1000">
                <a:solidFill>
                  <a:srgbClr val="BDBDBD"/>
                </a:solidFill>
                <a:latin typeface="Calibri"/>
              </a:defRPr>
            </a:pPr>
            <a:r>
              <a:t>scheduler, controller-mgr</a:t>
            </a:r>
          </a:p>
        </p:txBody>
      </p:sp>
      <p:sp>
        <p:nvSpPr>
          <p:cNvPr id="9" name="Rounded Rectangle 8"/>
          <p:cNvSpPr/>
          <p:nvPr/>
        </p:nvSpPr>
        <p:spPr>
          <a:xfrm>
            <a:off x="320040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91840" y="1828800"/>
            <a:ext cx="1554480" cy="274320"/>
          </a:xfrm>
          <a:prstGeom prst="rect">
            <a:avLst/>
          </a:prstGeom>
          <a:noFill/>
        </p:spPr>
        <p:txBody>
          <a:bodyPr wrap="square">
            <a:spAutoFit/>
          </a:bodyPr>
          <a:lstStyle/>
          <a:p>
            <a:pPr algn="l">
              <a:defRPr sz="1100" b="1">
                <a:solidFill>
                  <a:srgbClr val="2ECC71"/>
                </a:solidFill>
                <a:latin typeface="Calibri"/>
              </a:defRPr>
            </a:pPr>
            <a:r>
              <a:t>worker1</a:t>
            </a:r>
          </a:p>
        </p:txBody>
      </p:sp>
      <p:sp>
        <p:nvSpPr>
          <p:cNvPr id="11" name="TextBox 10"/>
          <p:cNvSpPr txBox="1"/>
          <p:nvPr/>
        </p:nvSpPr>
        <p:spPr>
          <a:xfrm>
            <a:off x="329184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2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12" name="Rounded Rectangle 11"/>
          <p:cNvSpPr/>
          <p:nvPr/>
        </p:nvSpPr>
        <p:spPr>
          <a:xfrm>
            <a:off x="521208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1828800"/>
            <a:ext cx="1554480" cy="274320"/>
          </a:xfrm>
          <a:prstGeom prst="rect">
            <a:avLst/>
          </a:prstGeom>
          <a:noFill/>
        </p:spPr>
        <p:txBody>
          <a:bodyPr wrap="square">
            <a:spAutoFit/>
          </a:bodyPr>
          <a:lstStyle/>
          <a:p>
            <a:pPr algn="l">
              <a:defRPr sz="1100" b="1">
                <a:solidFill>
                  <a:srgbClr val="2ECC71"/>
                </a:solidFill>
                <a:latin typeface="Calibri"/>
              </a:defRPr>
            </a:pPr>
            <a:r>
              <a:t>worker2</a:t>
            </a:r>
          </a:p>
        </p:txBody>
      </p:sp>
      <p:sp>
        <p:nvSpPr>
          <p:cNvPr id="14" name="TextBox 13"/>
          <p:cNvSpPr txBox="1"/>
          <p:nvPr/>
        </p:nvSpPr>
        <p:spPr>
          <a:xfrm>
            <a:off x="530352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2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15" name="Rounded Rectangle 14"/>
          <p:cNvSpPr/>
          <p:nvPr/>
        </p:nvSpPr>
        <p:spPr>
          <a:xfrm>
            <a:off x="722376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828800"/>
            <a:ext cx="1554480" cy="274320"/>
          </a:xfrm>
          <a:prstGeom prst="rect">
            <a:avLst/>
          </a:prstGeom>
          <a:noFill/>
        </p:spPr>
        <p:txBody>
          <a:bodyPr wrap="square">
            <a:spAutoFit/>
          </a:bodyPr>
          <a:lstStyle/>
          <a:p>
            <a:pPr algn="l">
              <a:defRPr sz="1100" b="1">
                <a:solidFill>
                  <a:srgbClr val="2ECC71"/>
                </a:solidFill>
                <a:latin typeface="Calibri"/>
              </a:defRPr>
            </a:pPr>
            <a:r>
              <a:t>worker3</a:t>
            </a:r>
          </a:p>
        </p:txBody>
      </p:sp>
      <p:sp>
        <p:nvSpPr>
          <p:cNvPr id="17" name="TextBox 16"/>
          <p:cNvSpPr txBox="1"/>
          <p:nvPr/>
        </p:nvSpPr>
        <p:spPr>
          <a:xfrm>
            <a:off x="731520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4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18" name="Rounded Rectangle 17"/>
          <p:cNvSpPr/>
          <p:nvPr/>
        </p:nvSpPr>
        <p:spPr>
          <a:xfrm>
            <a:off x="923544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828800"/>
            <a:ext cx="1554480" cy="274320"/>
          </a:xfrm>
          <a:prstGeom prst="rect">
            <a:avLst/>
          </a:prstGeom>
          <a:noFill/>
        </p:spPr>
        <p:txBody>
          <a:bodyPr wrap="square">
            <a:spAutoFit/>
          </a:bodyPr>
          <a:lstStyle/>
          <a:p>
            <a:pPr algn="l">
              <a:defRPr sz="1100" b="1">
                <a:solidFill>
                  <a:srgbClr val="2ECC71"/>
                </a:solidFill>
                <a:latin typeface="Calibri"/>
              </a:defRPr>
            </a:pPr>
            <a:r>
              <a:t>worker4</a:t>
            </a:r>
          </a:p>
        </p:txBody>
      </p:sp>
      <p:sp>
        <p:nvSpPr>
          <p:cNvPr id="20" name="TextBox 19"/>
          <p:cNvSpPr txBox="1"/>
          <p:nvPr/>
        </p:nvSpPr>
        <p:spPr>
          <a:xfrm>
            <a:off x="932688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4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21" name="TextBox 20"/>
          <p:cNvSpPr txBox="1"/>
          <p:nvPr/>
        </p:nvSpPr>
        <p:spPr>
          <a:xfrm>
            <a:off x="914400" y="3291840"/>
            <a:ext cx="10058400" cy="320040"/>
          </a:xfrm>
          <a:prstGeom prst="rect">
            <a:avLst/>
          </a:prstGeom>
          <a:noFill/>
        </p:spPr>
        <p:txBody>
          <a:bodyPr wrap="square">
            <a:spAutoFit/>
          </a:bodyPr>
          <a:lstStyle/>
          <a:p>
            <a:pPr algn="l">
              <a:defRPr sz="1100" b="0">
                <a:solidFill>
                  <a:srgbClr val="9090A0"/>
                </a:solidFill>
                <a:latin typeface="Calibri"/>
              </a:defRPr>
            </a:pPr>
            <a:r>
              <a:t>Provisioned via Kubespray 2.24 + Vagrant (libvirt)  |  CNI: Calico  |  DNS: CoreDNS  |  Total: 10 vCPU, 14 GiB RAM</a:t>
            </a:r>
          </a:p>
        </p:txBody>
      </p:sp>
      <p:sp>
        <p:nvSpPr>
          <p:cNvPr id="22" name="TextBox 21"/>
          <p:cNvSpPr txBox="1"/>
          <p:nvPr/>
        </p:nvSpPr>
        <p:spPr>
          <a:xfrm>
            <a:off x="548640" y="4754880"/>
            <a:ext cx="10972800" cy="274320"/>
          </a:xfrm>
          <a:prstGeom prst="rect">
            <a:avLst/>
          </a:prstGeom>
          <a:noFill/>
        </p:spPr>
        <p:txBody>
          <a:bodyPr wrap="square">
            <a:spAutoFit/>
          </a:bodyPr>
          <a:lstStyle/>
          <a:p>
            <a:pPr algn="l">
              <a:defRPr sz="1600" b="1">
                <a:solidFill>
                  <a:srgbClr val="0096D6"/>
                </a:solidFill>
                <a:latin typeface="Calibri"/>
              </a:defRPr>
            </a:pPr>
            <a:r>
              <a:t>Installed Infrastructure Components</a:t>
            </a:r>
          </a:p>
        </p:txBody>
      </p:sp>
      <p:graphicFrame>
        <p:nvGraphicFramePr>
          <p:cNvPr id="23" name="Table 22"/>
          <p:cNvGraphicFramePr>
            <a:graphicFrameLocks noGrp="1"/>
          </p:cNvGraphicFramePr>
          <p:nvPr/>
        </p:nvGraphicFramePr>
        <p:xfrm>
          <a:off x="548640" y="5074920"/>
          <a:ext cx="11064240" cy="1645920"/>
        </p:xfrm>
        <a:graphic>
          <a:graphicData uri="http://schemas.openxmlformats.org/drawingml/2006/table">
            <a:tbl>
              <a:tblPr firstRow="1" bandRow="1">
                <a:tableStyleId>{5C22544A-7EE6-4342-B048-85BDC9FD1C3A}</a:tableStyleId>
              </a:tblPr>
              <a:tblGrid>
                <a:gridCol w="2766060"/>
                <a:gridCol w="2766060"/>
                <a:gridCol w="2766060"/>
                <a:gridCol w="2766060"/>
              </a:tblGrid>
              <a:tr h="274320">
                <a:tc>
                  <a:txBody>
                    <a:bodyPr wrap="square"/>
                    <a:lstStyle/>
                    <a:p>
                      <a:pPr algn="l"/>
                      <a:r>
                        <a:rPr sz="1100" b="1">
                          <a:solidFill>
                            <a:srgbClr val="FFFFFF"/>
                          </a:solidFill>
                          <a:latin typeface="Calibri"/>
                        </a:rPr>
                        <a:t>Namespace</a:t>
                      </a:r>
                    </a:p>
                  </a:txBody>
                  <a:tcPr marL="76200" marR="76200" marT="38100" marB="38100">
                    <a:solidFill>
                      <a:srgbClr val="0096D6"/>
                    </a:solidFill>
                  </a:tcPr>
                </a:tc>
                <a:tc>
                  <a:txBody>
                    <a:bodyPr wrap="square"/>
                    <a:lstStyle/>
                    <a:p>
                      <a:pPr algn="l"/>
                      <a:r>
                        <a:rPr sz="1100" b="1">
                          <a:solidFill>
                            <a:srgbClr val="FFFFFF"/>
                          </a:solidFill>
                          <a:latin typeface="Calibri"/>
                        </a:rPr>
                        <a:t>Component</a:t>
                      </a:r>
                    </a:p>
                  </a:txBody>
                  <a:tcPr marL="76200" marR="76200" marT="38100" marB="38100">
                    <a:solidFill>
                      <a:srgbClr val="0096D6"/>
                    </a:solidFill>
                  </a:tcPr>
                </a:tc>
                <a:tc>
                  <a:txBody>
                    <a:bodyPr wrap="square"/>
                    <a:lstStyle/>
                    <a:p>
                      <a:pPr algn="l"/>
                      <a:r>
                        <a:rPr sz="1100" b="1">
                          <a:solidFill>
                            <a:srgbClr val="FFFFFF"/>
                          </a:solidFill>
                          <a:latin typeface="Calibri"/>
                        </a:rPr>
                        <a:t>Purpose</a:t>
                      </a:r>
                    </a:p>
                  </a:txBody>
                  <a:tcPr marL="76200" marR="76200" marT="38100" marB="38100">
                    <a:solidFill>
                      <a:srgbClr val="0096D6"/>
                    </a:solidFill>
                  </a:tcPr>
                </a:tc>
                <a:tc>
                  <a:txBody>
                    <a:bodyPr wrap="square"/>
                    <a:lstStyle/>
                    <a:p>
                      <a:pPr algn="l"/>
                      <a:r>
                        <a:rPr sz="1100" b="1">
                          <a:solidFill>
                            <a:srgbClr val="FFFFFF"/>
                          </a:solidFill>
                          <a:latin typeface="Calibri"/>
                        </a:rPr>
                        <a:t>Install Method</a:t>
                      </a:r>
                    </a:p>
                  </a:txBody>
                  <a:tcPr marL="76200" marR="76200" marT="38100" marB="38100">
                    <a:solidFill>
                      <a:srgbClr val="0096D6"/>
                    </a:solidFill>
                  </a:tcPr>
                </a:tc>
              </a:tr>
              <a:tr h="274320">
                <a:tc>
                  <a:txBody>
                    <a:bodyPr wrap="square"/>
                    <a:lstStyle/>
                    <a:p>
                      <a:pPr algn="l"/>
                      <a:r>
                        <a:rPr sz="1100" b="0">
                          <a:solidFill>
                            <a:srgbClr val="FFFFFF"/>
                          </a:solidFill>
                          <a:latin typeface="Calibri"/>
                        </a:rPr>
                        <a:t>litmus</a:t>
                      </a:r>
                    </a:p>
                  </a:txBody>
                  <a:tcPr marL="76200" marR="76200" marT="38100" marB="38100">
                    <a:solidFill>
                      <a:srgbClr val="2A2A3E"/>
                    </a:solidFill>
                  </a:tcPr>
                </a:tc>
                <a:tc>
                  <a:txBody>
                    <a:bodyPr wrap="square"/>
                    <a:lstStyle/>
                    <a:p>
                      <a:pPr algn="l"/>
                      <a:r>
                        <a:rPr sz="1100" b="0">
                          <a:solidFill>
                            <a:srgbClr val="FFFFFF"/>
                          </a:solidFill>
                          <a:latin typeface="Calibri"/>
                        </a:rPr>
                        <a:t>ChaosCenter + operator + CRDs</a:t>
                      </a:r>
                    </a:p>
                  </a:txBody>
                  <a:tcPr marL="76200" marR="76200" marT="38100" marB="38100">
                    <a:solidFill>
                      <a:srgbClr val="2A2A3E"/>
                    </a:solidFill>
                  </a:tcPr>
                </a:tc>
                <a:tc>
                  <a:txBody>
                    <a:bodyPr wrap="square"/>
                    <a:lstStyle/>
                    <a:p>
                      <a:pPr algn="l"/>
                      <a:r>
                        <a:rPr sz="1100" b="0">
                          <a:solidFill>
                            <a:srgbClr val="FFFFFF"/>
                          </a:solidFill>
                          <a:latin typeface="Calibri"/>
                        </a:rPr>
                        <a:t>Fault injection &amp; experiment mgmt</a:t>
                      </a:r>
                    </a:p>
                  </a:txBody>
                  <a:tcPr marL="76200" marR="76200" marT="38100" marB="38100">
                    <a:solidFill>
                      <a:srgbClr val="2A2A3E"/>
                    </a:solidFill>
                  </a:tcPr>
                </a:tc>
                <a:tc>
                  <a:txBody>
                    <a:bodyPr wrap="square"/>
                    <a:lstStyle/>
                    <a:p>
                      <a:pPr algn="l"/>
                      <a:r>
                        <a:rPr sz="1100" b="0">
                          <a:solidFill>
                            <a:srgbClr val="FFFFFF"/>
                          </a:solidFill>
                          <a:latin typeface="Calibri"/>
                        </a:rPr>
                        <a:t>Helm chart</a:t>
                      </a:r>
                    </a:p>
                  </a:txBody>
                  <a:tcPr marL="76200" marR="76200" marT="38100" marB="38100">
                    <a:solidFill>
                      <a:srgbClr val="2A2A3E"/>
                    </a:solidFill>
                  </a:tcPr>
                </a:tc>
              </a:tr>
              <a:tr h="274320">
                <a:tc>
                  <a:txBody>
                    <a:bodyPr wrap="square"/>
                    <a:lstStyle/>
                    <a:p>
                      <a:pPr algn="l"/>
                      <a:r>
                        <a:rPr sz="1100" b="0">
                          <a:solidFill>
                            <a:srgbClr val="FFFFFF"/>
                          </a:solidFill>
                          <a:latin typeface="Calibri"/>
                        </a:rPr>
                        <a:t>monitoring</a:t>
                      </a:r>
                    </a:p>
                  </a:txBody>
                  <a:tcPr marL="76200" marR="76200" marT="38100" marB="38100">
                    <a:solidFill>
                      <a:srgbClr val="2A2A3E"/>
                    </a:solidFill>
                  </a:tcPr>
                </a:tc>
                <a:tc>
                  <a:txBody>
                    <a:bodyPr wrap="square"/>
                    <a:lstStyle/>
                    <a:p>
                      <a:pPr algn="l"/>
                      <a:r>
                        <a:rPr sz="1100" b="0">
                          <a:solidFill>
                            <a:srgbClr val="FFFFFF"/>
                          </a:solidFill>
                          <a:latin typeface="Calibri"/>
                        </a:rPr>
                        <a:t>Prometheus + kube-state-metrics</a:t>
                      </a:r>
                    </a:p>
                  </a:txBody>
                  <a:tcPr marL="76200" marR="76200" marT="38100" marB="38100">
                    <a:solidFill>
                      <a:srgbClr val="2A2A3E"/>
                    </a:solidFill>
                  </a:tcPr>
                </a:tc>
                <a:tc>
                  <a:txBody>
                    <a:bodyPr wrap="square"/>
                    <a:lstStyle/>
                    <a:p>
                      <a:pPr algn="l"/>
                      <a:r>
                        <a:rPr sz="1100" b="0">
                          <a:solidFill>
                            <a:srgbClr val="FFFFFF"/>
                          </a:solidFill>
                          <a:latin typeface="Calibri"/>
                        </a:rPr>
                        <a:t>Cluster metrics (PromQL)</a:t>
                      </a:r>
                    </a:p>
                  </a:txBody>
                  <a:tcPr marL="76200" marR="76200" marT="38100" marB="38100">
                    <a:solidFill>
                      <a:srgbClr val="2A2A3E"/>
                    </a:solidFill>
                  </a:tcPr>
                </a:tc>
                <a:tc>
                  <a:txBody>
                    <a:bodyPr wrap="square"/>
                    <a:lstStyle/>
                    <a:p>
                      <a:pPr algn="l"/>
                      <a:r>
                        <a:rPr sz="1100" b="0">
                          <a:solidFill>
                            <a:srgbClr val="FFFFFF"/>
                          </a:solidFill>
                          <a:latin typeface="Calibri"/>
                        </a:rPr>
                        <a:t>Helm chart</a:t>
                      </a:r>
                    </a:p>
                  </a:txBody>
                  <a:tcPr marL="76200" marR="76200" marT="38100" marB="38100">
                    <a:solidFill>
                      <a:srgbClr val="2A2A3E"/>
                    </a:solidFill>
                  </a:tcPr>
                </a:tc>
              </a:tr>
              <a:tr h="274320">
                <a:tc>
                  <a:txBody>
                    <a:bodyPr wrap="square"/>
                    <a:lstStyle/>
                    <a:p>
                      <a:pPr algn="l"/>
                      <a:r>
                        <a:rPr sz="1100" b="0">
                          <a:solidFill>
                            <a:srgbClr val="FFFFFF"/>
                          </a:solidFill>
                          <a:latin typeface="Calibri"/>
                        </a:rPr>
                        <a:t>neo4j</a:t>
                      </a:r>
                    </a:p>
                  </a:txBody>
                  <a:tcPr marL="76200" marR="76200" marT="38100" marB="38100">
                    <a:solidFill>
                      <a:srgbClr val="2A2A3E"/>
                    </a:solidFill>
                  </a:tcPr>
                </a:tc>
                <a:tc>
                  <a:txBody>
                    <a:bodyPr wrap="square"/>
                    <a:lstStyle/>
                    <a:p>
                      <a:pPr algn="l"/>
                      <a:r>
                        <a:rPr sz="1100" b="0">
                          <a:solidFill>
                            <a:srgbClr val="FFFFFF"/>
                          </a:solidFill>
                          <a:latin typeface="Calibri"/>
                        </a:rPr>
                        <a:t>Neo4j 5-community</a:t>
                      </a:r>
                    </a:p>
                  </a:txBody>
                  <a:tcPr marL="76200" marR="76200" marT="38100" marB="38100">
                    <a:solidFill>
                      <a:srgbClr val="2A2A3E"/>
                    </a:solidFill>
                  </a:tcPr>
                </a:tc>
                <a:tc>
                  <a:txBody>
                    <a:bodyPr wrap="square"/>
                    <a:lstStyle/>
                    <a:p>
                      <a:pPr algn="l"/>
                      <a:r>
                        <a:rPr sz="1100" b="0">
                          <a:solidFill>
                            <a:srgbClr val="FFFFFF"/>
                          </a:solidFill>
                          <a:latin typeface="Calibri"/>
                        </a:rPr>
                        <a:t>Graph storage (14 node types)</a:t>
                      </a:r>
                    </a:p>
                  </a:txBody>
                  <a:tcPr marL="76200" marR="76200" marT="38100" marB="38100">
                    <a:solidFill>
                      <a:srgbClr val="2A2A3E"/>
                    </a:solidFill>
                  </a:tcPr>
                </a:tc>
                <a:tc>
                  <a:txBody>
                    <a:bodyPr wrap="square"/>
                    <a:lstStyle/>
                    <a:p>
                      <a:pPr algn="l"/>
                      <a:r>
                        <a:rPr sz="1100" b="0">
                          <a:solidFill>
                            <a:srgbClr val="FFFFFF"/>
                          </a:solidFill>
                          <a:latin typeface="Calibri"/>
                        </a:rPr>
                        <a:t>K8s Deployment</a:t>
                      </a:r>
                    </a:p>
                  </a:txBody>
                  <a:tcPr marL="76200" marR="76200" marT="38100" marB="38100">
                    <a:solidFill>
                      <a:srgbClr val="2A2A3E"/>
                    </a:solidFill>
                  </a:tcPr>
                </a:tc>
              </a:tr>
              <a:tr h="274320">
                <a:tc>
                  <a:txBody>
                    <a:bodyPr wrap="square"/>
                    <a:lstStyle/>
                    <a:p>
                      <a:pPr algn="l"/>
                      <a:r>
                        <a:rPr sz="1100" b="0">
                          <a:solidFill>
                            <a:srgbClr val="FFFFFF"/>
                          </a:solidFill>
                          <a:latin typeface="Calibri"/>
                        </a:rPr>
                        <a:t>kube-system</a:t>
                      </a:r>
                    </a:p>
                  </a:txBody>
                  <a:tcPr marL="76200" marR="76200" marT="38100" marB="38100">
                    <a:solidFill>
                      <a:srgbClr val="2A2A3E"/>
                    </a:solidFill>
                  </a:tcPr>
                </a:tc>
                <a:tc>
                  <a:txBody>
                    <a:bodyPr wrap="square"/>
                    <a:lstStyle/>
                    <a:p>
                      <a:pPr algn="l"/>
                      <a:r>
                        <a:rPr sz="1100" b="0">
                          <a:solidFill>
                            <a:srgbClr val="FFFFFF"/>
                          </a:solidFill>
                          <a:latin typeface="Calibri"/>
                        </a:rPr>
                        <a:t>metrics-server</a:t>
                      </a:r>
                    </a:p>
                  </a:txBody>
                  <a:tcPr marL="76200" marR="76200" marT="38100" marB="38100">
                    <a:solidFill>
                      <a:srgbClr val="2A2A3E"/>
                    </a:solidFill>
                  </a:tcPr>
                </a:tc>
                <a:tc>
                  <a:txBody>
                    <a:bodyPr wrap="square"/>
                    <a:lstStyle/>
                    <a:p>
                      <a:pPr algn="l"/>
                      <a:r>
                        <a:rPr sz="1100" b="0">
                          <a:solidFill>
                            <a:srgbClr val="FFFFFF"/>
                          </a:solidFill>
                          <a:latin typeface="Calibri"/>
                        </a:rPr>
                        <a:t>Node/pod CPU &amp; memory API</a:t>
                      </a:r>
                    </a:p>
                  </a:txBody>
                  <a:tcPr marL="76200" marR="76200" marT="38100" marB="38100">
                    <a:solidFill>
                      <a:srgbClr val="2A2A3E"/>
                    </a:solidFill>
                  </a:tcPr>
                </a:tc>
                <a:tc>
                  <a:txBody>
                    <a:bodyPr wrap="square"/>
                    <a:lstStyle/>
                    <a:p>
                      <a:pPr algn="l"/>
                      <a:r>
                        <a:rPr sz="1100" b="0">
                          <a:solidFill>
                            <a:srgbClr val="FFFFFF"/>
                          </a:solidFill>
                          <a:latin typeface="Calibri"/>
                        </a:rPr>
                        <a:t>Official manifest</a:t>
                      </a:r>
                    </a:p>
                  </a:txBody>
                  <a:tcPr marL="76200" marR="76200" marT="38100" marB="38100">
                    <a:solidFill>
                      <a:srgbClr val="2A2A3E"/>
                    </a:solidFill>
                  </a:tcPr>
                </a:tc>
              </a:tr>
              <a:tr h="274320">
                <a:tc>
                  <a:txBody>
                    <a:bodyPr wrap="square"/>
                    <a:lstStyle/>
                    <a:p>
                      <a:pPr algn="l"/>
                      <a:r>
                        <a:rPr sz="1100" b="0">
                          <a:solidFill>
                            <a:srgbClr val="FFFFFF"/>
                          </a:solidFill>
                          <a:latin typeface="Calibri"/>
                        </a:rPr>
                        <a:t>online-boutique</a:t>
                      </a:r>
                    </a:p>
                  </a:txBody>
                  <a:tcPr marL="76200" marR="76200" marT="38100" marB="38100">
                    <a:solidFill>
                      <a:srgbClr val="2A2A3E"/>
                    </a:solidFill>
                  </a:tcPr>
                </a:tc>
                <a:tc>
                  <a:txBody>
                    <a:bodyPr wrap="square"/>
                    <a:lstStyle/>
                    <a:p>
                      <a:pPr algn="l"/>
                      <a:r>
                        <a:rPr sz="1100" b="0">
                          <a:solidFill>
                            <a:srgbClr val="FFFFFF"/>
                          </a:solidFill>
                          <a:latin typeface="Calibri"/>
                        </a:rPr>
                        <a:t>12 microservices + subscriber</a:t>
                      </a:r>
                    </a:p>
                  </a:txBody>
                  <a:tcPr marL="76200" marR="76200" marT="38100" marB="38100">
                    <a:solidFill>
                      <a:srgbClr val="2A2A3E"/>
                    </a:solidFill>
                  </a:tcPr>
                </a:tc>
                <a:tc>
                  <a:txBody>
                    <a:bodyPr wrap="square"/>
                    <a:lstStyle/>
                    <a:p>
                      <a:pPr algn="l"/>
                      <a:r>
                        <a:rPr sz="1100" b="0">
                          <a:solidFill>
                            <a:srgbClr val="FFFFFF"/>
                          </a:solidFill>
                          <a:latin typeface="Calibri"/>
                        </a:rPr>
                        <a:t>Target application</a:t>
                      </a:r>
                    </a:p>
                  </a:txBody>
                  <a:tcPr marL="76200" marR="76200" marT="38100" marB="38100">
                    <a:solidFill>
                      <a:srgbClr val="2A2A3E"/>
                    </a:solidFill>
                  </a:tcPr>
                </a:tc>
                <a:tc>
                  <a:txBody>
                    <a:bodyPr wrap="square"/>
                    <a:lstStyle/>
                    <a:p>
                      <a:pPr algn="l"/>
                      <a:r>
                        <a:rPr sz="1100" b="0">
                          <a:solidFill>
                            <a:srgbClr val="FFFFFF"/>
                          </a:solidFill>
                          <a:latin typeface="Calibri"/>
                        </a:rPr>
                        <a:t>K8s manifests</a:t>
                      </a:r>
                    </a:p>
                  </a:txBody>
                  <a:tcPr marL="76200" marR="76200" marT="38100" marB="38100">
                    <a:solidFill>
                      <a:srgbClr val="2A2A3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Experiment Lifecycle &amp; Data Flow</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4320" y="1371600"/>
            <a:ext cx="2011680" cy="1097280"/>
          </a:xfrm>
          <a:prstGeom prst="roundRect">
            <a:avLst/>
          </a:prstGeom>
          <a:solidFill>
            <a:srgbClr val="3498DB"/>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0"/>
            <a:ext cx="1920240" cy="274320"/>
          </a:xfrm>
          <a:prstGeom prst="rect">
            <a:avLst/>
          </a:prstGeom>
          <a:noFill/>
        </p:spPr>
        <p:txBody>
          <a:bodyPr wrap="square">
            <a:spAutoFit/>
          </a:bodyPr>
          <a:lstStyle/>
          <a:p>
            <a:pPr algn="l">
              <a:defRPr sz="1200" b="1">
                <a:solidFill>
                  <a:srgbClr val="FFFFFF"/>
                </a:solidFill>
                <a:latin typeface="Calibri"/>
              </a:defRPr>
            </a:pPr>
            <a:r>
              <a:t>1. Configure</a:t>
            </a:r>
          </a:p>
        </p:txBody>
      </p:sp>
      <p:sp>
        <p:nvSpPr>
          <p:cNvPr id="6" name="TextBox 5"/>
          <p:cNvSpPr txBox="1"/>
          <p:nvPr/>
        </p:nvSpPr>
        <p:spPr>
          <a:xfrm>
            <a:off x="365760" y="1645920"/>
            <a:ext cx="1828800" cy="731520"/>
          </a:xfrm>
          <a:prstGeom prst="rect">
            <a:avLst/>
          </a:prstGeom>
          <a:noFill/>
        </p:spPr>
        <p:txBody>
          <a:bodyPr wrap="square">
            <a:spAutoFit/>
          </a:bodyPr>
          <a:lstStyle/>
          <a:p>
            <a:pPr algn="l">
              <a:defRPr sz="1000" b="0">
                <a:solidFill>
                  <a:srgbClr val="F0F0F8"/>
                </a:solidFill>
                <a:latin typeface="Calibri"/>
              </a:defRPr>
            </a:pPr>
            <a:r>
              <a:t>Load YAML</a:t>
            </a:r>
            <a:br/>
            <a:r>
              <a:t>Validate specs</a:t>
            </a:r>
          </a:p>
        </p:txBody>
      </p:sp>
      <p:sp>
        <p:nvSpPr>
          <p:cNvPr id="7" name="Rounded Rectangle 6"/>
          <p:cNvSpPr/>
          <p:nvPr/>
        </p:nvSpPr>
        <p:spPr>
          <a:xfrm>
            <a:off x="2560320" y="1371600"/>
            <a:ext cx="2011680" cy="1097280"/>
          </a:xfrm>
          <a:prstGeom prst="roundRect">
            <a:avLst/>
          </a:prstGeom>
          <a:solidFill>
            <a:srgbClr val="1ABC9C"/>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06039" y="1371600"/>
            <a:ext cx="1920240" cy="274320"/>
          </a:xfrm>
          <a:prstGeom prst="rect">
            <a:avLst/>
          </a:prstGeom>
          <a:noFill/>
        </p:spPr>
        <p:txBody>
          <a:bodyPr wrap="square">
            <a:spAutoFit/>
          </a:bodyPr>
          <a:lstStyle/>
          <a:p>
            <a:pPr algn="l">
              <a:defRPr sz="1200" b="1">
                <a:solidFill>
                  <a:srgbClr val="FFFFFF"/>
                </a:solidFill>
                <a:latin typeface="Calibri"/>
              </a:defRPr>
            </a:pPr>
            <a:r>
              <a:t>2. Place</a:t>
            </a:r>
          </a:p>
        </p:txBody>
      </p:sp>
      <p:sp>
        <p:nvSpPr>
          <p:cNvPr id="9" name="TextBox 8"/>
          <p:cNvSpPr txBox="1"/>
          <p:nvPr/>
        </p:nvSpPr>
        <p:spPr>
          <a:xfrm>
            <a:off x="2651760" y="1645920"/>
            <a:ext cx="1828800" cy="731520"/>
          </a:xfrm>
          <a:prstGeom prst="rect">
            <a:avLst/>
          </a:prstGeom>
          <a:noFill/>
        </p:spPr>
        <p:txBody>
          <a:bodyPr wrap="square">
            <a:spAutoFit/>
          </a:bodyPr>
          <a:lstStyle/>
          <a:p>
            <a:pPr algn="l">
              <a:defRPr sz="1000" b="0">
                <a:solidFill>
                  <a:srgbClr val="F0F0F8"/>
                </a:solidFill>
                <a:latin typeface="Calibri"/>
              </a:defRPr>
            </a:pPr>
            <a:r>
              <a:t>Apply strategy</a:t>
            </a:r>
            <a:br/>
            <a:r>
              <a:t>Patch nodeSelector</a:t>
            </a:r>
          </a:p>
        </p:txBody>
      </p:sp>
      <p:sp>
        <p:nvSpPr>
          <p:cNvPr id="10" name="Rounded Rectangle 9"/>
          <p:cNvSpPr/>
          <p:nvPr/>
        </p:nvSpPr>
        <p:spPr>
          <a:xfrm>
            <a:off x="4846320" y="1371600"/>
            <a:ext cx="2011680" cy="1097280"/>
          </a:xfrm>
          <a:prstGeom prst="roundRect">
            <a:avLst/>
          </a:prstGeom>
          <a:solidFill>
            <a:srgbClr val="E74C3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1371600"/>
            <a:ext cx="1920240" cy="274320"/>
          </a:xfrm>
          <a:prstGeom prst="rect">
            <a:avLst/>
          </a:prstGeom>
          <a:noFill/>
        </p:spPr>
        <p:txBody>
          <a:bodyPr wrap="square">
            <a:spAutoFit/>
          </a:bodyPr>
          <a:lstStyle/>
          <a:p>
            <a:pPr algn="l">
              <a:defRPr sz="1200" b="1">
                <a:solidFill>
                  <a:srgbClr val="FFFFFF"/>
                </a:solidFill>
                <a:latin typeface="Calibri"/>
              </a:defRPr>
            </a:pPr>
            <a:r>
              <a:t>3. Inject Chaos</a:t>
            </a:r>
          </a:p>
        </p:txBody>
      </p:sp>
      <p:sp>
        <p:nvSpPr>
          <p:cNvPr id="12" name="TextBox 11"/>
          <p:cNvSpPr txBox="1"/>
          <p:nvPr/>
        </p:nvSpPr>
        <p:spPr>
          <a:xfrm>
            <a:off x="4937759" y="1645920"/>
            <a:ext cx="1828800" cy="731520"/>
          </a:xfrm>
          <a:prstGeom prst="rect">
            <a:avLst/>
          </a:prstGeom>
          <a:noFill/>
        </p:spPr>
        <p:txBody>
          <a:bodyPr wrap="square">
            <a:spAutoFit/>
          </a:bodyPr>
          <a:lstStyle/>
          <a:p>
            <a:pPr algn="l">
              <a:defRPr sz="1000" b="0">
                <a:solidFill>
                  <a:srgbClr val="F0F0F8"/>
                </a:solidFill>
                <a:latin typeface="Calibri"/>
              </a:defRPr>
            </a:pPr>
            <a:r>
              <a:t>ChaosEngine</a:t>
            </a:r>
            <a:br/>
            <a:r>
              <a:t>via ChaosCenter</a:t>
            </a:r>
          </a:p>
        </p:txBody>
      </p:sp>
      <p:sp>
        <p:nvSpPr>
          <p:cNvPr id="13" name="Rounded Rectangle 12"/>
          <p:cNvSpPr/>
          <p:nvPr/>
        </p:nvSpPr>
        <p:spPr>
          <a:xfrm>
            <a:off x="7132320" y="1371600"/>
            <a:ext cx="2011680" cy="1097280"/>
          </a:xfrm>
          <a:prstGeom prst="roundRect">
            <a:avLst/>
          </a:prstGeom>
          <a:solidFill>
            <a:srgbClr val="2ECC71"/>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1371600"/>
            <a:ext cx="1920240" cy="274320"/>
          </a:xfrm>
          <a:prstGeom prst="rect">
            <a:avLst/>
          </a:prstGeom>
          <a:noFill/>
        </p:spPr>
        <p:txBody>
          <a:bodyPr wrap="square">
            <a:spAutoFit/>
          </a:bodyPr>
          <a:lstStyle/>
          <a:p>
            <a:pPr algn="l">
              <a:defRPr sz="1200" b="1">
                <a:solidFill>
                  <a:srgbClr val="FFFFFF"/>
                </a:solidFill>
                <a:latin typeface="Calibri"/>
              </a:defRPr>
            </a:pPr>
            <a:r>
              <a:t>4. Measure</a:t>
            </a:r>
          </a:p>
        </p:txBody>
      </p:sp>
      <p:sp>
        <p:nvSpPr>
          <p:cNvPr id="15" name="TextBox 14"/>
          <p:cNvSpPr txBox="1"/>
          <p:nvPr/>
        </p:nvSpPr>
        <p:spPr>
          <a:xfrm>
            <a:off x="7223759" y="1645920"/>
            <a:ext cx="1828800" cy="731520"/>
          </a:xfrm>
          <a:prstGeom prst="rect">
            <a:avLst/>
          </a:prstGeom>
          <a:noFill/>
        </p:spPr>
        <p:txBody>
          <a:bodyPr wrap="square">
            <a:spAutoFit/>
          </a:bodyPr>
          <a:lstStyle/>
          <a:p>
            <a:pPr algn="l">
              <a:defRPr sz="1000" b="0">
                <a:solidFill>
                  <a:srgbClr val="F0F0F8"/>
                </a:solidFill>
                <a:latin typeface="Calibri"/>
              </a:defRPr>
            </a:pPr>
            <a:r>
              <a:t>6 probers</a:t>
            </a:r>
            <a:br/>
            <a:r>
              <a:t>+ load generator</a:t>
            </a:r>
          </a:p>
        </p:txBody>
      </p:sp>
      <p:sp>
        <p:nvSpPr>
          <p:cNvPr id="16" name="Rounded Rectangle 15"/>
          <p:cNvSpPr/>
          <p:nvPr/>
        </p:nvSpPr>
        <p:spPr>
          <a:xfrm>
            <a:off x="9418320" y="1371600"/>
            <a:ext cx="2011680" cy="1097280"/>
          </a:xfrm>
          <a:prstGeom prst="roundRect">
            <a:avLst/>
          </a:prstGeom>
          <a:solidFill>
            <a:srgbClr val="9B59B6"/>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1371600"/>
            <a:ext cx="1920240" cy="274320"/>
          </a:xfrm>
          <a:prstGeom prst="rect">
            <a:avLst/>
          </a:prstGeom>
          <a:noFill/>
        </p:spPr>
        <p:txBody>
          <a:bodyPr wrap="square">
            <a:spAutoFit/>
          </a:bodyPr>
          <a:lstStyle/>
          <a:p>
            <a:pPr algn="l">
              <a:defRPr sz="1200" b="1">
                <a:solidFill>
                  <a:srgbClr val="FFFFFF"/>
                </a:solidFill>
                <a:latin typeface="Calibri"/>
              </a:defRPr>
            </a:pPr>
            <a:r>
              <a:t>5. Store</a:t>
            </a:r>
          </a:p>
        </p:txBody>
      </p:sp>
      <p:sp>
        <p:nvSpPr>
          <p:cNvPr id="18" name="TextBox 17"/>
          <p:cNvSpPr txBox="1"/>
          <p:nvPr/>
        </p:nvSpPr>
        <p:spPr>
          <a:xfrm>
            <a:off x="9509760" y="1645920"/>
            <a:ext cx="1828800" cy="731520"/>
          </a:xfrm>
          <a:prstGeom prst="rect">
            <a:avLst/>
          </a:prstGeom>
          <a:noFill/>
        </p:spPr>
        <p:txBody>
          <a:bodyPr wrap="square">
            <a:spAutoFit/>
          </a:bodyPr>
          <a:lstStyle/>
          <a:p>
            <a:pPr algn="l">
              <a:defRPr sz="1000" b="0">
                <a:solidFill>
                  <a:srgbClr val="F0F0F8"/>
                </a:solidFill>
                <a:latin typeface="Calibri"/>
              </a:defRPr>
            </a:pPr>
            <a:r>
              <a:t>Neo4j sync</a:t>
            </a:r>
            <a:br/>
            <a:r>
              <a:t>Charts + export</a:t>
            </a:r>
          </a:p>
        </p:txBody>
      </p:sp>
      <p:cxnSp>
        <p:nvCxnSpPr>
          <p:cNvPr id="19" name="Connector 18"/>
          <p:cNvCxnSpPr/>
          <p:nvPr/>
        </p:nvCxnSpPr>
        <p:spPr>
          <a:xfrm>
            <a:off x="2286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72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44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4320" y="2743200"/>
            <a:ext cx="10972800" cy="274320"/>
          </a:xfrm>
          <a:prstGeom prst="rect">
            <a:avLst/>
          </a:prstGeom>
          <a:noFill/>
        </p:spPr>
        <p:txBody>
          <a:bodyPr wrap="square">
            <a:spAutoFit/>
          </a:bodyPr>
          <a:lstStyle/>
          <a:p>
            <a:pPr algn="l">
              <a:defRPr sz="1600" b="1">
                <a:solidFill>
                  <a:srgbClr val="0096D6"/>
                </a:solidFill>
                <a:latin typeface="Calibri"/>
              </a:defRPr>
            </a:pPr>
            <a:r>
              <a:t>Three-Phase Measurement Window</a:t>
            </a:r>
          </a:p>
        </p:txBody>
      </p:sp>
      <p:sp>
        <p:nvSpPr>
          <p:cNvPr id="24" name="Rounded Rectangle 23"/>
          <p:cNvSpPr/>
          <p:nvPr/>
        </p:nvSpPr>
        <p:spPr>
          <a:xfrm>
            <a:off x="274320" y="3108960"/>
            <a:ext cx="320040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PreChaos — steady state (30s)</a:t>
            </a:r>
          </a:p>
        </p:txBody>
      </p:sp>
      <p:sp>
        <p:nvSpPr>
          <p:cNvPr id="25" name="Rounded Rectangle 24"/>
          <p:cNvSpPr/>
          <p:nvPr/>
        </p:nvSpPr>
        <p:spPr>
          <a:xfrm>
            <a:off x="3657600" y="3108960"/>
            <a:ext cx="411480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DuringChaos — fault active (120s)</a:t>
            </a:r>
          </a:p>
        </p:txBody>
      </p:sp>
      <p:sp>
        <p:nvSpPr>
          <p:cNvPr id="26" name="Rounded Rectangle 25"/>
          <p:cNvSpPr/>
          <p:nvPr/>
        </p:nvSpPr>
        <p:spPr>
          <a:xfrm>
            <a:off x="7955279" y="3108960"/>
            <a:ext cx="3657600" cy="45720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PostChaos — recovery observation</a:t>
            </a:r>
          </a:p>
        </p:txBody>
      </p:sp>
      <p:sp>
        <p:nvSpPr>
          <p:cNvPr id="27" name="TextBox 26"/>
          <p:cNvSpPr txBox="1"/>
          <p:nvPr/>
        </p:nvSpPr>
        <p:spPr>
          <a:xfrm>
            <a:off x="274320" y="3840480"/>
            <a:ext cx="10972800" cy="274320"/>
          </a:xfrm>
          <a:prstGeom prst="rect">
            <a:avLst/>
          </a:prstGeom>
          <a:noFill/>
        </p:spPr>
        <p:txBody>
          <a:bodyPr wrap="square">
            <a:spAutoFit/>
          </a:bodyPr>
          <a:lstStyle/>
          <a:p>
            <a:pPr algn="l">
              <a:defRPr sz="1600" b="1">
                <a:solidFill>
                  <a:srgbClr val="0096D6"/>
                </a:solidFill>
                <a:latin typeface="Calibri"/>
              </a:defRPr>
            </a:pPr>
            <a:r>
              <a:t>Data Flow</a:t>
            </a:r>
          </a:p>
        </p:txBody>
      </p:sp>
      <p:sp>
        <p:nvSpPr>
          <p:cNvPr id="28" name="TextBox 27"/>
          <p:cNvSpPr txBox="1"/>
          <p:nvPr/>
        </p:nvSpPr>
        <p:spPr>
          <a:xfrm>
            <a:off x="274320" y="4114800"/>
            <a:ext cx="2011680" cy="228600"/>
          </a:xfrm>
          <a:prstGeom prst="rect">
            <a:avLst/>
          </a:prstGeom>
          <a:noFill/>
        </p:spPr>
        <p:txBody>
          <a:bodyPr wrap="square">
            <a:spAutoFit/>
          </a:bodyPr>
          <a:lstStyle/>
          <a:p>
            <a:pPr algn="l">
              <a:defRPr sz="1100" b="1">
                <a:solidFill>
                  <a:srgbClr val="3498DB"/>
                </a:solidFill>
                <a:latin typeface="Calibri"/>
              </a:defRPr>
            </a:pPr>
            <a:r>
              <a:t>Input</a:t>
            </a:r>
          </a:p>
        </p:txBody>
      </p:sp>
      <p:sp>
        <p:nvSpPr>
          <p:cNvPr id="29" name="Rounded Rectangle 28"/>
          <p:cNvSpPr/>
          <p:nvPr/>
        </p:nvSpPr>
        <p:spPr>
          <a:xfrm>
            <a:off x="274320" y="4389120"/>
            <a:ext cx="2011680" cy="41148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experiment.yaml</a:t>
            </a:r>
          </a:p>
        </p:txBody>
      </p:sp>
      <p:sp>
        <p:nvSpPr>
          <p:cNvPr id="30" name="Rounded Rectangle 29"/>
          <p:cNvSpPr/>
          <p:nvPr/>
        </p:nvSpPr>
        <p:spPr>
          <a:xfrm>
            <a:off x="274320" y="4892040"/>
            <a:ext cx="2011680" cy="41148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K8s manifests</a:t>
            </a:r>
          </a:p>
        </p:txBody>
      </p:sp>
      <p:sp>
        <p:nvSpPr>
          <p:cNvPr id="31" name="Rounded Rectangle 30"/>
          <p:cNvSpPr/>
          <p:nvPr/>
        </p:nvSpPr>
        <p:spPr>
          <a:xfrm>
            <a:off x="274320" y="5394960"/>
            <a:ext cx="2011680" cy="41148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probe definitions</a:t>
            </a:r>
          </a:p>
        </p:txBody>
      </p:sp>
      <p:sp>
        <p:nvSpPr>
          <p:cNvPr id="32" name="TextBox 31"/>
          <p:cNvSpPr txBox="1"/>
          <p:nvPr/>
        </p:nvSpPr>
        <p:spPr>
          <a:xfrm>
            <a:off x="2560320" y="4114800"/>
            <a:ext cx="2011680" cy="228600"/>
          </a:xfrm>
          <a:prstGeom prst="rect">
            <a:avLst/>
          </a:prstGeom>
          <a:noFill/>
        </p:spPr>
        <p:txBody>
          <a:bodyPr wrap="square">
            <a:spAutoFit/>
          </a:bodyPr>
          <a:lstStyle/>
          <a:p>
            <a:pPr algn="l">
              <a:defRPr sz="1100" b="1">
                <a:solidFill>
                  <a:srgbClr val="1ABC9C"/>
                </a:solidFill>
                <a:latin typeface="Calibri"/>
              </a:defRPr>
            </a:pPr>
            <a:r>
              <a:t>Processing</a:t>
            </a:r>
          </a:p>
        </p:txBody>
      </p:sp>
      <p:sp>
        <p:nvSpPr>
          <p:cNvPr id="33" name="Rounded Rectangle 32"/>
          <p:cNvSpPr/>
          <p:nvPr/>
        </p:nvSpPr>
        <p:spPr>
          <a:xfrm>
            <a:off x="2560320" y="4389120"/>
            <a:ext cx="2011680" cy="41148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Config → topology</a:t>
            </a:r>
          </a:p>
        </p:txBody>
      </p:sp>
      <p:sp>
        <p:nvSpPr>
          <p:cNvPr id="34" name="Rounded Rectangle 33"/>
          <p:cNvSpPr/>
          <p:nvPr/>
        </p:nvSpPr>
        <p:spPr>
          <a:xfrm>
            <a:off x="2560320" y="4892040"/>
            <a:ext cx="2011680" cy="41148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Placement → nodeSelector</a:t>
            </a:r>
          </a:p>
        </p:txBody>
      </p:sp>
      <p:sp>
        <p:nvSpPr>
          <p:cNvPr id="35" name="Rounded Rectangle 34"/>
          <p:cNvSpPr/>
          <p:nvPr/>
        </p:nvSpPr>
        <p:spPr>
          <a:xfrm>
            <a:off x="2560320" y="5394960"/>
            <a:ext cx="2011680" cy="41148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ChaosRunner → API</a:t>
            </a:r>
          </a:p>
        </p:txBody>
      </p:sp>
      <p:sp>
        <p:nvSpPr>
          <p:cNvPr id="36" name="TextBox 35"/>
          <p:cNvSpPr txBox="1"/>
          <p:nvPr/>
        </p:nvSpPr>
        <p:spPr>
          <a:xfrm>
            <a:off x="4846320" y="4114800"/>
            <a:ext cx="2011680" cy="228600"/>
          </a:xfrm>
          <a:prstGeom prst="rect">
            <a:avLst/>
          </a:prstGeom>
          <a:noFill/>
        </p:spPr>
        <p:txBody>
          <a:bodyPr wrap="square">
            <a:spAutoFit/>
          </a:bodyPr>
          <a:lstStyle/>
          <a:p>
            <a:pPr algn="l">
              <a:defRPr sz="1100" b="1">
                <a:solidFill>
                  <a:srgbClr val="2ECC71"/>
                </a:solidFill>
                <a:latin typeface="Calibri"/>
              </a:defRPr>
            </a:pPr>
            <a:r>
              <a:t>Collection</a:t>
            </a:r>
          </a:p>
        </p:txBody>
      </p:sp>
      <p:sp>
        <p:nvSpPr>
          <p:cNvPr id="37" name="Rounded Rectangle 36"/>
          <p:cNvSpPr/>
          <p:nvPr/>
        </p:nvSpPr>
        <p:spPr>
          <a:xfrm>
            <a:off x="4846320" y="4389120"/>
            <a:ext cx="2011680" cy="4114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RecoveryWatcher</a:t>
            </a:r>
          </a:p>
        </p:txBody>
      </p:sp>
      <p:sp>
        <p:nvSpPr>
          <p:cNvPr id="38" name="Rounded Rectangle 37"/>
          <p:cNvSpPr/>
          <p:nvPr/>
        </p:nvSpPr>
        <p:spPr>
          <a:xfrm>
            <a:off x="4846320" y="4892040"/>
            <a:ext cx="2011680" cy="4114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5 continuous probers</a:t>
            </a:r>
          </a:p>
        </p:txBody>
      </p:sp>
      <p:sp>
        <p:nvSpPr>
          <p:cNvPr id="39" name="Rounded Rectangle 38"/>
          <p:cNvSpPr/>
          <p:nvPr/>
        </p:nvSpPr>
        <p:spPr>
          <a:xfrm>
            <a:off x="4846320" y="5394960"/>
            <a:ext cx="2011680" cy="4114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ResultCollector (CRDs)</a:t>
            </a:r>
          </a:p>
        </p:txBody>
      </p:sp>
      <p:sp>
        <p:nvSpPr>
          <p:cNvPr id="40" name="TextBox 39"/>
          <p:cNvSpPr txBox="1"/>
          <p:nvPr/>
        </p:nvSpPr>
        <p:spPr>
          <a:xfrm>
            <a:off x="7132320" y="4114800"/>
            <a:ext cx="2011680" cy="228600"/>
          </a:xfrm>
          <a:prstGeom prst="rect">
            <a:avLst/>
          </a:prstGeom>
          <a:noFill/>
        </p:spPr>
        <p:txBody>
          <a:bodyPr wrap="square">
            <a:spAutoFit/>
          </a:bodyPr>
          <a:lstStyle/>
          <a:p>
            <a:pPr algn="l">
              <a:defRPr sz="1100" b="1">
                <a:solidFill>
                  <a:srgbClr val="9B59B6"/>
                </a:solidFill>
                <a:latin typeface="Calibri"/>
              </a:defRPr>
            </a:pPr>
            <a:r>
              <a:t>Storage</a:t>
            </a:r>
          </a:p>
        </p:txBody>
      </p:sp>
      <p:sp>
        <p:nvSpPr>
          <p:cNvPr id="41" name="Rounded Rectangle 40"/>
          <p:cNvSpPr/>
          <p:nvPr/>
        </p:nvSpPr>
        <p:spPr>
          <a:xfrm>
            <a:off x="7132320" y="4389120"/>
            <a:ext cx="2011680" cy="4114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Neo4j (14 node types)</a:t>
            </a:r>
          </a:p>
        </p:txBody>
      </p:sp>
      <p:sp>
        <p:nvSpPr>
          <p:cNvPr id="42" name="Rounded Rectangle 41"/>
          <p:cNvSpPr/>
          <p:nvPr/>
        </p:nvSpPr>
        <p:spPr>
          <a:xfrm>
            <a:off x="7132320" y="4892040"/>
            <a:ext cx="2011680" cy="4114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Per-run metrics</a:t>
            </a:r>
          </a:p>
        </p:txBody>
      </p:sp>
      <p:sp>
        <p:nvSpPr>
          <p:cNvPr id="43" name="Rounded Rectangle 42"/>
          <p:cNvSpPr/>
          <p:nvPr/>
        </p:nvSpPr>
        <p:spPr>
          <a:xfrm>
            <a:off x="7132320" y="5394960"/>
            <a:ext cx="2011680" cy="4114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Anomaly labels</a:t>
            </a:r>
          </a:p>
        </p:txBody>
      </p:sp>
      <p:sp>
        <p:nvSpPr>
          <p:cNvPr id="44" name="TextBox 43"/>
          <p:cNvSpPr txBox="1"/>
          <p:nvPr/>
        </p:nvSpPr>
        <p:spPr>
          <a:xfrm>
            <a:off x="9418320" y="4114800"/>
            <a:ext cx="2011680" cy="228600"/>
          </a:xfrm>
          <a:prstGeom prst="rect">
            <a:avLst/>
          </a:prstGeom>
          <a:noFill/>
        </p:spPr>
        <p:txBody>
          <a:bodyPr wrap="square">
            <a:spAutoFit/>
          </a:bodyPr>
          <a:lstStyle/>
          <a:p>
            <a:pPr algn="l">
              <a:defRPr sz="1100" b="1">
                <a:solidFill>
                  <a:srgbClr val="F39C12"/>
                </a:solidFill>
                <a:latin typeface="Calibri"/>
              </a:defRPr>
            </a:pPr>
            <a:r>
              <a:t>Output</a:t>
            </a:r>
          </a:p>
        </p:txBody>
      </p:sp>
      <p:sp>
        <p:nvSpPr>
          <p:cNvPr id="45" name="Rounded Rectangle 44"/>
          <p:cNvSpPr/>
          <p:nvPr/>
        </p:nvSpPr>
        <p:spPr>
          <a:xfrm>
            <a:off x="9418320" y="4389120"/>
            <a:ext cx="2011680" cy="4114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9 chart types (PNG)</a:t>
            </a:r>
          </a:p>
        </p:txBody>
      </p:sp>
      <p:sp>
        <p:nvSpPr>
          <p:cNvPr id="46" name="Rounded Rectangle 45"/>
          <p:cNvSpPr/>
          <p:nvPr/>
        </p:nvSpPr>
        <p:spPr>
          <a:xfrm>
            <a:off x="9418320" y="4892040"/>
            <a:ext cx="2011680" cy="4114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HTML summary</a:t>
            </a:r>
          </a:p>
        </p:txBody>
      </p:sp>
      <p:sp>
        <p:nvSpPr>
          <p:cNvPr id="47" name="Rounded Rectangle 46"/>
          <p:cNvSpPr/>
          <p:nvPr/>
        </p:nvSpPr>
        <p:spPr>
          <a:xfrm>
            <a:off x="9418320" y="5394960"/>
            <a:ext cx="2011680" cy="4114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ML dataset (CSV)</a:t>
            </a:r>
          </a:p>
        </p:txBody>
      </p:sp>
      <p:cxnSp>
        <p:nvCxnSpPr>
          <p:cNvPr id="48" name="Connector 47"/>
          <p:cNvCxnSpPr/>
          <p:nvPr/>
        </p:nvCxnSpPr>
        <p:spPr>
          <a:xfrm>
            <a:off x="2286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72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858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144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274320" y="5943600"/>
            <a:ext cx="10972800" cy="640080"/>
          </a:xfrm>
          <a:prstGeom prst="rect">
            <a:avLst/>
          </a:prstGeom>
          <a:noFill/>
        </p:spPr>
        <p:txBody>
          <a:bodyPr wrap="square">
            <a:spAutoFit/>
          </a:bodyPr>
          <a:lstStyle/>
          <a:p>
            <a:pPr algn="l">
              <a:defRPr sz="1100" b="0">
                <a:solidFill>
                  <a:srgbClr val="9090A0"/>
                </a:solidFill>
                <a:latin typeface="Calibri"/>
              </a:defRPr>
            </a:pPr>
            <a:r>
              <a:t>Strategy loop: for each of 6 strategies × N iterations: settle (30s) → start probers → start Locust → pre-chaos baseline → run chaos (120s) → post-chaos recovery → collect &amp; sync to Neo4j</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Metrics Collection — Probers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0972800" cy="274320"/>
          </a:xfrm>
          <a:prstGeom prst="rect">
            <a:avLst/>
          </a:prstGeom>
          <a:noFill/>
        </p:spPr>
        <p:txBody>
          <a:bodyPr wrap="square">
            <a:spAutoFit/>
          </a:bodyPr>
          <a:lstStyle/>
          <a:p>
            <a:pPr algn="l">
              <a:defRPr sz="1600" b="1">
                <a:solidFill>
                  <a:srgbClr val="0096D6"/>
                </a:solidFill>
                <a:latin typeface="Calibri"/>
              </a:defRPr>
            </a:pPr>
            <a:r>
              <a:t>6 Continuous Probers Run as Background Threads</a:t>
            </a:r>
          </a:p>
        </p:txBody>
      </p:sp>
      <p:graphicFrame>
        <p:nvGraphicFramePr>
          <p:cNvPr id="5" name="Table 4"/>
          <p:cNvGraphicFramePr>
            <a:graphicFrameLocks noGrp="1"/>
          </p:cNvGraphicFramePr>
          <p:nvPr/>
        </p:nvGraphicFramePr>
        <p:xfrm>
          <a:off x="274320" y="1645920"/>
          <a:ext cx="11612880" cy="2560314"/>
        </p:xfrm>
        <a:graphic>
          <a:graphicData uri="http://schemas.openxmlformats.org/drawingml/2006/table">
            <a:tbl>
              <a:tblPr firstRow="1" bandRow="1">
                <a:tableStyleId>{5C22544A-7EE6-4342-B048-85BDC9FD1C3A}</a:tableStyleId>
              </a:tblPr>
              <a:tblGrid>
                <a:gridCol w="2903220"/>
                <a:gridCol w="2903220"/>
                <a:gridCol w="2903220"/>
                <a:gridCol w="2903220"/>
              </a:tblGrid>
              <a:tr h="426719">
                <a:tc>
                  <a:txBody>
                    <a:bodyPr wrap="square"/>
                    <a:lstStyle/>
                    <a:p>
                      <a:pPr algn="l"/>
                      <a:r>
                        <a:rPr sz="1100" b="1">
                          <a:solidFill>
                            <a:srgbClr val="FFFFFF"/>
                          </a:solidFill>
                          <a:latin typeface="Calibri"/>
                        </a:rPr>
                        <a:t>Prober</a:t>
                      </a:r>
                    </a:p>
                  </a:txBody>
                  <a:tcPr marL="76200" marR="76200" marT="38100" marB="38100">
                    <a:solidFill>
                      <a:srgbClr val="0096D6"/>
                    </a:solidFill>
                  </a:tcPr>
                </a:tc>
                <a:tc>
                  <a:txBody>
                    <a:bodyPr wrap="square"/>
                    <a:lstStyle/>
                    <a:p>
                      <a:pPr algn="l"/>
                      <a:r>
                        <a:rPr sz="1100" b="1">
                          <a:solidFill>
                            <a:srgbClr val="FFFFFF"/>
                          </a:solidFill>
                          <a:latin typeface="Calibri"/>
                        </a:rPr>
                        <a:t>What It Measures</a:t>
                      </a:r>
                    </a:p>
                  </a:txBody>
                  <a:tcPr marL="76200" marR="76200" marT="38100" marB="38100">
                    <a:solidFill>
                      <a:srgbClr val="0096D6"/>
                    </a:solidFill>
                  </a:tcPr>
                </a:tc>
                <a:tc>
                  <a:txBody>
                    <a:bodyPr wrap="square"/>
                    <a:lstStyle/>
                    <a:p>
                      <a:pPr algn="l"/>
                      <a:r>
                        <a:rPr sz="1100" b="1">
                          <a:solidFill>
                            <a:srgbClr val="FFFFFF"/>
                          </a:solidFill>
                          <a:latin typeface="Calibri"/>
                        </a:rPr>
                        <a:t>Data Source</a:t>
                      </a:r>
                    </a:p>
                  </a:txBody>
                  <a:tcPr marL="76200" marR="76200" marT="38100" marB="38100">
                    <a:solidFill>
                      <a:srgbClr val="0096D6"/>
                    </a:solidFill>
                  </a:tcPr>
                </a:tc>
                <a:tc>
                  <a:txBody>
                    <a:bodyPr wrap="square"/>
                    <a:lstStyle/>
                    <a:p>
                      <a:pPr algn="l"/>
                      <a:r>
                        <a:rPr sz="1100" b="1">
                          <a:solidFill>
                            <a:srgbClr val="FFFFFF"/>
                          </a:solidFill>
                          <a:latin typeface="Calibri"/>
                        </a:rPr>
                        <a:t>Interval</a:t>
                      </a:r>
                    </a:p>
                  </a:txBody>
                  <a:tcPr marL="76200" marR="76200" marT="38100" marB="38100">
                    <a:solidFill>
                      <a:srgbClr val="0096D6"/>
                    </a:solidFill>
                  </a:tcPr>
                </a:tc>
              </a:tr>
              <a:tr h="426719">
                <a:tc>
                  <a:txBody>
                    <a:bodyPr wrap="square"/>
                    <a:lstStyle/>
                    <a:p>
                      <a:pPr algn="l"/>
                      <a:r>
                        <a:rPr sz="1100" b="0">
                          <a:solidFill>
                            <a:srgbClr val="FFFFFF"/>
                          </a:solidFill>
                          <a:latin typeface="Calibri"/>
                        </a:rPr>
                        <a:t>RecoveryWatcher</a:t>
                      </a:r>
                    </a:p>
                  </a:txBody>
                  <a:tcPr marL="76200" marR="76200" marT="38100" marB="38100">
                    <a:solidFill>
                      <a:srgbClr val="2A2A3E"/>
                    </a:solidFill>
                  </a:tcPr>
                </a:tc>
                <a:tc>
                  <a:txBody>
                    <a:bodyPr wrap="square"/>
                    <a:lstStyle/>
                    <a:p>
                      <a:pPr algn="l"/>
                      <a:r>
                        <a:rPr sz="1100" b="0">
                          <a:solidFill>
                            <a:srgbClr val="FFFFFF"/>
                          </a:solidFill>
                          <a:latin typeface="Calibri"/>
                        </a:rPr>
                        <a:t>Pod deletion → scheduled → ready (ms)</a:t>
                      </a:r>
                    </a:p>
                  </a:txBody>
                  <a:tcPr marL="76200" marR="76200" marT="38100" marB="38100">
                    <a:solidFill>
                      <a:srgbClr val="2A2A3E"/>
                    </a:solidFill>
                  </a:tcPr>
                </a:tc>
                <a:tc>
                  <a:txBody>
                    <a:bodyPr wrap="square"/>
                    <a:lstStyle/>
                    <a:p>
                      <a:pPr algn="l"/>
                      <a:r>
                        <a:rPr sz="1100" b="0">
                          <a:solidFill>
                            <a:srgbClr val="FFFFFF"/>
                          </a:solidFill>
                          <a:latin typeface="Calibri"/>
                        </a:rPr>
                        <a:t>K8s Watch API</a:t>
                      </a:r>
                    </a:p>
                  </a:txBody>
                  <a:tcPr marL="76200" marR="76200" marT="38100" marB="38100">
                    <a:solidFill>
                      <a:srgbClr val="2A2A3E"/>
                    </a:solidFill>
                  </a:tcPr>
                </a:tc>
                <a:tc>
                  <a:txBody>
                    <a:bodyPr wrap="square"/>
                    <a:lstStyle/>
                    <a:p>
                      <a:pPr algn="l"/>
                      <a:r>
                        <a:rPr sz="1100" b="0">
                          <a:solidFill>
                            <a:srgbClr val="FFFFFF"/>
                          </a:solidFill>
                          <a:latin typeface="Calibri"/>
                        </a:rPr>
                        <a:t>Real-time</a:t>
                      </a:r>
                    </a:p>
                  </a:txBody>
                  <a:tcPr marL="76200" marR="76200" marT="38100" marB="38100">
                    <a:solidFill>
                      <a:srgbClr val="2A2A3E"/>
                    </a:solidFill>
                  </a:tcPr>
                </a:tc>
              </a:tr>
              <a:tr h="426719">
                <a:tc>
                  <a:txBody>
                    <a:bodyPr wrap="square"/>
                    <a:lstStyle/>
                    <a:p>
                      <a:pPr algn="l"/>
                      <a:r>
                        <a:rPr sz="1100" b="0">
                          <a:solidFill>
                            <a:srgbClr val="FFFFFF"/>
                          </a:solidFill>
                          <a:latin typeface="Calibri"/>
                        </a:rPr>
                        <a:t>LatencyProber</a:t>
                      </a:r>
                    </a:p>
                  </a:txBody>
                  <a:tcPr marL="76200" marR="76200" marT="38100" marB="38100">
                    <a:solidFill>
                      <a:srgbClr val="2A2A3E"/>
                    </a:solidFill>
                  </a:tcPr>
                </a:tc>
                <a:tc>
                  <a:txBody>
                    <a:bodyPr wrap="square"/>
                    <a:lstStyle/>
                    <a:p>
                      <a:pPr algn="l"/>
                      <a:r>
                        <a:rPr sz="1100" b="0">
                          <a:solidFill>
                            <a:srgbClr val="FFFFFF"/>
                          </a:solidFill>
                          <a:latin typeface="Calibri"/>
                        </a:rPr>
                        <a:t>HTTP route latency + error rates</a:t>
                      </a:r>
                    </a:p>
                  </a:txBody>
                  <a:tcPr marL="76200" marR="76200" marT="38100" marB="38100">
                    <a:solidFill>
                      <a:srgbClr val="2A2A3E"/>
                    </a:solidFill>
                  </a:tcPr>
                </a:tc>
                <a:tc>
                  <a:txBody>
                    <a:bodyPr wrap="square"/>
                    <a:lstStyle/>
                    <a:p>
                      <a:pPr algn="l"/>
                      <a:r>
                        <a:rPr sz="1100" b="0">
                          <a:solidFill>
                            <a:srgbClr val="FFFFFF"/>
                          </a:solidFill>
                          <a:latin typeface="Calibri"/>
                        </a:rPr>
                        <a:t>kubectl exec → curl</a:t>
                      </a:r>
                    </a:p>
                  </a:txBody>
                  <a:tcPr marL="76200" marR="76200" marT="38100" marB="38100">
                    <a:solidFill>
                      <a:srgbClr val="2A2A3E"/>
                    </a:solidFill>
                  </a:tcPr>
                </a:tc>
                <a:tc>
                  <a:txBody>
                    <a:bodyPr wrap="square"/>
                    <a:lstStyle/>
                    <a:p>
                      <a:pPr algn="l"/>
                      <a:r>
                        <a:rPr sz="1100" b="0">
                          <a:solidFill>
                            <a:srgbClr val="FFFFFF"/>
                          </a:solidFill>
                          <a:latin typeface="Calibri"/>
                        </a:rPr>
                        <a:t>~2s</a:t>
                      </a:r>
                    </a:p>
                  </a:txBody>
                  <a:tcPr marL="76200" marR="76200" marT="38100" marB="38100">
                    <a:solidFill>
                      <a:srgbClr val="2A2A3E"/>
                    </a:solidFill>
                  </a:tcPr>
                </a:tc>
              </a:tr>
              <a:tr h="426719">
                <a:tc>
                  <a:txBody>
                    <a:bodyPr wrap="square"/>
                    <a:lstStyle/>
                    <a:p>
                      <a:pPr algn="l"/>
                      <a:r>
                        <a:rPr sz="1100" b="0">
                          <a:solidFill>
                            <a:srgbClr val="FFFFFF"/>
                          </a:solidFill>
                          <a:latin typeface="Calibri"/>
                        </a:rPr>
                        <a:t>ResourceProber</a:t>
                      </a:r>
                    </a:p>
                  </a:txBody>
                  <a:tcPr marL="76200" marR="76200" marT="38100" marB="38100">
                    <a:solidFill>
                      <a:srgbClr val="2A2A3E"/>
                    </a:solidFill>
                  </a:tcPr>
                </a:tc>
                <a:tc>
                  <a:txBody>
                    <a:bodyPr wrap="square"/>
                    <a:lstStyle/>
                    <a:p>
                      <a:pPr algn="l"/>
                      <a:r>
                        <a:rPr sz="1100" b="0">
                          <a:solidFill>
                            <a:srgbClr val="FFFFFF"/>
                          </a:solidFill>
                          <a:latin typeface="Calibri"/>
                        </a:rPr>
                        <a:t>Node/pod CPU (millicores) + memory</a:t>
                      </a:r>
                    </a:p>
                  </a:txBody>
                  <a:tcPr marL="76200" marR="76200" marT="38100" marB="38100">
                    <a:solidFill>
                      <a:srgbClr val="2A2A3E"/>
                    </a:solidFill>
                  </a:tcPr>
                </a:tc>
                <a:tc>
                  <a:txBody>
                    <a:bodyPr wrap="square"/>
                    <a:lstStyle/>
                    <a:p>
                      <a:pPr algn="l"/>
                      <a:r>
                        <a:rPr sz="1100" b="0">
                          <a:solidFill>
                            <a:srgbClr val="FFFFFF"/>
                          </a:solidFill>
                          <a:latin typeface="Calibri"/>
                        </a:rPr>
                        <a:t>Metrics API (v1beta1)</a:t>
                      </a:r>
                    </a:p>
                  </a:txBody>
                  <a:tcPr marL="76200" marR="76200" marT="38100" marB="38100">
                    <a:solidFill>
                      <a:srgbClr val="2A2A3E"/>
                    </a:solidFill>
                  </a:tcPr>
                </a:tc>
                <a:tc>
                  <a:txBody>
                    <a:bodyPr wrap="square"/>
                    <a:lstStyle/>
                    <a:p>
                      <a:pPr algn="l"/>
                      <a:r>
                        <a:rPr sz="1100" b="0">
                          <a:solidFill>
                            <a:srgbClr val="FFFFFF"/>
                          </a:solidFill>
                          <a:latin typeface="Calibri"/>
                        </a:rPr>
                        <a:t>~5s</a:t>
                      </a:r>
                    </a:p>
                  </a:txBody>
                  <a:tcPr marL="76200" marR="76200" marT="38100" marB="38100">
                    <a:solidFill>
                      <a:srgbClr val="2A2A3E"/>
                    </a:solidFill>
                  </a:tcPr>
                </a:tc>
              </a:tr>
              <a:tr h="426719">
                <a:tc>
                  <a:txBody>
                    <a:bodyPr wrap="square"/>
                    <a:lstStyle/>
                    <a:p>
                      <a:pPr algn="l"/>
                      <a:r>
                        <a:rPr sz="1100" b="0">
                          <a:solidFill>
                            <a:srgbClr val="FFFFFF"/>
                          </a:solidFill>
                          <a:latin typeface="Calibri"/>
                        </a:rPr>
                        <a:t>PrometheusProber</a:t>
                      </a:r>
                    </a:p>
                  </a:txBody>
                  <a:tcPr marL="76200" marR="76200" marT="38100" marB="38100">
                    <a:solidFill>
                      <a:srgbClr val="2A2A3E"/>
                    </a:solidFill>
                  </a:tcPr>
                </a:tc>
                <a:tc>
                  <a:txBody>
                    <a:bodyPr wrap="square"/>
                    <a:lstStyle/>
                    <a:p>
                      <a:pPr algn="l"/>
                      <a:r>
                        <a:rPr sz="1100" b="0">
                          <a:solidFill>
                            <a:srgbClr val="FFFFFF"/>
                          </a:solidFill>
                          <a:latin typeface="Calibri"/>
                        </a:rPr>
                        <a:t>pod_ready, CPU throttle, network I/O</a:t>
                      </a:r>
                    </a:p>
                  </a:txBody>
                  <a:tcPr marL="76200" marR="76200" marT="38100" marB="38100">
                    <a:solidFill>
                      <a:srgbClr val="2A2A3E"/>
                    </a:solidFill>
                  </a:tcPr>
                </a:tc>
                <a:tc>
                  <a:txBody>
                    <a:bodyPr wrap="square"/>
                    <a:lstStyle/>
                    <a:p>
                      <a:pPr algn="l"/>
                      <a:r>
                        <a:rPr sz="1100" b="0">
                          <a:solidFill>
                            <a:srgbClr val="FFFFFF"/>
                          </a:solidFill>
                          <a:latin typeface="Calibri"/>
                        </a:rPr>
                        <a:t>PromQL queries</a:t>
                      </a:r>
                    </a:p>
                  </a:txBody>
                  <a:tcPr marL="76200" marR="76200" marT="38100" marB="38100">
                    <a:solidFill>
                      <a:srgbClr val="2A2A3E"/>
                    </a:solidFill>
                  </a:tcPr>
                </a:tc>
                <a:tc>
                  <a:txBody>
                    <a:bodyPr wrap="square"/>
                    <a:lstStyle/>
                    <a:p>
                      <a:pPr algn="l"/>
                      <a:r>
                        <a:rPr sz="1100" b="0">
                          <a:solidFill>
                            <a:srgbClr val="FFFFFF"/>
                          </a:solidFill>
                          <a:latin typeface="Calibri"/>
                        </a:rPr>
                        <a:t>~10s</a:t>
                      </a:r>
                    </a:p>
                  </a:txBody>
                  <a:tcPr marL="76200" marR="76200" marT="38100" marB="38100">
                    <a:solidFill>
                      <a:srgbClr val="2A2A3E"/>
                    </a:solidFill>
                  </a:tcPr>
                </a:tc>
              </a:tr>
              <a:tr h="426719">
                <a:tc>
                  <a:txBody>
                    <a:bodyPr wrap="square"/>
                    <a:lstStyle/>
                    <a:p>
                      <a:pPr algn="l"/>
                      <a:r>
                        <a:rPr sz="1100" b="0">
                          <a:solidFill>
                            <a:srgbClr val="FFFFFF"/>
                          </a:solidFill>
                          <a:latin typeface="Calibri"/>
                        </a:rPr>
                        <a:t>ThroughputProber</a:t>
                      </a:r>
                    </a:p>
                  </a:txBody>
                  <a:tcPr marL="76200" marR="76200" marT="38100" marB="38100">
                    <a:solidFill>
                      <a:srgbClr val="2A2A3E"/>
                    </a:solidFill>
                  </a:tcPr>
                </a:tc>
                <a:tc>
                  <a:txBody>
                    <a:bodyPr wrap="square"/>
                    <a:lstStyle/>
                    <a:p>
                      <a:pPr algn="l"/>
                      <a:r>
                        <a:rPr sz="1100" b="0">
                          <a:solidFill>
                            <a:srgbClr val="FFFFFF"/>
                          </a:solidFill>
                          <a:latin typeface="Calibri"/>
                        </a:rPr>
                        <a:t>Redis ops/s, disk R/W bytes/s</a:t>
                      </a:r>
                    </a:p>
                  </a:txBody>
                  <a:tcPr marL="76200" marR="76200" marT="38100" marB="38100">
                    <a:solidFill>
                      <a:srgbClr val="2A2A3E"/>
                    </a:solidFill>
                  </a:tcPr>
                </a:tc>
                <a:tc>
                  <a:txBody>
                    <a:bodyPr wrap="square"/>
                    <a:lstStyle/>
                    <a:p>
                      <a:pPr algn="l"/>
                      <a:r>
                        <a:rPr sz="1100" b="0">
                          <a:solidFill>
                            <a:srgbClr val="FFFFFF"/>
                          </a:solidFill>
                          <a:latin typeface="Calibri"/>
                        </a:rPr>
                        <a:t>redis-cli, dd commands</a:t>
                      </a:r>
                    </a:p>
                  </a:txBody>
                  <a:tcPr marL="76200" marR="76200" marT="38100" marB="38100">
                    <a:solidFill>
                      <a:srgbClr val="2A2A3E"/>
                    </a:solidFill>
                  </a:tcPr>
                </a:tc>
                <a:tc>
                  <a:txBody>
                    <a:bodyPr wrap="square"/>
                    <a:lstStyle/>
                    <a:p>
                      <a:pPr algn="l"/>
                      <a:r>
                        <a:rPr sz="1100" b="0">
                          <a:solidFill>
                            <a:srgbClr val="FFFFFF"/>
                          </a:solidFill>
                          <a:latin typeface="Calibri"/>
                        </a:rPr>
                        <a:t>~10s</a:t>
                      </a:r>
                    </a:p>
                  </a:txBody>
                  <a:tcPr marL="76200" marR="76200" marT="38100" marB="38100">
                    <a:solidFill>
                      <a:srgbClr val="2A2A3E"/>
                    </a:solidFill>
                  </a:tcPr>
                </a:tc>
              </a:tr>
            </a:tbl>
          </a:graphicData>
        </a:graphic>
      </p:graphicFrame>
      <p:sp>
        <p:nvSpPr>
          <p:cNvPr id="6" name="TextBox 5"/>
          <p:cNvSpPr txBox="1"/>
          <p:nvPr/>
        </p:nvSpPr>
        <p:spPr>
          <a:xfrm>
            <a:off x="457200" y="4480560"/>
            <a:ext cx="10972800" cy="274320"/>
          </a:xfrm>
          <a:prstGeom prst="rect">
            <a:avLst/>
          </a:prstGeom>
          <a:noFill/>
        </p:spPr>
        <p:txBody>
          <a:bodyPr wrap="square">
            <a:spAutoFit/>
          </a:bodyPr>
          <a:lstStyle/>
          <a:p>
            <a:pPr algn="l">
              <a:defRPr sz="1600" b="1">
                <a:solidFill>
                  <a:srgbClr val="2ECC71"/>
                </a:solidFill>
                <a:latin typeface="Calibri"/>
              </a:defRPr>
            </a:pPr>
            <a:r>
              <a:t>Prober Lifecycle</a:t>
            </a:r>
          </a:p>
        </p:txBody>
      </p:sp>
      <p:sp>
        <p:nvSpPr>
          <p:cNvPr id="7" name="TextBox 6"/>
          <p:cNvSpPr txBox="1"/>
          <p:nvPr/>
        </p:nvSpPr>
        <p:spPr>
          <a:xfrm>
            <a:off x="457200" y="4846320"/>
            <a:ext cx="10972800" cy="182880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 All probers extend ContinuousProberBase — shared start/stop lifecycle with phase markers</a:t>
            </a:r>
          </a:p>
          <a:p>
            <a:pPr>
              <a:spcBef>
                <a:spcPts val="200"/>
              </a:spcBef>
              <a:spcAft>
                <a:spcPts val="200"/>
              </a:spcAft>
              <a:defRPr sz="1300">
                <a:solidFill>
                  <a:srgbClr val="BDBDBD"/>
                </a:solidFill>
                <a:latin typeface="Calibri"/>
              </a:defRPr>
            </a:pPr>
            <a:r>
              <a:t>• Non-blocking: each prober runs in its own daemon thread, collecting in real-time</a:t>
            </a:r>
          </a:p>
          <a:p>
            <a:pPr>
              <a:spcBef>
                <a:spcPts val="200"/>
              </a:spcBef>
              <a:spcAft>
                <a:spcPts val="200"/>
              </a:spcAft>
              <a:defRPr sz="1300">
                <a:solidFill>
                  <a:srgbClr val="BDBDBD"/>
                </a:solidFill>
                <a:latin typeface="Calibri"/>
              </a:defRPr>
            </a:pPr>
            <a:r>
              <a:t>• Phase-aware: measurements tagged PreChaos / DuringChaos / PostChaos for comparison</a:t>
            </a:r>
          </a:p>
          <a:p>
            <a:pPr>
              <a:spcBef>
                <a:spcPts val="200"/>
              </a:spcBef>
              <a:spcAft>
                <a:spcPts val="200"/>
              </a:spcAft>
              <a:defRPr sz="1300">
                <a:solidFill>
                  <a:srgbClr val="BDBDBD"/>
                </a:solidFill>
                <a:latin typeface="Calibri"/>
              </a:defRPr>
            </a:pPr>
            <a:r>
              <a:t>• Infrastructure: metrics-server, Prometheus + kube-state-metrics, redis-cart pod, K8s API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Contention Categories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0972800" cy="274320"/>
          </a:xfrm>
          <a:prstGeom prst="rect">
            <a:avLst/>
          </a:prstGeom>
          <a:noFill/>
        </p:spPr>
        <p:txBody>
          <a:bodyPr wrap="square">
            <a:spAutoFit/>
          </a:bodyPr>
          <a:lstStyle/>
          <a:p>
            <a:pPr algn="l">
              <a:defRPr sz="1600" b="1">
                <a:solidFill>
                  <a:srgbClr val="F39C12"/>
                </a:solidFill>
                <a:latin typeface="Calibri"/>
              </a:defRPr>
            </a:pPr>
            <a:r>
              <a:t>Expected Impact by Placement — with Literature References</a:t>
            </a:r>
          </a:p>
        </p:txBody>
      </p:sp>
      <p:graphicFrame>
        <p:nvGraphicFramePr>
          <p:cNvPr id="5" name="Table 4"/>
          <p:cNvGraphicFramePr>
            <a:graphicFrameLocks noGrp="1"/>
          </p:cNvGraphicFramePr>
          <p:nvPr/>
        </p:nvGraphicFramePr>
        <p:xfrm>
          <a:off x="274320" y="1645920"/>
          <a:ext cx="11612880" cy="3200400"/>
        </p:xfrm>
        <a:graphic>
          <a:graphicData uri="http://schemas.openxmlformats.org/drawingml/2006/table">
            <a:tbl>
              <a:tblPr firstRow="1" bandRow="1">
                <a:tableStyleId>{5C22544A-7EE6-4342-B048-85BDC9FD1C3A}</a:tableStyleId>
              </a:tblPr>
              <a:tblGrid>
                <a:gridCol w="2903220"/>
                <a:gridCol w="2903220"/>
                <a:gridCol w="2903220"/>
                <a:gridCol w="2903220"/>
              </a:tblGrid>
              <a:tr h="533400">
                <a:tc>
                  <a:txBody>
                    <a:bodyPr wrap="square"/>
                    <a:lstStyle/>
                    <a:p>
                      <a:pPr algn="l"/>
                      <a:r>
                        <a:rPr sz="1100" b="1">
                          <a:solidFill>
                            <a:srgbClr val="FFFFFF"/>
                          </a:solidFill>
                          <a:latin typeface="Calibri"/>
                        </a:rPr>
                        <a:t>Category</a:t>
                      </a:r>
                    </a:p>
                  </a:txBody>
                  <a:tcPr marL="76200" marR="76200" marT="38100" marB="38100">
                    <a:solidFill>
                      <a:srgbClr val="F39C12"/>
                    </a:solidFill>
                  </a:tcPr>
                </a:tc>
                <a:tc>
                  <a:txBody>
                    <a:bodyPr wrap="square"/>
                    <a:lstStyle/>
                    <a:p>
                      <a:pPr algn="l"/>
                      <a:r>
                        <a:rPr sz="1100" b="1">
                          <a:solidFill>
                            <a:srgbClr val="FFFFFF"/>
                          </a:solidFill>
                          <a:latin typeface="Calibri"/>
                        </a:rPr>
                        <a:t>Metric</a:t>
                      </a:r>
                    </a:p>
                  </a:txBody>
                  <a:tcPr marL="76200" marR="76200" marT="38100" marB="38100">
                    <a:solidFill>
                      <a:srgbClr val="F39C12"/>
                    </a:solidFill>
                  </a:tcPr>
                </a:tc>
                <a:tc>
                  <a:txBody>
                    <a:bodyPr wrap="square"/>
                    <a:lstStyle/>
                    <a:p>
                      <a:pPr algn="l"/>
                      <a:r>
                        <a:rPr sz="1100" b="1">
                          <a:solidFill>
                            <a:srgbClr val="FFFFFF"/>
                          </a:solidFill>
                          <a:latin typeface="Calibri"/>
                        </a:rPr>
                        <a:t>Expected Colocate Impact</a:t>
                      </a:r>
                    </a:p>
                  </a:txBody>
                  <a:tcPr marL="76200" marR="76200" marT="38100" marB="38100">
                    <a:solidFill>
                      <a:srgbClr val="F39C12"/>
                    </a:solidFill>
                  </a:tcPr>
                </a:tc>
                <a:tc>
                  <a:txBody>
                    <a:bodyPr wrap="square"/>
                    <a:lstStyle/>
                    <a:p>
                      <a:pPr algn="l"/>
                      <a:r>
                        <a:rPr sz="1100" b="1">
                          <a:solidFill>
                            <a:srgbClr val="FFFFFF"/>
                          </a:solidFill>
                          <a:latin typeface="Calibri"/>
                        </a:rPr>
                        <a:t>Literature</a:t>
                      </a:r>
                    </a:p>
                  </a:txBody>
                  <a:tcPr marL="76200" marR="76200" marT="38100" marB="38100">
                    <a:solidFill>
                      <a:srgbClr val="F39C12"/>
                    </a:solidFill>
                  </a:tcPr>
                </a:tc>
              </a:tr>
              <a:tr h="533400">
                <a:tc>
                  <a:txBody>
                    <a:bodyPr wrap="square"/>
                    <a:lstStyle/>
                    <a:p>
                      <a:pPr algn="l"/>
                      <a:r>
                        <a:rPr sz="1100" b="0">
                          <a:solidFill>
                            <a:srgbClr val="FFFFFF"/>
                          </a:solidFill>
                          <a:latin typeface="Calibri"/>
                        </a:rPr>
                        <a:t>Node CPU Utilization</a:t>
                      </a:r>
                    </a:p>
                  </a:txBody>
                  <a:tcPr marL="76200" marR="76200" marT="38100" marB="38100">
                    <a:solidFill>
                      <a:srgbClr val="2A2A3E"/>
                    </a:solidFill>
                  </a:tcPr>
                </a:tc>
                <a:tc>
                  <a:txBody>
                    <a:bodyPr wrap="square"/>
                    <a:lstStyle/>
                    <a:p>
                      <a:pPr algn="l"/>
                      <a:r>
                        <a:rPr sz="1100" b="0">
                          <a:solidFill>
                            <a:srgbClr val="FFFFFF"/>
                          </a:solidFill>
                          <a:latin typeface="Calibri"/>
                        </a:rPr>
                        <a:t>CPU millicores, throttle seconds</a:t>
                      </a:r>
                    </a:p>
                  </a:txBody>
                  <a:tcPr marL="76200" marR="76200" marT="38100" marB="38100">
                    <a:solidFill>
                      <a:srgbClr val="2A2A3E"/>
                    </a:solidFill>
                  </a:tcPr>
                </a:tc>
                <a:tc>
                  <a:txBody>
                    <a:bodyPr wrap="square"/>
                    <a:lstStyle/>
                    <a:p>
                      <a:pPr algn="l"/>
                      <a:r>
                        <a:rPr sz="1100" b="0">
                          <a:solidFill>
                            <a:srgbClr val="FFFFFF"/>
                          </a:solidFill>
                          <a:latin typeface="Calibri"/>
                        </a:rPr>
                        <a:t>Shared cores → CPU throttling under load</a:t>
                      </a:r>
                    </a:p>
                  </a:txBody>
                  <a:tcPr marL="76200" marR="76200" marT="38100" marB="38100">
                    <a:solidFill>
                      <a:srgbClr val="2A2A3E"/>
                    </a:solidFill>
                  </a:tcPr>
                </a:tc>
                <a:tc>
                  <a:txBody>
                    <a:bodyPr wrap="square"/>
                    <a:lstStyle/>
                    <a:p>
                      <a:pPr algn="l"/>
                      <a:r>
                        <a:rPr sz="1100" b="0">
                          <a:solidFill>
                            <a:srgbClr val="FFFFFF"/>
                          </a:solidFill>
                          <a:latin typeface="Calibri"/>
                        </a:rPr>
                        <a:t>Burns et al. (2016) — Borg</a:t>
                      </a:r>
                    </a:p>
                  </a:txBody>
                  <a:tcPr marL="76200" marR="76200" marT="38100" marB="38100">
                    <a:solidFill>
                      <a:srgbClr val="2A2A3E"/>
                    </a:solidFill>
                  </a:tcPr>
                </a:tc>
              </a:tr>
              <a:tr h="533400">
                <a:tc>
                  <a:txBody>
                    <a:bodyPr wrap="square"/>
                    <a:lstStyle/>
                    <a:p>
                      <a:pPr algn="l"/>
                      <a:r>
                        <a:rPr sz="1100" b="0">
                          <a:solidFill>
                            <a:srgbClr val="FFFFFF"/>
                          </a:solidFill>
                          <a:latin typeface="Calibri"/>
                        </a:rPr>
                        <a:t>Memory Pressure</a:t>
                      </a:r>
                    </a:p>
                  </a:txBody>
                  <a:tcPr marL="76200" marR="76200" marT="38100" marB="38100">
                    <a:solidFill>
                      <a:srgbClr val="2A2A3E"/>
                    </a:solidFill>
                  </a:tcPr>
                </a:tc>
                <a:tc>
                  <a:txBody>
                    <a:bodyPr wrap="square"/>
                    <a:lstStyle/>
                    <a:p>
                      <a:pPr algn="l"/>
                      <a:r>
                        <a:rPr sz="1100" b="0">
                          <a:solidFill>
                            <a:srgbClr val="FFFFFF"/>
                          </a:solidFill>
                          <a:latin typeface="Calibri"/>
                        </a:rPr>
                        <a:t>Working set bytes, OOM events</a:t>
                      </a:r>
                    </a:p>
                  </a:txBody>
                  <a:tcPr marL="76200" marR="76200" marT="38100" marB="38100">
                    <a:solidFill>
                      <a:srgbClr val="2A2A3E"/>
                    </a:solidFill>
                  </a:tcPr>
                </a:tc>
                <a:tc>
                  <a:txBody>
                    <a:bodyPr wrap="square"/>
                    <a:lstStyle/>
                    <a:p>
                      <a:pPr algn="l"/>
                      <a:r>
                        <a:rPr sz="1100" b="0">
                          <a:solidFill>
                            <a:srgbClr val="FFFFFF"/>
                          </a:solidFill>
                          <a:latin typeface="Calibri"/>
                        </a:rPr>
                        <a:t>Shared memory → evictions when overcommitted</a:t>
                      </a:r>
                    </a:p>
                  </a:txBody>
                  <a:tcPr marL="76200" marR="76200" marT="38100" marB="38100">
                    <a:solidFill>
                      <a:srgbClr val="2A2A3E"/>
                    </a:solidFill>
                  </a:tcPr>
                </a:tc>
                <a:tc>
                  <a:txBody>
                    <a:bodyPr wrap="square"/>
                    <a:lstStyle/>
                    <a:p>
                      <a:pPr algn="l"/>
                      <a:r>
                        <a:rPr sz="1100" b="0">
                          <a:solidFill>
                            <a:srgbClr val="FFFFFF"/>
                          </a:solidFill>
                          <a:latin typeface="Calibri"/>
                        </a:rPr>
                        <a:t>Verma et al. (2015) — Borg</a:t>
                      </a:r>
                    </a:p>
                  </a:txBody>
                  <a:tcPr marL="76200" marR="76200" marT="38100" marB="38100">
                    <a:solidFill>
                      <a:srgbClr val="2A2A3E"/>
                    </a:solidFill>
                  </a:tcPr>
                </a:tc>
              </a:tr>
              <a:tr h="533400">
                <a:tc>
                  <a:txBody>
                    <a:bodyPr wrap="square"/>
                    <a:lstStyle/>
                    <a:p>
                      <a:pPr algn="l"/>
                      <a:r>
                        <a:rPr sz="1100" b="0">
                          <a:solidFill>
                            <a:srgbClr val="FFFFFF"/>
                          </a:solidFill>
                          <a:latin typeface="Calibri"/>
                        </a:rPr>
                        <a:t>Inter-Service Latency</a:t>
                      </a:r>
                    </a:p>
                  </a:txBody>
                  <a:tcPr marL="76200" marR="76200" marT="38100" marB="38100">
                    <a:solidFill>
                      <a:srgbClr val="2A2A3E"/>
                    </a:solidFill>
                  </a:tcPr>
                </a:tc>
                <a:tc>
                  <a:txBody>
                    <a:bodyPr wrap="square"/>
                    <a:lstStyle/>
                    <a:p>
                      <a:pPr algn="l"/>
                      <a:r>
                        <a:rPr sz="1100" b="0">
                          <a:solidFill>
                            <a:srgbClr val="FFFFFF"/>
                          </a:solidFill>
                          <a:latin typeface="Calibri"/>
                        </a:rPr>
                        <a:t>HTTP response time (ms) per route</a:t>
                      </a:r>
                    </a:p>
                  </a:txBody>
                  <a:tcPr marL="76200" marR="76200" marT="38100" marB="38100">
                    <a:solidFill>
                      <a:srgbClr val="2A2A3E"/>
                    </a:solidFill>
                  </a:tcPr>
                </a:tc>
                <a:tc>
                  <a:txBody>
                    <a:bodyPr wrap="square"/>
                    <a:lstStyle/>
                    <a:p>
                      <a:pPr algn="l"/>
                      <a:r>
                        <a:rPr sz="1100" b="0">
                          <a:solidFill>
                            <a:srgbClr val="FFFFFF"/>
                          </a:solidFill>
                          <a:latin typeface="Calibri"/>
                        </a:rPr>
                        <a:t>Network stack contention on shared node</a:t>
                      </a:r>
                    </a:p>
                  </a:txBody>
                  <a:tcPr marL="76200" marR="76200" marT="38100" marB="38100">
                    <a:solidFill>
                      <a:srgbClr val="2A2A3E"/>
                    </a:solidFill>
                  </a:tcPr>
                </a:tc>
                <a:tc>
                  <a:txBody>
                    <a:bodyPr wrap="square"/>
                    <a:lstStyle/>
                    <a:p>
                      <a:pPr algn="l"/>
                      <a:r>
                        <a:rPr sz="1100" b="0">
                          <a:solidFill>
                            <a:srgbClr val="FFFFFF"/>
                          </a:solidFill>
                          <a:latin typeface="Calibri"/>
                        </a:rPr>
                        <a:t>Gan et al. (2019) — DeathStarBench</a:t>
                      </a:r>
                    </a:p>
                  </a:txBody>
                  <a:tcPr marL="76200" marR="76200" marT="38100" marB="38100">
                    <a:solidFill>
                      <a:srgbClr val="2A2A3E"/>
                    </a:solidFill>
                  </a:tcPr>
                </a:tc>
              </a:tr>
              <a:tr h="533400">
                <a:tc>
                  <a:txBody>
                    <a:bodyPr wrap="square"/>
                    <a:lstStyle/>
                    <a:p>
                      <a:pPr algn="l"/>
                      <a:r>
                        <a:rPr sz="1100" b="0">
                          <a:solidFill>
                            <a:srgbClr val="FFFFFF"/>
                          </a:solidFill>
                          <a:latin typeface="Calibri"/>
                        </a:rPr>
                        <a:t>Disk I/O Throughput</a:t>
                      </a:r>
                    </a:p>
                  </a:txBody>
                  <a:tcPr marL="76200" marR="76200" marT="38100" marB="38100">
                    <a:solidFill>
                      <a:srgbClr val="2A2A3E"/>
                    </a:solidFill>
                  </a:tcPr>
                </a:tc>
                <a:tc>
                  <a:txBody>
                    <a:bodyPr wrap="square"/>
                    <a:lstStyle/>
                    <a:p>
                      <a:pPr algn="l"/>
                      <a:r>
                        <a:rPr sz="1100" b="0">
                          <a:solidFill>
                            <a:srgbClr val="FFFFFF"/>
                          </a:solidFill>
                          <a:latin typeface="Calibri"/>
                        </a:rPr>
                        <a:t>Sequential R/W bytes/s, ops/s</a:t>
                      </a:r>
                    </a:p>
                  </a:txBody>
                  <a:tcPr marL="76200" marR="76200" marT="38100" marB="38100">
                    <a:solidFill>
                      <a:srgbClr val="2A2A3E"/>
                    </a:solidFill>
                  </a:tcPr>
                </a:tc>
                <a:tc>
                  <a:txBody>
                    <a:bodyPr wrap="square"/>
                    <a:lstStyle/>
                    <a:p>
                      <a:pPr algn="l"/>
                      <a:r>
                        <a:rPr sz="1100" b="0">
                          <a:solidFill>
                            <a:srgbClr val="FFFFFF"/>
                          </a:solidFill>
                          <a:latin typeface="Calibri"/>
                        </a:rPr>
                        <a:t>Shared disk bandwidth → degraded throughput</a:t>
                      </a:r>
                    </a:p>
                  </a:txBody>
                  <a:tcPr marL="76200" marR="76200" marT="38100" marB="38100">
                    <a:solidFill>
                      <a:srgbClr val="2A2A3E"/>
                    </a:solidFill>
                  </a:tcPr>
                </a:tc>
                <a:tc>
                  <a:txBody>
                    <a:bodyPr wrap="square"/>
                    <a:lstStyle/>
                    <a:p>
                      <a:pPr algn="l"/>
                      <a:r>
                        <a:rPr sz="1100" b="0">
                          <a:solidFill>
                            <a:srgbClr val="FFFFFF"/>
                          </a:solidFill>
                          <a:latin typeface="Calibri"/>
                        </a:rPr>
                        <a:t>Dean &amp; Barroso (2013) — Tail at Scale</a:t>
                      </a:r>
                    </a:p>
                  </a:txBody>
                  <a:tcPr marL="76200" marR="76200" marT="38100" marB="38100">
                    <a:solidFill>
                      <a:srgbClr val="2A2A3E"/>
                    </a:solidFill>
                  </a:tcPr>
                </a:tc>
              </a:tr>
              <a:tr h="533400">
                <a:tc>
                  <a:txBody>
                    <a:bodyPr wrap="square"/>
                    <a:lstStyle/>
                    <a:p>
                      <a:pPr algn="l"/>
                      <a:r>
                        <a:rPr sz="1100" b="0">
                          <a:solidFill>
                            <a:srgbClr val="FFFFFF"/>
                          </a:solidFill>
                          <a:latin typeface="Calibri"/>
                        </a:rPr>
                        <a:t>Recovery Time</a:t>
                      </a:r>
                    </a:p>
                  </a:txBody>
                  <a:tcPr marL="76200" marR="76200" marT="38100" marB="38100">
                    <a:solidFill>
                      <a:srgbClr val="2A2A3E"/>
                    </a:solidFill>
                  </a:tcPr>
                </a:tc>
                <a:tc>
                  <a:txBody>
                    <a:bodyPr wrap="square"/>
                    <a:lstStyle/>
                    <a:p>
                      <a:pPr algn="l"/>
                      <a:r>
                        <a:rPr sz="1100" b="0">
                          <a:solidFill>
                            <a:srgbClr val="FFFFFF"/>
                          </a:solidFill>
                          <a:latin typeface="Calibri"/>
                        </a:rPr>
                        <a:t>Deletion → scheduled → ready (ms)</a:t>
                      </a:r>
                    </a:p>
                  </a:txBody>
                  <a:tcPr marL="76200" marR="76200" marT="38100" marB="38100">
                    <a:solidFill>
                      <a:srgbClr val="2A2A3E"/>
                    </a:solidFill>
                  </a:tcPr>
                </a:tc>
                <a:tc>
                  <a:txBody>
                    <a:bodyPr wrap="square"/>
                    <a:lstStyle/>
                    <a:p>
                      <a:pPr algn="l"/>
                      <a:r>
                        <a:rPr sz="1100" b="0">
                          <a:solidFill>
                            <a:srgbClr val="FFFFFF"/>
                          </a:solidFill>
                          <a:latin typeface="Calibri"/>
                        </a:rPr>
                        <a:t>Scheduler contention delays pod placement</a:t>
                      </a:r>
                    </a:p>
                  </a:txBody>
                  <a:tcPr marL="76200" marR="76200" marT="38100" marB="38100">
                    <a:solidFill>
                      <a:srgbClr val="2A2A3E"/>
                    </a:solidFill>
                  </a:tcPr>
                </a:tc>
                <a:tc>
                  <a:txBody>
                    <a:bodyPr wrap="square"/>
                    <a:lstStyle/>
                    <a:p>
                      <a:pPr algn="l"/>
                      <a:r>
                        <a:rPr sz="1100" b="0">
                          <a:solidFill>
                            <a:srgbClr val="FFFFFF"/>
                          </a:solidFill>
                          <a:latin typeface="Calibri"/>
                        </a:rPr>
                        <a:t>Hightower et al. (2017) — K8s Up &amp; Running</a:t>
                      </a:r>
                    </a:p>
                  </a:txBody>
                  <a:tcPr marL="76200" marR="76200" marT="38100" marB="38100">
                    <a:solidFill>
                      <a:srgbClr val="2A2A3E"/>
                    </a:solidFill>
                  </a:tcPr>
                </a:tc>
              </a:tr>
            </a:tbl>
          </a:graphicData>
        </a:graphic>
      </p:graphicFrame>
      <p:sp>
        <p:nvSpPr>
          <p:cNvPr id="6" name="Rounded Rectangle 5"/>
          <p:cNvSpPr/>
          <p:nvPr/>
        </p:nvSpPr>
        <p:spPr>
          <a:xfrm>
            <a:off x="457200" y="5120640"/>
            <a:ext cx="11247120" cy="1188720"/>
          </a:xfrm>
          <a:prstGeom prst="roundRect">
            <a:avLst/>
          </a:prstGeom>
          <a:solidFill>
            <a:srgbClr val="121222"/>
          </a:solidFill>
          <a:ln w="254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166360"/>
            <a:ext cx="10881360" cy="274320"/>
          </a:xfrm>
          <a:prstGeom prst="rect">
            <a:avLst/>
          </a:prstGeom>
          <a:noFill/>
        </p:spPr>
        <p:txBody>
          <a:bodyPr wrap="square">
            <a:spAutoFit/>
          </a:bodyPr>
          <a:lstStyle/>
          <a:p>
            <a:pPr algn="l">
              <a:defRPr sz="1600" b="1">
                <a:solidFill>
                  <a:srgbClr val="0096D6"/>
                </a:solidFill>
                <a:latin typeface="Calibri"/>
              </a:defRPr>
            </a:pPr>
            <a:r>
              <a:t>Key Insight</a:t>
            </a:r>
          </a:p>
        </p:txBody>
      </p:sp>
      <p:sp>
        <p:nvSpPr>
          <p:cNvPr id="8" name="TextBox 7"/>
          <p:cNvSpPr txBox="1"/>
          <p:nvPr/>
        </p:nvSpPr>
        <p:spPr>
          <a:xfrm>
            <a:off x="640080" y="5486400"/>
            <a:ext cx="10881360" cy="731520"/>
          </a:xfrm>
          <a:prstGeom prst="rect">
            <a:avLst/>
          </a:prstGeom>
          <a:noFill/>
        </p:spPr>
        <p:txBody>
          <a:bodyPr wrap="square">
            <a:spAutoFit/>
          </a:bodyPr>
          <a:lstStyle/>
          <a:p>
            <a:pPr algn="l">
              <a:defRPr sz="1300" b="0">
                <a:solidFill>
                  <a:srgbClr val="BDBDBD"/>
                </a:solidFill>
                <a:latin typeface="Calibri"/>
              </a:defRPr>
            </a:pPr>
            <a:r>
              <a:t>Colocating all pods on a single node maximizes contention across all five categories simultaneously. Spreading pods across nodes minimizes per-node contention but may introduce cross-node network latency. These trade-offs are what ChaosProbe quantifies.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Probe Design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11247120" cy="73152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34440"/>
            <a:ext cx="10881360" cy="640080"/>
          </a:xfrm>
          <a:prstGeom prst="rect">
            <a:avLst/>
          </a:prstGeom>
          <a:noFill/>
        </p:spPr>
        <p:txBody>
          <a:bodyPr wrap="square">
            <a:spAutoFit/>
          </a:bodyPr>
          <a:lstStyle/>
          <a:p>
            <a:pPr algn="l">
              <a:defRPr sz="1300" b="0">
                <a:solidFill>
                  <a:srgbClr val="BDBDBD"/>
                </a:solidFill>
                <a:latin typeface="Calibri"/>
              </a:defRPr>
            </a:pPr>
            <a:r>
              <a:t>A probe is a lightweight health check executed inside the Kubernetes cluster during chaos. Probes validate whether a service remains reachable and responsive under fault injection. System health is measured by how many probes pass — each failure indicates degraded resilience.</a:t>
            </a:r>
          </a:p>
        </p:txBody>
      </p:sp>
      <p:graphicFrame>
        <p:nvGraphicFramePr>
          <p:cNvPr id="6" name="Table 5"/>
          <p:cNvGraphicFramePr>
            <a:graphicFrameLocks noGrp="1"/>
          </p:cNvGraphicFramePr>
          <p:nvPr/>
        </p:nvGraphicFramePr>
        <p:xfrm>
          <a:off x="274320" y="2194560"/>
          <a:ext cx="11612880" cy="2560313"/>
        </p:xfrm>
        <a:graphic>
          <a:graphicData uri="http://schemas.openxmlformats.org/drawingml/2006/table">
            <a:tbl>
              <a:tblPr firstRow="1" bandRow="1">
                <a:tableStyleId>{5C22544A-7EE6-4342-B048-85BDC9FD1C3A}</a:tableStyleId>
              </a:tblPr>
              <a:tblGrid>
                <a:gridCol w="2322576"/>
                <a:gridCol w="2322576"/>
                <a:gridCol w="2322576"/>
                <a:gridCol w="2322576"/>
                <a:gridCol w="2322576"/>
              </a:tblGrid>
              <a:tr h="365759">
                <a:tc>
                  <a:txBody>
                    <a:bodyPr wrap="square"/>
                    <a:lstStyle/>
                    <a:p>
                      <a:pPr algn="l"/>
                      <a:r>
                        <a:rPr sz="1100" b="1">
                          <a:solidFill>
                            <a:srgbClr val="FFFFFF"/>
                          </a:solidFill>
                          <a:latin typeface="Calibri"/>
                        </a:rPr>
                        <a:t>Probe Name</a:t>
                      </a:r>
                    </a:p>
                  </a:txBody>
                  <a:tcPr marL="76200" marR="76200" marT="38100" marB="38100">
                    <a:solidFill>
                      <a:srgbClr val="0096D6"/>
                    </a:solidFill>
                  </a:tcPr>
                </a:tc>
                <a:tc>
                  <a:txBody>
                    <a:bodyPr wrap="square"/>
                    <a:lstStyle/>
                    <a:p>
                      <a:pPr algn="l"/>
                      <a:r>
                        <a:rPr sz="1100" b="1">
                          <a:solidFill>
                            <a:srgbClr val="FFFFFF"/>
                          </a:solidFill>
                          <a:latin typeface="Calibri"/>
                        </a:rPr>
                        <a:t>Mode</a:t>
                      </a:r>
                    </a:p>
                  </a:txBody>
                  <a:tcPr marL="76200" marR="76200" marT="38100" marB="38100">
                    <a:solidFill>
                      <a:srgbClr val="0096D6"/>
                    </a:solidFill>
                  </a:tcPr>
                </a:tc>
                <a:tc>
                  <a:txBody>
                    <a:bodyPr wrap="square"/>
                    <a:lstStyle/>
                    <a:p>
                      <a:pPr algn="l"/>
                      <a:r>
                        <a:rPr sz="1100" b="1">
                          <a:solidFill>
                            <a:srgbClr val="FFFFFF"/>
                          </a:solidFill>
                          <a:latin typeface="Calibri"/>
                        </a:rPr>
                        <a:t>Endpoint</a:t>
                      </a:r>
                    </a:p>
                  </a:txBody>
                  <a:tcPr marL="76200" marR="76200" marT="38100" marB="38100">
                    <a:solidFill>
                      <a:srgbClr val="0096D6"/>
                    </a:solidFill>
                  </a:tcPr>
                </a:tc>
                <a:tc>
                  <a:txBody>
                    <a:bodyPr wrap="square"/>
                    <a:lstStyle/>
                    <a:p>
                      <a:pPr algn="l"/>
                      <a:r>
                        <a:rPr sz="1100" b="1">
                          <a:solidFill>
                            <a:srgbClr val="FFFFFF"/>
                          </a:solidFill>
                          <a:latin typeface="Calibri"/>
                        </a:rPr>
                        <a:t>Timeout</a:t>
                      </a:r>
                    </a:p>
                  </a:txBody>
                  <a:tcPr marL="76200" marR="76200" marT="38100" marB="38100">
                    <a:solidFill>
                      <a:srgbClr val="0096D6"/>
                    </a:solidFill>
                  </a:tcPr>
                </a:tc>
                <a:tc>
                  <a:txBody>
                    <a:bodyPr wrap="square"/>
                    <a:lstStyle/>
                    <a:p>
                      <a:pPr algn="l"/>
                      <a:r>
                        <a:rPr sz="1100" b="1">
                          <a:solidFill>
                            <a:srgbClr val="FFFFFF"/>
                          </a:solidFill>
                          <a:latin typeface="Calibri"/>
                        </a:rPr>
                        <a:t>Retry</a:t>
                      </a:r>
                    </a:p>
                  </a:txBody>
                  <a:tcPr marL="76200" marR="76200" marT="38100" marB="38100">
                    <a:solidFill>
                      <a:srgbClr val="0096D6"/>
                    </a:solidFill>
                  </a:tcPr>
                </a:tc>
              </a:tr>
              <a:tr h="365759">
                <a:tc>
                  <a:txBody>
                    <a:bodyPr wrap="square"/>
                    <a:lstStyle/>
                    <a:p>
                      <a:pPr algn="l"/>
                      <a:r>
                        <a:rPr sz="1100" b="0">
                          <a:solidFill>
                            <a:srgbClr val="FFFFFF"/>
                          </a:solidFill>
                          <a:latin typeface="Calibri"/>
                        </a:rPr>
                        <a:t>frontend-product-strict</a:t>
                      </a:r>
                    </a:p>
                  </a:txBody>
                  <a:tcPr marL="76200" marR="76200" marT="38100" marB="38100">
                    <a:solidFill>
                      <a:srgbClr val="2A2A3E"/>
                    </a:solidFill>
                  </a:tcPr>
                </a:tc>
                <a:tc>
                  <a:txBody>
                    <a:bodyPr wrap="square"/>
                    <a:lstStyle/>
                    <a:p>
                      <a:pPr algn="l"/>
                      <a:r>
                        <a:rPr sz="1100" b="0">
                          <a:solidFill>
                            <a:srgbClr val="FFFFFF"/>
                          </a:solidFill>
                          <a:latin typeface="Calibri"/>
                        </a:rPr>
                        <a:t>Continuous (2s)</a:t>
                      </a:r>
                    </a:p>
                  </a:txBody>
                  <a:tcPr marL="76200" marR="76200" marT="38100" marB="38100">
                    <a:solidFill>
                      <a:srgbClr val="2A2A3E"/>
                    </a:solidFill>
                  </a:tcPr>
                </a:tc>
                <a:tc>
                  <a:txBody>
                    <a:bodyPr wrap="square"/>
                    <a:lstStyle/>
                    <a:p>
                      <a:pPr algn="l"/>
                      <a:r>
                        <a:rPr sz="1100" b="0">
                          <a:solidFill>
                            <a:srgbClr val="FFFFFF"/>
                          </a:solidFill>
                          <a:latin typeface="Calibri"/>
                        </a:rPr>
                        <a:t>/product/OLJCESPC7Z</a:t>
                      </a:r>
                    </a:p>
                  </a:txBody>
                  <a:tcPr marL="76200" marR="76200" marT="38100" marB="38100">
                    <a:solidFill>
                      <a:srgbClr val="2A2A3E"/>
                    </a:solidFill>
                  </a:tcPr>
                </a:tc>
                <a:tc>
                  <a:txBody>
                    <a:bodyPr wrap="square"/>
                    <a:lstStyle/>
                    <a:p>
                      <a:pPr algn="l"/>
                      <a:r>
                        <a:rPr sz="1100" b="0">
                          <a:solidFill>
                            <a:srgbClr val="FFFFFF"/>
                          </a:solidFill>
                          <a:latin typeface="Calibri"/>
                        </a:rPr>
                        <a:t>3s</a:t>
                      </a:r>
                    </a:p>
                  </a:txBody>
                  <a:tcPr marL="76200" marR="76200" marT="38100" marB="38100">
                    <a:solidFill>
                      <a:srgbClr val="2A2A3E"/>
                    </a:solidFill>
                  </a:tcPr>
                </a:tc>
                <a:tc>
                  <a:txBody>
                    <a:bodyPr wrap="square"/>
                    <a:lstStyle/>
                    <a:p>
                      <a:pPr algn="l"/>
                      <a:r>
                        <a:rPr sz="1100" b="0">
                          <a:solidFill>
                            <a:srgbClr val="FFFFFF"/>
                          </a:solidFill>
                          <a:latin typeface="Calibri"/>
                        </a:rPr>
                        <a:t>1</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frontend-homepage-strict</a:t>
                      </a:r>
                    </a:p>
                  </a:txBody>
                  <a:tcPr marL="76200" marR="76200" marT="38100" marB="38100">
                    <a:solidFill>
                      <a:srgbClr val="2A2A3E"/>
                    </a:solidFill>
                  </a:tcPr>
                </a:tc>
                <a:tc>
                  <a:txBody>
                    <a:bodyPr wrap="square"/>
                    <a:lstStyle/>
                    <a:p>
                      <a:pPr algn="l"/>
                      <a:r>
                        <a:rPr sz="1100" b="0">
                          <a:solidFill>
                            <a:srgbClr val="FFFFFF"/>
                          </a:solidFill>
                          <a:latin typeface="Calibri"/>
                        </a:rPr>
                        <a:t>Continuous (2s)</a:t>
                      </a:r>
                    </a:p>
                  </a:txBody>
                  <a:tcPr marL="76200" marR="76200" marT="38100" marB="38100">
                    <a:solidFill>
                      <a:srgbClr val="2A2A3E"/>
                    </a:solidFill>
                  </a:tcPr>
                </a:tc>
                <a:tc>
                  <a:txBody>
                    <a:bodyPr wrap="square"/>
                    <a:lstStyle/>
                    <a:p>
                      <a:pPr algn="l"/>
                      <a:r>
                        <a:rPr sz="1100" b="0">
                          <a:solidFill>
                            <a:srgbClr val="FFFFFF"/>
                          </a:solidFill>
                          <a:latin typeface="Calibri"/>
                        </a:rPr>
                        <a:t>/</a:t>
                      </a:r>
                    </a:p>
                  </a:txBody>
                  <a:tcPr marL="76200" marR="76200" marT="38100" marB="38100">
                    <a:solidFill>
                      <a:srgbClr val="2A2A3E"/>
                    </a:solidFill>
                  </a:tcPr>
                </a:tc>
                <a:tc>
                  <a:txBody>
                    <a:bodyPr wrap="square"/>
                    <a:lstStyle/>
                    <a:p>
                      <a:pPr algn="l"/>
                      <a:r>
                        <a:rPr sz="1100" b="0">
                          <a:solidFill>
                            <a:srgbClr val="FFFFFF"/>
                          </a:solidFill>
                          <a:latin typeface="Calibri"/>
                        </a:rPr>
                        <a:t>3s</a:t>
                      </a:r>
                    </a:p>
                  </a:txBody>
                  <a:tcPr marL="76200" marR="76200" marT="38100" marB="38100">
                    <a:solidFill>
                      <a:srgbClr val="2A2A3E"/>
                    </a:solidFill>
                  </a:tcPr>
                </a:tc>
                <a:tc>
                  <a:txBody>
                    <a:bodyPr wrap="square"/>
                    <a:lstStyle/>
                    <a:p>
                      <a:pPr algn="l"/>
                      <a:r>
                        <a:rPr sz="1100" b="0">
                          <a:solidFill>
                            <a:srgbClr val="FFFFFF"/>
                          </a:solidFill>
                          <a:latin typeface="Calibri"/>
                        </a:rPr>
                        <a:t>1</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frontend-homepage-moderate</a:t>
                      </a:r>
                    </a:p>
                  </a:txBody>
                  <a:tcPr marL="76200" marR="76200" marT="38100" marB="38100">
                    <a:solidFill>
                      <a:srgbClr val="2A2A3E"/>
                    </a:solidFill>
                  </a:tcPr>
                </a:tc>
                <a:tc>
                  <a:txBody>
                    <a:bodyPr wrap="square"/>
                    <a:lstStyle/>
                    <a:p>
                      <a:pPr algn="l"/>
                      <a:r>
                        <a:rPr sz="1100" b="0">
                          <a:solidFill>
                            <a:srgbClr val="FFFFFF"/>
                          </a:solidFill>
                          <a:latin typeface="Calibri"/>
                        </a:rPr>
                        <a:t>Continuous (3s)</a:t>
                      </a:r>
                    </a:p>
                  </a:txBody>
                  <a:tcPr marL="76200" marR="76200" marT="38100" marB="38100">
                    <a:solidFill>
                      <a:srgbClr val="2A2A3E"/>
                    </a:solidFill>
                  </a:tcPr>
                </a:tc>
                <a:tc>
                  <a:txBody>
                    <a:bodyPr wrap="square"/>
                    <a:lstStyle/>
                    <a:p>
                      <a:pPr algn="l"/>
                      <a:r>
                        <a:rPr sz="1100" b="0">
                          <a:solidFill>
                            <a:srgbClr val="FFFFFF"/>
                          </a:solidFill>
                          <a:latin typeface="Calibri"/>
                        </a:rPr>
                        <a:t>/</a:t>
                      </a:r>
                    </a:p>
                  </a:txBody>
                  <a:tcPr marL="76200" marR="76200" marT="38100" marB="38100">
                    <a:solidFill>
                      <a:srgbClr val="2A2A3E"/>
                    </a:solidFill>
                  </a:tcPr>
                </a:tc>
                <a:tc>
                  <a:txBody>
                    <a:bodyPr wrap="square"/>
                    <a:lstStyle/>
                    <a:p>
                      <a:pPr algn="l"/>
                      <a:r>
                        <a:rPr sz="1100" b="0">
                          <a:solidFill>
                            <a:srgbClr val="FFFFFF"/>
                          </a:solidFill>
                          <a:latin typeface="Calibri"/>
                        </a:rPr>
                        <a:t>3s</a:t>
                      </a:r>
                    </a:p>
                  </a:txBody>
                  <a:tcPr marL="76200" marR="76200" marT="38100" marB="38100">
                    <a:solidFill>
                      <a:srgbClr val="2A2A3E"/>
                    </a:solidFill>
                  </a:tcPr>
                </a:tc>
                <a:tc>
                  <a:txBody>
                    <a:bodyPr wrap="square"/>
                    <a:lstStyle/>
                    <a:p>
                      <a:pPr algn="l"/>
                      <a:r>
                        <a:rPr sz="1100" b="0">
                          <a:solidFill>
                            <a:srgbClr val="FFFFFF"/>
                          </a:solidFill>
                          <a:latin typeface="Calibri"/>
                        </a:rPr>
                        <a:t>2</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frontend-cart</a:t>
                      </a:r>
                    </a:p>
                  </a:txBody>
                  <a:tcPr marL="76200" marR="76200" marT="38100" marB="38100">
                    <a:solidFill>
                      <a:srgbClr val="2A2A3E"/>
                    </a:solidFill>
                  </a:tcPr>
                </a:tc>
                <a:tc>
                  <a:txBody>
                    <a:bodyPr wrap="square"/>
                    <a:lstStyle/>
                    <a:p>
                      <a:pPr algn="l"/>
                      <a:r>
                        <a:rPr sz="1100" b="0">
                          <a:solidFill>
                            <a:srgbClr val="FFFFFF"/>
                          </a:solidFill>
                          <a:latin typeface="Calibri"/>
                        </a:rPr>
                        <a:t>Continuous (4s)</a:t>
                      </a:r>
                    </a:p>
                  </a:txBody>
                  <a:tcPr marL="76200" marR="76200" marT="38100" marB="38100">
                    <a:solidFill>
                      <a:srgbClr val="2A2A3E"/>
                    </a:solidFill>
                  </a:tcPr>
                </a:tc>
                <a:tc>
                  <a:txBody>
                    <a:bodyPr wrap="square"/>
                    <a:lstStyle/>
                    <a:p>
                      <a:pPr algn="l"/>
                      <a:r>
                        <a:rPr sz="1100" b="0">
                          <a:solidFill>
                            <a:srgbClr val="FFFFFF"/>
                          </a:solidFill>
                          <a:latin typeface="Calibri"/>
                        </a:rPr>
                        <a:t>/cart</a:t>
                      </a:r>
                    </a:p>
                  </a:txBody>
                  <a:tcPr marL="76200" marR="76200" marT="38100" marB="38100">
                    <a:solidFill>
                      <a:srgbClr val="2A2A3E"/>
                    </a:solidFill>
                  </a:tcPr>
                </a:tc>
                <a:tc>
                  <a:txBody>
                    <a:bodyPr wrap="square"/>
                    <a:lstStyle/>
                    <a:p>
                      <a:pPr algn="l"/>
                      <a:r>
                        <a:rPr sz="1100" b="0">
                          <a:solidFill>
                            <a:srgbClr val="FFFFFF"/>
                          </a:solidFill>
                          <a:latin typeface="Calibri"/>
                        </a:rPr>
                        <a:t>5s</a:t>
                      </a:r>
                    </a:p>
                  </a:txBody>
                  <a:tcPr marL="76200" marR="76200" marT="38100" marB="38100">
                    <a:solidFill>
                      <a:srgbClr val="2A2A3E"/>
                    </a:solidFill>
                  </a:tcPr>
                </a:tc>
                <a:tc>
                  <a:txBody>
                    <a:bodyPr wrap="square"/>
                    <a:lstStyle/>
                    <a:p>
                      <a:pPr algn="l"/>
                      <a:r>
                        <a:rPr sz="1100" b="0">
                          <a:solidFill>
                            <a:srgbClr val="FFFFFF"/>
                          </a:solidFill>
                          <a:latin typeface="Calibri"/>
                        </a:rPr>
                        <a:t>2</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frontend-homepage-edge</a:t>
                      </a:r>
                    </a:p>
                  </a:txBody>
                  <a:tcPr marL="76200" marR="76200" marT="38100" marB="38100">
                    <a:solidFill>
                      <a:srgbClr val="2A2A3E"/>
                    </a:solidFill>
                  </a:tcPr>
                </a:tc>
                <a:tc>
                  <a:txBody>
                    <a:bodyPr wrap="square"/>
                    <a:lstStyle/>
                    <a:p>
                      <a:pPr algn="l"/>
                      <a:r>
                        <a:rPr sz="1100" b="0">
                          <a:solidFill>
                            <a:srgbClr val="FFFFFF"/>
                          </a:solidFill>
                          <a:latin typeface="Calibri"/>
                        </a:rPr>
                        <a:t>Edge (5s)</a:t>
                      </a:r>
                    </a:p>
                  </a:txBody>
                  <a:tcPr marL="76200" marR="76200" marT="38100" marB="38100">
                    <a:solidFill>
                      <a:srgbClr val="2A2A3E"/>
                    </a:solidFill>
                  </a:tcPr>
                </a:tc>
                <a:tc>
                  <a:txBody>
                    <a:bodyPr wrap="square"/>
                    <a:lstStyle/>
                    <a:p>
                      <a:pPr algn="l"/>
                      <a:r>
                        <a:rPr sz="1100" b="0">
                          <a:solidFill>
                            <a:srgbClr val="FFFFFF"/>
                          </a:solidFill>
                          <a:latin typeface="Calibri"/>
                        </a:rPr>
                        <a:t>/</a:t>
                      </a:r>
                    </a:p>
                  </a:txBody>
                  <a:tcPr marL="76200" marR="76200" marT="38100" marB="38100">
                    <a:solidFill>
                      <a:srgbClr val="2A2A3E"/>
                    </a:solidFill>
                  </a:tcPr>
                </a:tc>
                <a:tc>
                  <a:txBody>
                    <a:bodyPr wrap="square"/>
                    <a:lstStyle/>
                    <a:p>
                      <a:pPr algn="l"/>
                      <a:r>
                        <a:rPr sz="1100" b="0">
                          <a:solidFill>
                            <a:srgbClr val="FFFFFF"/>
                          </a:solidFill>
                          <a:latin typeface="Calibri"/>
                        </a:rPr>
                        <a:t>15s</a:t>
                      </a:r>
                    </a:p>
                  </a:txBody>
                  <a:tcPr marL="76200" marR="76200" marT="38100" marB="38100">
                    <a:solidFill>
                      <a:srgbClr val="2A2A3E"/>
                    </a:solidFill>
                  </a:tcPr>
                </a:tc>
                <a:tc>
                  <a:txBody>
                    <a:bodyPr wrap="square"/>
                    <a:lstStyle/>
                    <a:p>
                      <a:pPr algn="l"/>
                      <a:r>
                        <a:rPr sz="1100" b="0">
                          <a:solidFill>
                            <a:srgbClr val="FFFFFF"/>
                          </a:solidFill>
                          <a:latin typeface="Calibri"/>
                        </a:rPr>
                        <a:t>5</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frontend-healthz</a:t>
                      </a:r>
                    </a:p>
                  </a:txBody>
                  <a:tcPr marL="76200" marR="76200" marT="38100" marB="38100">
                    <a:solidFill>
                      <a:srgbClr val="2A2A3E"/>
                    </a:solidFill>
                  </a:tcPr>
                </a:tc>
                <a:tc>
                  <a:txBody>
                    <a:bodyPr wrap="square"/>
                    <a:lstStyle/>
                    <a:p>
                      <a:pPr algn="l"/>
                      <a:r>
                        <a:rPr sz="1100" b="0">
                          <a:solidFill>
                            <a:srgbClr val="FFFFFF"/>
                          </a:solidFill>
                          <a:latin typeface="Calibri"/>
                        </a:rPr>
                        <a:t>Continuous (4s)</a:t>
                      </a:r>
                    </a:p>
                  </a:txBody>
                  <a:tcPr marL="76200" marR="76200" marT="38100" marB="38100">
                    <a:solidFill>
                      <a:srgbClr val="2A2A3E"/>
                    </a:solidFill>
                  </a:tcPr>
                </a:tc>
                <a:tc>
                  <a:txBody>
                    <a:bodyPr wrap="square"/>
                    <a:lstStyle/>
                    <a:p>
                      <a:pPr algn="l"/>
                      <a:r>
                        <a:rPr sz="1100" b="0">
                          <a:solidFill>
                            <a:srgbClr val="FFFFFF"/>
                          </a:solidFill>
                          <a:latin typeface="Calibri"/>
                        </a:rPr>
                        <a:t>/_healthz</a:t>
                      </a:r>
                    </a:p>
                  </a:txBody>
                  <a:tcPr marL="76200" marR="76200" marT="38100" marB="38100">
                    <a:solidFill>
                      <a:srgbClr val="2A2A3E"/>
                    </a:solidFill>
                  </a:tcPr>
                </a:tc>
                <a:tc>
                  <a:txBody>
                    <a:bodyPr wrap="square"/>
                    <a:lstStyle/>
                    <a:p>
                      <a:pPr algn="l"/>
                      <a:r>
                        <a:rPr sz="1100" b="0">
                          <a:solidFill>
                            <a:srgbClr val="FFFFFF"/>
                          </a:solidFill>
                          <a:latin typeface="Calibri"/>
                        </a:rPr>
                        <a:t>5s</a:t>
                      </a:r>
                    </a:p>
                  </a:txBody>
                  <a:tcPr marL="76200" marR="76200" marT="38100" marB="38100">
                    <a:solidFill>
                      <a:srgbClr val="2A2A3E"/>
                    </a:solidFill>
                  </a:tcPr>
                </a:tc>
                <a:tc>
                  <a:txBody>
                    <a:bodyPr wrap="square"/>
                    <a:lstStyle/>
                    <a:p>
                      <a:pPr algn="l"/>
                      <a:r>
                        <a:rPr sz="1100" b="0">
                          <a:solidFill>
                            <a:srgbClr val="FFFFFF"/>
                          </a:solidFill>
                          <a:latin typeface="Calibri"/>
                        </a:rPr>
                        <a:t>2</a:t>
                      </a:r>
                    </a:p>
                  </a:txBody>
                  <a:tcPr marL="76200" marR="76200" marT="38100" marB="38100">
                    <a:solidFill>
                      <a:srgbClr val="2A2A3E"/>
                    </a:solidFill>
                  </a:tcPr>
                </a:tc>
              </a:tr>
            </a:tbl>
          </a:graphicData>
        </a:graphic>
      </p:graphicFrame>
      <p:sp>
        <p:nvSpPr>
          <p:cNvPr id="7" name="TextBox 6"/>
          <p:cNvSpPr txBox="1"/>
          <p:nvPr/>
        </p:nvSpPr>
        <p:spPr>
          <a:xfrm>
            <a:off x="457200" y="5029200"/>
            <a:ext cx="10972800" cy="274320"/>
          </a:xfrm>
          <a:prstGeom prst="rect">
            <a:avLst/>
          </a:prstGeom>
          <a:noFill/>
        </p:spPr>
        <p:txBody>
          <a:bodyPr wrap="square">
            <a:spAutoFit/>
          </a:bodyPr>
          <a:lstStyle/>
          <a:p>
            <a:pPr algn="l">
              <a:defRPr sz="1600" b="1">
                <a:solidFill>
                  <a:srgbClr val="0096D6"/>
                </a:solidFill>
                <a:latin typeface="Calibri"/>
              </a:defRPr>
            </a:pPr>
            <a:r>
              <a:t>Probe Sensitivity Layers</a:t>
            </a:r>
          </a:p>
        </p:txBody>
      </p:sp>
      <p:sp>
        <p:nvSpPr>
          <p:cNvPr id="8" name="TextBox 7"/>
          <p:cNvSpPr txBox="1"/>
          <p:nvPr/>
        </p:nvSpPr>
        <p:spPr>
          <a:xfrm>
            <a:off x="457200" y="5394960"/>
            <a:ext cx="5486400" cy="137160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Strict (2s, 1 retry): detects any disruption</a:t>
            </a:r>
          </a:p>
          <a:p>
            <a:pPr>
              <a:spcBef>
                <a:spcPts val="200"/>
              </a:spcBef>
              <a:spcAft>
                <a:spcPts val="200"/>
              </a:spcAft>
              <a:defRPr sz="1300">
                <a:solidFill>
                  <a:srgbClr val="BDBDBD"/>
                </a:solidFill>
                <a:latin typeface="Calibri"/>
              </a:defRPr>
            </a:pPr>
            <a:r>
              <a:t>Moderate (3–4s, 2 retries): strategy differences emerge</a:t>
            </a:r>
          </a:p>
        </p:txBody>
      </p:sp>
      <p:sp>
        <p:nvSpPr>
          <p:cNvPr id="9" name="TextBox 8"/>
          <p:cNvSpPr txBox="1"/>
          <p:nvPr/>
        </p:nvSpPr>
        <p:spPr>
          <a:xfrm>
            <a:off x="5943600" y="5394960"/>
            <a:ext cx="5486400" cy="137160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Edge (5s, 5 retries): validates eventual recovery</a:t>
            </a:r>
          </a:p>
          <a:p>
            <a:pPr>
              <a:spcBef>
                <a:spcPts val="200"/>
              </a:spcBef>
              <a:spcAft>
                <a:spcPts val="200"/>
              </a:spcAft>
              <a:defRPr sz="1300">
                <a:solidFill>
                  <a:srgbClr val="BDBDBD"/>
                </a:solidFill>
                <a:latin typeface="Calibri"/>
              </a:defRPr>
            </a:pPr>
            <a:r>
              <a:t>Control (healthz, cart): detects node-level contention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Resilience Scoring</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11247120" cy="640080"/>
          </a:xfrm>
          <a:prstGeom prst="roundRect">
            <a:avLst/>
          </a:prstGeom>
          <a:solidFill>
            <a:srgbClr val="121222"/>
          </a:solidFill>
          <a:ln w="254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34440"/>
            <a:ext cx="10881360" cy="274320"/>
          </a:xfrm>
          <a:prstGeom prst="rect">
            <a:avLst/>
          </a:prstGeom>
          <a:noFill/>
        </p:spPr>
        <p:txBody>
          <a:bodyPr wrap="square">
            <a:spAutoFit/>
          </a:bodyPr>
          <a:lstStyle/>
          <a:p>
            <a:pPr algn="l">
              <a:defRPr sz="1600" b="1">
                <a:solidFill>
                  <a:srgbClr val="0096D6"/>
                </a:solidFill>
                <a:latin typeface="Calibri"/>
              </a:defRPr>
            </a:pPr>
            <a:r>
              <a:t>Scoring Formula</a:t>
            </a:r>
          </a:p>
        </p:txBody>
      </p:sp>
      <p:sp>
        <p:nvSpPr>
          <p:cNvPr id="6" name="TextBox 5"/>
          <p:cNvSpPr txBox="1"/>
          <p:nvPr/>
        </p:nvSpPr>
        <p:spPr>
          <a:xfrm>
            <a:off x="640080" y="1554480"/>
            <a:ext cx="10881360" cy="228600"/>
          </a:xfrm>
          <a:prstGeom prst="rect">
            <a:avLst/>
          </a:prstGeom>
          <a:noFill/>
        </p:spPr>
        <p:txBody>
          <a:bodyPr wrap="square">
            <a:spAutoFit/>
          </a:bodyPr>
          <a:lstStyle/>
          <a:p>
            <a:pPr algn="l">
              <a:defRPr sz="1400" b="0">
                <a:solidFill>
                  <a:srgbClr val="FFFFFF"/>
                </a:solidFill>
                <a:latin typeface="Calibri"/>
              </a:defRPr>
            </a:pPr>
            <a:r>
              <a:t>score = Σ(probeSuccess%) / N   •   verdict = PASS if all probes pass, else FAIL</a:t>
            </a:r>
          </a:p>
        </p:txBody>
      </p:sp>
      <p:sp>
        <p:nvSpPr>
          <p:cNvPr id="7" name="TextBox 6"/>
          <p:cNvSpPr txBox="1"/>
          <p:nvPr/>
        </p:nvSpPr>
        <p:spPr>
          <a:xfrm>
            <a:off x="457200" y="2103120"/>
            <a:ext cx="10972800" cy="274320"/>
          </a:xfrm>
          <a:prstGeom prst="rect">
            <a:avLst/>
          </a:prstGeom>
          <a:noFill/>
        </p:spPr>
        <p:txBody>
          <a:bodyPr wrap="square">
            <a:spAutoFit/>
          </a:bodyPr>
          <a:lstStyle/>
          <a:p>
            <a:pPr algn="l">
              <a:defRPr sz="1600" b="1">
                <a:solidFill>
                  <a:srgbClr val="F39C12"/>
                </a:solidFill>
                <a:latin typeface="Calibri"/>
              </a:defRPr>
            </a:pPr>
            <a:r>
              <a:t>Score Interpretation</a:t>
            </a:r>
          </a:p>
        </p:txBody>
      </p:sp>
      <p:sp>
        <p:nvSpPr>
          <p:cNvPr id="8" name="Rounded Rectangle 7"/>
          <p:cNvSpPr/>
          <p:nvPr/>
        </p:nvSpPr>
        <p:spPr>
          <a:xfrm>
            <a:off x="640080" y="2514600"/>
            <a:ext cx="7315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0%</a:t>
            </a:r>
          </a:p>
        </p:txBody>
      </p:sp>
      <p:sp>
        <p:nvSpPr>
          <p:cNvPr id="9" name="TextBox 8"/>
          <p:cNvSpPr txBox="1"/>
          <p:nvPr/>
        </p:nvSpPr>
        <p:spPr>
          <a:xfrm>
            <a:off x="1554480" y="2514600"/>
            <a:ext cx="9601200" cy="320040"/>
          </a:xfrm>
          <a:prstGeom prst="rect">
            <a:avLst/>
          </a:prstGeom>
          <a:noFill/>
        </p:spPr>
        <p:txBody>
          <a:bodyPr wrap="square">
            <a:spAutoFit/>
          </a:bodyPr>
          <a:lstStyle/>
          <a:p>
            <a:pPr algn="l">
              <a:defRPr sz="1400" b="0">
                <a:solidFill>
                  <a:srgbClr val="BDBDBD"/>
                </a:solidFill>
                <a:latin typeface="Calibri"/>
              </a:defRPr>
            </a:pPr>
            <a:r>
              <a:t>All 6 probes failed — total disruption</a:t>
            </a:r>
          </a:p>
        </p:txBody>
      </p:sp>
      <p:sp>
        <p:nvSpPr>
          <p:cNvPr id="10" name="Rounded Rectangle 9"/>
          <p:cNvSpPr/>
          <p:nvPr/>
        </p:nvSpPr>
        <p:spPr>
          <a:xfrm>
            <a:off x="640080" y="2926080"/>
            <a:ext cx="7315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17%</a:t>
            </a:r>
          </a:p>
        </p:txBody>
      </p:sp>
      <p:sp>
        <p:nvSpPr>
          <p:cNvPr id="11" name="TextBox 10"/>
          <p:cNvSpPr txBox="1"/>
          <p:nvPr/>
        </p:nvSpPr>
        <p:spPr>
          <a:xfrm>
            <a:off x="1554480" y="2926080"/>
            <a:ext cx="9601200" cy="320040"/>
          </a:xfrm>
          <a:prstGeom prst="rect">
            <a:avLst/>
          </a:prstGeom>
          <a:noFill/>
        </p:spPr>
        <p:txBody>
          <a:bodyPr wrap="square">
            <a:spAutoFit/>
          </a:bodyPr>
          <a:lstStyle/>
          <a:p>
            <a:pPr algn="l">
              <a:defRPr sz="1400" b="0">
                <a:solidFill>
                  <a:srgbClr val="BDBDBD"/>
                </a:solidFill>
                <a:latin typeface="Calibri"/>
              </a:defRPr>
            </a:pPr>
            <a:r>
              <a:t>1 probe passed — node alive but service down</a:t>
            </a:r>
          </a:p>
        </p:txBody>
      </p:sp>
      <p:sp>
        <p:nvSpPr>
          <p:cNvPr id="12" name="Rounded Rectangle 11"/>
          <p:cNvSpPr/>
          <p:nvPr/>
        </p:nvSpPr>
        <p:spPr>
          <a:xfrm>
            <a:off x="640080" y="3337560"/>
            <a:ext cx="7315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33%</a:t>
            </a:r>
          </a:p>
        </p:txBody>
      </p:sp>
      <p:sp>
        <p:nvSpPr>
          <p:cNvPr id="13" name="TextBox 12"/>
          <p:cNvSpPr txBox="1"/>
          <p:nvPr/>
        </p:nvSpPr>
        <p:spPr>
          <a:xfrm>
            <a:off x="1554480" y="3337560"/>
            <a:ext cx="9601200" cy="320040"/>
          </a:xfrm>
          <a:prstGeom prst="rect">
            <a:avLst/>
          </a:prstGeom>
          <a:noFill/>
        </p:spPr>
        <p:txBody>
          <a:bodyPr wrap="square">
            <a:spAutoFit/>
          </a:bodyPr>
          <a:lstStyle/>
          <a:p>
            <a:pPr algn="l">
              <a:defRPr sz="1400" b="0">
                <a:solidFill>
                  <a:srgbClr val="BDBDBD"/>
                </a:solidFill>
                <a:latin typeface="Calibri"/>
              </a:defRPr>
            </a:pPr>
            <a:r>
              <a:t>2 probes — eventual recovery only</a:t>
            </a:r>
          </a:p>
        </p:txBody>
      </p:sp>
      <p:sp>
        <p:nvSpPr>
          <p:cNvPr id="14" name="Rounded Rectangle 13"/>
          <p:cNvSpPr/>
          <p:nvPr/>
        </p:nvSpPr>
        <p:spPr>
          <a:xfrm>
            <a:off x="640080" y="3749039"/>
            <a:ext cx="731520" cy="3200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50%</a:t>
            </a:r>
          </a:p>
        </p:txBody>
      </p:sp>
      <p:sp>
        <p:nvSpPr>
          <p:cNvPr id="15" name="TextBox 14"/>
          <p:cNvSpPr txBox="1"/>
          <p:nvPr/>
        </p:nvSpPr>
        <p:spPr>
          <a:xfrm>
            <a:off x="1554480" y="3749039"/>
            <a:ext cx="9601200" cy="320040"/>
          </a:xfrm>
          <a:prstGeom prst="rect">
            <a:avLst/>
          </a:prstGeom>
          <a:noFill/>
        </p:spPr>
        <p:txBody>
          <a:bodyPr wrap="square">
            <a:spAutoFit/>
          </a:bodyPr>
          <a:lstStyle/>
          <a:p>
            <a:pPr algn="l">
              <a:defRPr sz="1400" b="0">
                <a:solidFill>
                  <a:srgbClr val="BDBDBD"/>
                </a:solidFill>
                <a:latin typeface="Calibri"/>
              </a:defRPr>
            </a:pPr>
            <a:r>
              <a:t>3 probes — moderate resilience</a:t>
            </a:r>
          </a:p>
        </p:txBody>
      </p:sp>
      <p:sp>
        <p:nvSpPr>
          <p:cNvPr id="16" name="Rounded Rectangle 15"/>
          <p:cNvSpPr/>
          <p:nvPr/>
        </p:nvSpPr>
        <p:spPr>
          <a:xfrm>
            <a:off x="640080" y="4160520"/>
            <a:ext cx="731520" cy="3200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67%</a:t>
            </a:r>
          </a:p>
        </p:txBody>
      </p:sp>
      <p:sp>
        <p:nvSpPr>
          <p:cNvPr id="17" name="TextBox 16"/>
          <p:cNvSpPr txBox="1"/>
          <p:nvPr/>
        </p:nvSpPr>
        <p:spPr>
          <a:xfrm>
            <a:off x="1554480" y="4160520"/>
            <a:ext cx="9601200" cy="320040"/>
          </a:xfrm>
          <a:prstGeom prst="rect">
            <a:avLst/>
          </a:prstGeom>
          <a:noFill/>
        </p:spPr>
        <p:txBody>
          <a:bodyPr wrap="square">
            <a:spAutoFit/>
          </a:bodyPr>
          <a:lstStyle/>
          <a:p>
            <a:pPr algn="l">
              <a:defRPr sz="1400" b="0">
                <a:solidFill>
                  <a:srgbClr val="BDBDBD"/>
                </a:solidFill>
                <a:latin typeface="Calibri"/>
              </a:defRPr>
            </a:pPr>
            <a:r>
              <a:t>4 probes — good recovery</a:t>
            </a:r>
          </a:p>
        </p:txBody>
      </p:sp>
      <p:sp>
        <p:nvSpPr>
          <p:cNvPr id="18" name="Rounded Rectangle 17"/>
          <p:cNvSpPr/>
          <p:nvPr/>
        </p:nvSpPr>
        <p:spPr>
          <a:xfrm>
            <a:off x="640080" y="4572000"/>
            <a:ext cx="731520" cy="32004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83%</a:t>
            </a:r>
          </a:p>
        </p:txBody>
      </p:sp>
      <p:sp>
        <p:nvSpPr>
          <p:cNvPr id="19" name="TextBox 18"/>
          <p:cNvSpPr txBox="1"/>
          <p:nvPr/>
        </p:nvSpPr>
        <p:spPr>
          <a:xfrm>
            <a:off x="1554480" y="4572000"/>
            <a:ext cx="9601200" cy="320040"/>
          </a:xfrm>
          <a:prstGeom prst="rect">
            <a:avLst/>
          </a:prstGeom>
          <a:noFill/>
        </p:spPr>
        <p:txBody>
          <a:bodyPr wrap="square">
            <a:spAutoFit/>
          </a:bodyPr>
          <a:lstStyle/>
          <a:p>
            <a:pPr algn="l">
              <a:defRPr sz="1400" b="0">
                <a:solidFill>
                  <a:srgbClr val="BDBDBD"/>
                </a:solidFill>
                <a:latin typeface="Calibri"/>
              </a:defRPr>
            </a:pPr>
            <a:r>
              <a:t>5 probes — fast recovery</a:t>
            </a:r>
          </a:p>
        </p:txBody>
      </p:sp>
      <p:sp>
        <p:nvSpPr>
          <p:cNvPr id="20" name="Rounded Rectangle 19"/>
          <p:cNvSpPr/>
          <p:nvPr/>
        </p:nvSpPr>
        <p:spPr>
          <a:xfrm>
            <a:off x="640080" y="4983480"/>
            <a:ext cx="731520" cy="32004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100%</a:t>
            </a:r>
          </a:p>
        </p:txBody>
      </p:sp>
      <p:sp>
        <p:nvSpPr>
          <p:cNvPr id="21" name="TextBox 20"/>
          <p:cNvSpPr txBox="1"/>
          <p:nvPr/>
        </p:nvSpPr>
        <p:spPr>
          <a:xfrm>
            <a:off x="1554480" y="4983480"/>
            <a:ext cx="9601200" cy="320040"/>
          </a:xfrm>
          <a:prstGeom prst="rect">
            <a:avLst/>
          </a:prstGeom>
          <a:noFill/>
        </p:spPr>
        <p:txBody>
          <a:bodyPr wrap="square">
            <a:spAutoFit/>
          </a:bodyPr>
          <a:lstStyle/>
          <a:p>
            <a:pPr algn="l">
              <a:defRPr sz="1400" b="0">
                <a:solidFill>
                  <a:srgbClr val="BDBDBD"/>
                </a:solidFill>
                <a:latin typeface="Calibri"/>
              </a:defRPr>
            </a:pPr>
            <a:r>
              <a:t>All probes passed — no visible disruption</a:t>
            </a:r>
          </a:p>
        </p:txBody>
      </p:sp>
      <p:sp>
        <p:nvSpPr>
          <p:cNvPr id="22" name="Rounded Rectangle 21"/>
          <p:cNvSpPr/>
          <p:nvPr/>
        </p:nvSpPr>
        <p:spPr>
          <a:xfrm>
            <a:off x="457200" y="5486400"/>
            <a:ext cx="11247120" cy="10972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486400"/>
            <a:ext cx="10881360" cy="274320"/>
          </a:xfrm>
          <a:prstGeom prst="rect">
            <a:avLst/>
          </a:prstGeom>
          <a:noFill/>
        </p:spPr>
        <p:txBody>
          <a:bodyPr wrap="square">
            <a:spAutoFit/>
          </a:bodyPr>
          <a:lstStyle/>
          <a:p>
            <a:pPr algn="l">
              <a:defRPr sz="1600" b="1">
                <a:solidFill>
                  <a:srgbClr val="2ECC71"/>
                </a:solidFill>
                <a:latin typeface="Calibri"/>
              </a:defRPr>
            </a:pPr>
            <a:r>
              <a:t>Expected Results by Strategy</a:t>
            </a:r>
          </a:p>
        </p:txBody>
      </p:sp>
      <p:sp>
        <p:nvSpPr>
          <p:cNvPr id="24" name="TextBox 23"/>
          <p:cNvSpPr txBox="1"/>
          <p:nvPr/>
        </p:nvSpPr>
        <p:spPr>
          <a:xfrm>
            <a:off x="640080" y="5852160"/>
            <a:ext cx="5029200" cy="64008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 Baseline: 100% — trivial fault, no disruption</a:t>
            </a:r>
          </a:p>
          <a:p>
            <a:pPr>
              <a:spcBef>
                <a:spcPts val="200"/>
              </a:spcBef>
              <a:spcAft>
                <a:spcPts val="200"/>
              </a:spcAft>
              <a:defRPr sz="1300">
                <a:solidFill>
                  <a:srgbClr val="BDBDBD"/>
                </a:solidFill>
                <a:latin typeface="Calibri"/>
              </a:defRPr>
            </a:pPr>
            <a:r>
              <a:t>• Spread: 67–100% — fault isolation limits impact</a:t>
            </a:r>
          </a:p>
        </p:txBody>
      </p:sp>
      <p:sp>
        <p:nvSpPr>
          <p:cNvPr id="25" name="TextBox 24"/>
          <p:cNvSpPr txBox="1"/>
          <p:nvPr/>
        </p:nvSpPr>
        <p:spPr>
          <a:xfrm>
            <a:off x="5943600" y="5852160"/>
            <a:ext cx="5029200" cy="64008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 Default: 33–67% — partial isolation by scheduler</a:t>
            </a:r>
          </a:p>
          <a:p>
            <a:pPr>
              <a:spcBef>
                <a:spcPts val="200"/>
              </a:spcBef>
              <a:spcAft>
                <a:spcPts val="200"/>
              </a:spcAft>
              <a:defRPr sz="1300">
                <a:solidFill>
                  <a:srgbClr val="BDBDBD"/>
                </a:solidFill>
                <a:latin typeface="Calibri"/>
              </a:defRPr>
            </a:pPr>
            <a:r>
              <a:t>• Colocate: 0–33% — all services affected by fault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Experiment Configurations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05840"/>
            <a:ext cx="10972800" cy="274320"/>
          </a:xfrm>
          <a:prstGeom prst="rect">
            <a:avLst/>
          </a:prstGeom>
          <a:noFill/>
        </p:spPr>
        <p:txBody>
          <a:bodyPr wrap="square">
            <a:spAutoFit/>
          </a:bodyPr>
          <a:lstStyle/>
          <a:p>
            <a:pPr algn="l">
              <a:defRPr sz="1300" b="0">
                <a:solidFill>
                  <a:srgbClr val="9090A0"/>
                </a:solidFill>
                <a:latin typeface="Calibri"/>
              </a:defRPr>
            </a:pPr>
            <a:r>
              <a:t>All experiments are fully defined and replicable with these exact parameters</a:t>
            </a:r>
          </a:p>
        </p:txBody>
      </p:sp>
      <p:sp>
        <p:nvSpPr>
          <p:cNvPr id="5" name="Rounded Rectangle 4"/>
          <p:cNvSpPr/>
          <p:nvPr/>
        </p:nvSpPr>
        <p:spPr>
          <a:xfrm>
            <a:off x="457200" y="1371600"/>
            <a:ext cx="5303520" cy="274320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4937760" cy="274320"/>
          </a:xfrm>
          <a:prstGeom prst="rect">
            <a:avLst/>
          </a:prstGeom>
          <a:noFill/>
        </p:spPr>
        <p:txBody>
          <a:bodyPr wrap="square">
            <a:spAutoFit/>
          </a:bodyPr>
          <a:lstStyle/>
          <a:p>
            <a:pPr algn="l">
              <a:defRPr sz="1400" b="1">
                <a:solidFill>
                  <a:srgbClr val="E74C3C"/>
                </a:solidFill>
                <a:latin typeface="Calibri"/>
              </a:defRPr>
            </a:pPr>
            <a:r>
              <a:t>Experiment 1: pod-delete (Availability)</a:t>
            </a:r>
          </a:p>
        </p:txBody>
      </p:sp>
      <p:graphicFrame>
        <p:nvGraphicFramePr>
          <p:cNvPr id="7" name="Table 6"/>
          <p:cNvGraphicFramePr>
            <a:graphicFrameLocks noGrp="1"/>
          </p:cNvGraphicFramePr>
          <p:nvPr/>
        </p:nvGraphicFramePr>
        <p:xfrm>
          <a:off x="640080" y="1691640"/>
          <a:ext cx="4937760" cy="2286000"/>
        </p:xfrm>
        <a:graphic>
          <a:graphicData uri="http://schemas.openxmlformats.org/drawingml/2006/table">
            <a:tbl>
              <a:tblPr firstRow="1" bandRow="1">
                <a:tableStyleId>{5C22544A-7EE6-4342-B048-85BDC9FD1C3A}</a:tableStyleId>
              </a:tblPr>
              <a:tblGrid>
                <a:gridCol w="2468880"/>
                <a:gridCol w="2468880"/>
              </a:tblGrid>
              <a:tr h="285750">
                <a:tc>
                  <a:txBody>
                    <a:bodyPr wrap="square"/>
                    <a:lstStyle/>
                    <a:p>
                      <a:pPr algn="l"/>
                      <a:r>
                        <a:rPr sz="1000" b="1">
                          <a:solidFill>
                            <a:srgbClr val="FFFFFF"/>
                          </a:solidFill>
                          <a:latin typeface="Calibri"/>
                        </a:rPr>
                        <a:t>Parameter</a:t>
                      </a:r>
                    </a:p>
                  </a:txBody>
                  <a:tcPr marL="76200" marR="76200" marT="38100" marB="38100">
                    <a:solidFill>
                      <a:srgbClr val="E74C3C"/>
                    </a:solidFill>
                  </a:tcPr>
                </a:tc>
                <a:tc>
                  <a:txBody>
                    <a:bodyPr wrap="square"/>
                    <a:lstStyle/>
                    <a:p>
                      <a:pPr algn="l"/>
                      <a:r>
                        <a:rPr sz="1000" b="1">
                          <a:solidFill>
                            <a:srgbClr val="FFFFFF"/>
                          </a:solidFill>
                          <a:latin typeface="Calibri"/>
                        </a:rPr>
                        <a:t>Value</a:t>
                      </a:r>
                    </a:p>
                  </a:txBody>
                  <a:tcPr marL="76200" marR="76200" marT="38100" marB="38100">
                    <a:solidFill>
                      <a:srgbClr val="E74C3C"/>
                    </a:solidFill>
                  </a:tcPr>
                </a:tc>
              </a:tr>
              <a:tr h="285750">
                <a:tc>
                  <a:txBody>
                    <a:bodyPr wrap="square"/>
                    <a:lstStyle/>
                    <a:p>
                      <a:pPr algn="l"/>
                      <a:r>
                        <a:rPr sz="1000" b="0">
                          <a:solidFill>
                            <a:srgbClr val="FFFFFF"/>
                          </a:solidFill>
                          <a:latin typeface="Calibri"/>
                        </a:rPr>
                        <a:t>Fault Type</a:t>
                      </a:r>
                    </a:p>
                  </a:txBody>
                  <a:tcPr marL="76200" marR="76200" marT="38100" marB="38100">
                    <a:solidFill>
                      <a:srgbClr val="2A2A3E"/>
                    </a:solidFill>
                  </a:tcPr>
                </a:tc>
                <a:tc>
                  <a:txBody>
                    <a:bodyPr wrap="square"/>
                    <a:lstStyle/>
                    <a:p>
                      <a:pPr algn="l"/>
                      <a:r>
                        <a:rPr sz="1000" b="0">
                          <a:solidFill>
                            <a:srgbClr val="FFFFFF"/>
                          </a:solidFill>
                          <a:latin typeface="Calibri"/>
                        </a:rPr>
                        <a:t>pod-delete</a:t>
                      </a:r>
                    </a:p>
                  </a:txBody>
                  <a:tcPr marL="76200" marR="76200" marT="38100" marB="38100">
                    <a:solidFill>
                      <a:srgbClr val="2A2A3E"/>
                    </a:solidFill>
                  </a:tcPr>
                </a:tc>
              </a:tr>
              <a:tr h="285750">
                <a:tc>
                  <a:txBody>
                    <a:bodyPr wrap="square"/>
                    <a:lstStyle/>
                    <a:p>
                      <a:pPr algn="l"/>
                      <a:r>
                        <a:rPr sz="1000" b="0">
                          <a:solidFill>
                            <a:srgbClr val="FFFFFF"/>
                          </a:solidFill>
                          <a:latin typeface="Calibri"/>
                        </a:rPr>
                        <a:t>Target</a:t>
                      </a:r>
                    </a:p>
                  </a:txBody>
                  <a:tcPr marL="76200" marR="76200" marT="38100" marB="38100">
                    <a:solidFill>
                      <a:srgbClr val="2A2A3E"/>
                    </a:solidFill>
                  </a:tcPr>
                </a:tc>
                <a:tc>
                  <a:txBody>
                    <a:bodyPr wrap="square"/>
                    <a:lstStyle/>
                    <a:p>
                      <a:pPr algn="l"/>
                      <a:r>
                        <a:rPr sz="1000" b="0">
                          <a:solidFill>
                            <a:srgbClr val="FFFFFF"/>
                          </a:solidFill>
                          <a:latin typeface="Calibri"/>
                        </a:rPr>
                        <a:t>productcatalogservice (online-boutique)</a:t>
                      </a:r>
                    </a:p>
                  </a:txBody>
                  <a:tcPr marL="76200" marR="76200" marT="38100" marB="38100">
                    <a:solidFill>
                      <a:srgbClr val="2A2A3E"/>
                    </a:solidFill>
                  </a:tcPr>
                </a:tc>
              </a:tr>
              <a:tr h="285750">
                <a:tc>
                  <a:txBody>
                    <a:bodyPr wrap="square"/>
                    <a:lstStyle/>
                    <a:p>
                      <a:pPr algn="l"/>
                      <a:r>
                        <a:rPr sz="1000" b="0">
                          <a:solidFill>
                            <a:srgbClr val="FFFFFF"/>
                          </a:solidFill>
                          <a:latin typeface="Calibri"/>
                        </a:rPr>
                        <a:t>TOTAL_CHAOS_DURATION</a:t>
                      </a:r>
                    </a:p>
                  </a:txBody>
                  <a:tcPr marL="76200" marR="76200" marT="38100" marB="38100">
                    <a:solidFill>
                      <a:srgbClr val="2A2A3E"/>
                    </a:solidFill>
                  </a:tcPr>
                </a:tc>
                <a:tc>
                  <a:txBody>
                    <a:bodyPr wrap="square"/>
                    <a:lstStyle/>
                    <a:p>
                      <a:pPr algn="l"/>
                      <a:r>
                        <a:rPr sz="1000" b="0">
                          <a:solidFill>
                            <a:srgbClr val="FFFFFF"/>
                          </a:solidFill>
                          <a:latin typeface="Calibri"/>
                        </a:rPr>
                        <a:t>120 seconds</a:t>
                      </a:r>
                    </a:p>
                  </a:txBody>
                  <a:tcPr marL="76200" marR="76200" marT="38100" marB="38100">
                    <a:solidFill>
                      <a:srgbClr val="2A2A3E"/>
                    </a:solidFill>
                  </a:tcPr>
                </a:tc>
              </a:tr>
              <a:tr h="285750">
                <a:tc>
                  <a:txBody>
                    <a:bodyPr wrap="square"/>
                    <a:lstStyle/>
                    <a:p>
                      <a:pPr algn="l"/>
                      <a:r>
                        <a:rPr sz="1000" b="0">
                          <a:solidFill>
                            <a:srgbClr val="FFFFFF"/>
                          </a:solidFill>
                          <a:latin typeface="Calibri"/>
                        </a:rPr>
                        <a:t>CHAOS_INTERVAL</a:t>
                      </a:r>
                    </a:p>
                  </a:txBody>
                  <a:tcPr marL="76200" marR="76200" marT="38100" marB="38100">
                    <a:solidFill>
                      <a:srgbClr val="2A2A3E"/>
                    </a:solidFill>
                  </a:tcPr>
                </a:tc>
                <a:tc>
                  <a:txBody>
                    <a:bodyPr wrap="square"/>
                    <a:lstStyle/>
                    <a:p>
                      <a:pPr algn="l"/>
                      <a:r>
                        <a:rPr sz="1000" b="0">
                          <a:solidFill>
                            <a:srgbClr val="FFFFFF"/>
                          </a:solidFill>
                          <a:latin typeface="Calibri"/>
                        </a:rPr>
                        <a:t>5 seconds</a:t>
                      </a:r>
                    </a:p>
                  </a:txBody>
                  <a:tcPr marL="76200" marR="76200" marT="38100" marB="38100">
                    <a:solidFill>
                      <a:srgbClr val="2A2A3E"/>
                    </a:solidFill>
                  </a:tcPr>
                </a:tc>
              </a:tr>
              <a:tr h="285750">
                <a:tc>
                  <a:txBody>
                    <a:bodyPr wrap="square"/>
                    <a:lstStyle/>
                    <a:p>
                      <a:pPr algn="l"/>
                      <a:r>
                        <a:rPr sz="1000" b="0">
                          <a:solidFill>
                            <a:srgbClr val="FFFFFF"/>
                          </a:solidFill>
                          <a:latin typeface="Calibri"/>
                        </a:rPr>
                        <a:t>PODS_AFFECTED_PERC</a:t>
                      </a:r>
                    </a:p>
                  </a:txBody>
                  <a:tcPr marL="76200" marR="76200" marT="38100" marB="38100">
                    <a:solidFill>
                      <a:srgbClr val="2A2A3E"/>
                    </a:solidFill>
                  </a:tcPr>
                </a:tc>
                <a:tc>
                  <a:txBody>
                    <a:bodyPr wrap="square"/>
                    <a:lstStyle/>
                    <a:p>
                      <a:pPr algn="l"/>
                      <a:r>
                        <a:rPr sz="1000" b="0">
                          <a:solidFill>
                            <a:srgbClr val="FFFFFF"/>
                          </a:solidFill>
                          <a:latin typeface="Calibri"/>
                        </a:rPr>
                        <a:t>100%</a:t>
                      </a:r>
                    </a:p>
                  </a:txBody>
                  <a:tcPr marL="76200" marR="76200" marT="38100" marB="38100">
                    <a:solidFill>
                      <a:srgbClr val="2A2A3E"/>
                    </a:solidFill>
                  </a:tcPr>
                </a:tc>
              </a:tr>
              <a:tr h="285750">
                <a:tc>
                  <a:txBody>
                    <a:bodyPr wrap="square"/>
                    <a:lstStyle/>
                    <a:p>
                      <a:pPr algn="l"/>
                      <a:r>
                        <a:rPr sz="1000" b="0">
                          <a:solidFill>
                            <a:srgbClr val="FFFFFF"/>
                          </a:solidFill>
                          <a:latin typeface="Calibri"/>
                        </a:rPr>
                        <a:t>FORCE</a:t>
                      </a:r>
                    </a:p>
                  </a:txBody>
                  <a:tcPr marL="76200" marR="76200" marT="38100" marB="38100">
                    <a:solidFill>
                      <a:srgbClr val="2A2A3E"/>
                    </a:solidFill>
                  </a:tcPr>
                </a:tc>
                <a:tc>
                  <a:txBody>
                    <a:bodyPr wrap="square"/>
                    <a:lstStyle/>
                    <a:p>
                      <a:pPr algn="l"/>
                      <a:r>
                        <a:rPr sz="1000" b="0">
                          <a:solidFill>
                            <a:srgbClr val="FFFFFF"/>
                          </a:solidFill>
                          <a:latin typeface="Calibri"/>
                        </a:rPr>
                        <a:t>true</a:t>
                      </a:r>
                    </a:p>
                  </a:txBody>
                  <a:tcPr marL="76200" marR="76200" marT="38100" marB="38100">
                    <a:solidFill>
                      <a:srgbClr val="2A2A3E"/>
                    </a:solidFill>
                  </a:tcPr>
                </a:tc>
              </a:tr>
              <a:tr h="285750">
                <a:tc>
                  <a:txBody>
                    <a:bodyPr wrap="square"/>
                    <a:lstStyle/>
                    <a:p>
                      <a:pPr algn="l"/>
                      <a:r>
                        <a:rPr sz="1000" b="0">
                          <a:solidFill>
                            <a:srgbClr val="FFFFFF"/>
                          </a:solidFill>
                          <a:latin typeface="Calibri"/>
                        </a:rPr>
                        <a:t>Probes</a:t>
                      </a:r>
                    </a:p>
                  </a:txBody>
                  <a:tcPr marL="76200" marR="76200" marT="38100" marB="38100">
                    <a:solidFill>
                      <a:srgbClr val="2A2A3E"/>
                    </a:solidFill>
                  </a:tcPr>
                </a:tc>
                <a:tc>
                  <a:txBody>
                    <a:bodyPr wrap="square"/>
                    <a:lstStyle/>
                    <a:p>
                      <a:pPr algn="l"/>
                      <a:r>
                        <a:rPr sz="1000" b="0">
                          <a:solidFill>
                            <a:srgbClr val="FFFFFF"/>
                          </a:solidFill>
                          <a:latin typeface="Calibri"/>
                        </a:rPr>
                        <a:t>6 httpProbes (see Probe Design slide)</a:t>
                      </a:r>
                    </a:p>
                  </a:txBody>
                  <a:tcPr marL="76200" marR="76200" marT="38100" marB="38100">
                    <a:solidFill>
                      <a:srgbClr val="2A2A3E"/>
                    </a:solidFill>
                  </a:tcPr>
                </a:tc>
              </a:tr>
            </a:tbl>
          </a:graphicData>
        </a:graphic>
      </p:graphicFrame>
      <p:sp>
        <p:nvSpPr>
          <p:cNvPr id="8" name="Rounded Rectangle 7"/>
          <p:cNvSpPr/>
          <p:nvPr/>
        </p:nvSpPr>
        <p:spPr>
          <a:xfrm>
            <a:off x="6217920" y="1371600"/>
            <a:ext cx="5303520" cy="2743200"/>
          </a:xfrm>
          <a:prstGeom prst="roundRect">
            <a:avLst/>
          </a:prstGeom>
          <a:solidFill>
            <a:srgbClr val="121222"/>
          </a:solidFill>
          <a:ln w="254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4937760" cy="274320"/>
          </a:xfrm>
          <a:prstGeom prst="rect">
            <a:avLst/>
          </a:prstGeom>
          <a:noFill/>
        </p:spPr>
        <p:txBody>
          <a:bodyPr wrap="square">
            <a:spAutoFit/>
          </a:bodyPr>
          <a:lstStyle/>
          <a:p>
            <a:pPr algn="l">
              <a:defRPr sz="1400" b="1">
                <a:solidFill>
                  <a:srgbClr val="F39C12"/>
                </a:solidFill>
                <a:latin typeface="Calibri"/>
              </a:defRPr>
            </a:pPr>
            <a:r>
              <a:t>Experiment 2: pod-cpu-hog (Contention)</a:t>
            </a:r>
          </a:p>
        </p:txBody>
      </p:sp>
      <p:graphicFrame>
        <p:nvGraphicFramePr>
          <p:cNvPr id="10" name="Table 9"/>
          <p:cNvGraphicFramePr>
            <a:graphicFrameLocks noGrp="1"/>
          </p:cNvGraphicFramePr>
          <p:nvPr/>
        </p:nvGraphicFramePr>
        <p:xfrm>
          <a:off x="6400800" y="1691640"/>
          <a:ext cx="4937760" cy="2103115"/>
        </p:xfrm>
        <a:graphic>
          <a:graphicData uri="http://schemas.openxmlformats.org/drawingml/2006/table">
            <a:tbl>
              <a:tblPr firstRow="1" bandRow="1">
                <a:tableStyleId>{5C22544A-7EE6-4342-B048-85BDC9FD1C3A}</a:tableStyleId>
              </a:tblPr>
              <a:tblGrid>
                <a:gridCol w="2468880"/>
                <a:gridCol w="2468880"/>
              </a:tblGrid>
              <a:tr h="300445">
                <a:tc>
                  <a:txBody>
                    <a:bodyPr wrap="square"/>
                    <a:lstStyle/>
                    <a:p>
                      <a:pPr algn="l"/>
                      <a:r>
                        <a:rPr sz="1000" b="1">
                          <a:solidFill>
                            <a:srgbClr val="FFFFFF"/>
                          </a:solidFill>
                          <a:latin typeface="Calibri"/>
                        </a:rPr>
                        <a:t>Parameter</a:t>
                      </a:r>
                    </a:p>
                  </a:txBody>
                  <a:tcPr marL="76200" marR="76200" marT="38100" marB="38100">
                    <a:solidFill>
                      <a:srgbClr val="F39C12"/>
                    </a:solidFill>
                  </a:tcPr>
                </a:tc>
                <a:tc>
                  <a:txBody>
                    <a:bodyPr wrap="square"/>
                    <a:lstStyle/>
                    <a:p>
                      <a:pPr algn="l"/>
                      <a:r>
                        <a:rPr sz="1000" b="1">
                          <a:solidFill>
                            <a:srgbClr val="FFFFFF"/>
                          </a:solidFill>
                          <a:latin typeface="Calibri"/>
                        </a:rPr>
                        <a:t>Value</a:t>
                      </a:r>
                    </a:p>
                  </a:txBody>
                  <a:tcPr marL="76200" marR="76200" marT="38100" marB="38100">
                    <a:solidFill>
                      <a:srgbClr val="F39C12"/>
                    </a:solidFill>
                  </a:tcPr>
                </a:tc>
              </a:tr>
              <a:tr h="300445">
                <a:tc>
                  <a:txBody>
                    <a:bodyPr wrap="square"/>
                    <a:lstStyle/>
                    <a:p>
                      <a:pPr algn="l"/>
                      <a:r>
                        <a:rPr sz="1000" b="0">
                          <a:solidFill>
                            <a:srgbClr val="FFFFFF"/>
                          </a:solidFill>
                          <a:latin typeface="Calibri"/>
                        </a:rPr>
                        <a:t>Fault Type</a:t>
                      </a:r>
                    </a:p>
                  </a:txBody>
                  <a:tcPr marL="76200" marR="76200" marT="38100" marB="38100">
                    <a:solidFill>
                      <a:srgbClr val="2A2A3E"/>
                    </a:solidFill>
                  </a:tcPr>
                </a:tc>
                <a:tc>
                  <a:txBody>
                    <a:bodyPr wrap="square"/>
                    <a:lstStyle/>
                    <a:p>
                      <a:pPr algn="l"/>
                      <a:r>
                        <a:rPr sz="1000" b="0">
                          <a:solidFill>
                            <a:srgbClr val="FFFFFF"/>
                          </a:solidFill>
                          <a:latin typeface="Calibri"/>
                        </a:rPr>
                        <a:t>pod-cpu-hog</a:t>
                      </a:r>
                    </a:p>
                  </a:txBody>
                  <a:tcPr marL="76200" marR="76200" marT="38100" marB="38100">
                    <a:solidFill>
                      <a:srgbClr val="2A2A3E"/>
                    </a:solidFill>
                  </a:tcPr>
                </a:tc>
              </a:tr>
              <a:tr h="300445">
                <a:tc>
                  <a:txBody>
                    <a:bodyPr wrap="square"/>
                    <a:lstStyle/>
                    <a:p>
                      <a:pPr algn="l"/>
                      <a:r>
                        <a:rPr sz="1000" b="0">
                          <a:solidFill>
                            <a:srgbClr val="FFFFFF"/>
                          </a:solidFill>
                          <a:latin typeface="Calibri"/>
                        </a:rPr>
                        <a:t>Target</a:t>
                      </a:r>
                    </a:p>
                  </a:txBody>
                  <a:tcPr marL="76200" marR="76200" marT="38100" marB="38100">
                    <a:solidFill>
                      <a:srgbClr val="2A2A3E"/>
                    </a:solidFill>
                  </a:tcPr>
                </a:tc>
                <a:tc>
                  <a:txBody>
                    <a:bodyPr wrap="square"/>
                    <a:lstStyle/>
                    <a:p>
                      <a:pPr algn="l"/>
                      <a:r>
                        <a:rPr sz="1000" b="0">
                          <a:solidFill>
                            <a:srgbClr val="FFFFFF"/>
                          </a:solidFill>
                          <a:latin typeface="Calibri"/>
                        </a:rPr>
                        <a:t>currencyservice (online-boutique)</a:t>
                      </a:r>
                    </a:p>
                  </a:txBody>
                  <a:tcPr marL="76200" marR="76200" marT="38100" marB="38100">
                    <a:solidFill>
                      <a:srgbClr val="2A2A3E"/>
                    </a:solidFill>
                  </a:tcPr>
                </a:tc>
              </a:tr>
              <a:tr h="300445">
                <a:tc>
                  <a:txBody>
                    <a:bodyPr wrap="square"/>
                    <a:lstStyle/>
                    <a:p>
                      <a:pPr algn="l"/>
                      <a:r>
                        <a:rPr sz="1000" b="0">
                          <a:solidFill>
                            <a:srgbClr val="FFFFFF"/>
                          </a:solidFill>
                          <a:latin typeface="Calibri"/>
                        </a:rPr>
                        <a:t>TOTAL_CHAOS_DURATION</a:t>
                      </a:r>
                    </a:p>
                  </a:txBody>
                  <a:tcPr marL="76200" marR="76200" marT="38100" marB="38100">
                    <a:solidFill>
                      <a:srgbClr val="2A2A3E"/>
                    </a:solidFill>
                  </a:tcPr>
                </a:tc>
                <a:tc>
                  <a:txBody>
                    <a:bodyPr wrap="square"/>
                    <a:lstStyle/>
                    <a:p>
                      <a:pPr algn="l"/>
                      <a:r>
                        <a:rPr sz="1000" b="0">
                          <a:solidFill>
                            <a:srgbClr val="FFFFFF"/>
                          </a:solidFill>
                          <a:latin typeface="Calibri"/>
                        </a:rPr>
                        <a:t>60 seconds</a:t>
                      </a:r>
                    </a:p>
                  </a:txBody>
                  <a:tcPr marL="76200" marR="76200" marT="38100" marB="38100">
                    <a:solidFill>
                      <a:srgbClr val="2A2A3E"/>
                    </a:solidFill>
                  </a:tcPr>
                </a:tc>
              </a:tr>
              <a:tr h="300445">
                <a:tc>
                  <a:txBody>
                    <a:bodyPr wrap="square"/>
                    <a:lstStyle/>
                    <a:p>
                      <a:pPr algn="l"/>
                      <a:r>
                        <a:rPr sz="1000" b="0">
                          <a:solidFill>
                            <a:srgbClr val="FFFFFF"/>
                          </a:solidFill>
                          <a:latin typeface="Calibri"/>
                        </a:rPr>
                        <a:t>CPU_CORES</a:t>
                      </a:r>
                    </a:p>
                  </a:txBody>
                  <a:tcPr marL="76200" marR="76200" marT="38100" marB="38100">
                    <a:solidFill>
                      <a:srgbClr val="2A2A3E"/>
                    </a:solidFill>
                  </a:tcPr>
                </a:tc>
                <a:tc>
                  <a:txBody>
                    <a:bodyPr wrap="square"/>
                    <a:lstStyle/>
                    <a:p>
                      <a:pPr algn="l"/>
                      <a:r>
                        <a:rPr sz="1000" b="0">
                          <a:solidFill>
                            <a:srgbClr val="FFFFFF"/>
                          </a:solidFill>
                          <a:latin typeface="Calibri"/>
                        </a:rPr>
                        <a:t>1</a:t>
                      </a:r>
                    </a:p>
                  </a:txBody>
                  <a:tcPr marL="76200" marR="76200" marT="38100" marB="38100">
                    <a:solidFill>
                      <a:srgbClr val="2A2A3E"/>
                    </a:solidFill>
                  </a:tcPr>
                </a:tc>
              </a:tr>
              <a:tr h="300445">
                <a:tc>
                  <a:txBody>
                    <a:bodyPr wrap="square"/>
                    <a:lstStyle/>
                    <a:p>
                      <a:pPr algn="l"/>
                      <a:r>
                        <a:rPr sz="1000" b="0">
                          <a:solidFill>
                            <a:srgbClr val="FFFFFF"/>
                          </a:solidFill>
                          <a:latin typeface="Calibri"/>
                        </a:rPr>
                        <a:t>CPU_LOAD</a:t>
                      </a:r>
                    </a:p>
                  </a:txBody>
                  <a:tcPr marL="76200" marR="76200" marT="38100" marB="38100">
                    <a:solidFill>
                      <a:srgbClr val="2A2A3E"/>
                    </a:solidFill>
                  </a:tcPr>
                </a:tc>
                <a:tc>
                  <a:txBody>
                    <a:bodyPr wrap="square"/>
                    <a:lstStyle/>
                    <a:p>
                      <a:pPr algn="l"/>
                      <a:r>
                        <a:rPr sz="1000" b="0">
                          <a:solidFill>
                            <a:srgbClr val="FFFFFF"/>
                          </a:solidFill>
                          <a:latin typeface="Calibri"/>
                        </a:rPr>
                        <a:t>100%</a:t>
                      </a:r>
                    </a:p>
                  </a:txBody>
                  <a:tcPr marL="76200" marR="76200" marT="38100" marB="38100">
                    <a:solidFill>
                      <a:srgbClr val="2A2A3E"/>
                    </a:solidFill>
                  </a:tcPr>
                </a:tc>
              </a:tr>
              <a:tr h="300445">
                <a:tc>
                  <a:txBody>
                    <a:bodyPr wrap="square"/>
                    <a:lstStyle/>
                    <a:p>
                      <a:pPr algn="l"/>
                      <a:r>
                        <a:rPr sz="1000" b="0">
                          <a:solidFill>
                            <a:srgbClr val="FFFFFF"/>
                          </a:solidFill>
                          <a:latin typeface="Calibri"/>
                        </a:rPr>
                        <a:t>Probes</a:t>
                      </a:r>
                    </a:p>
                  </a:txBody>
                  <a:tcPr marL="76200" marR="76200" marT="38100" marB="38100">
                    <a:solidFill>
                      <a:srgbClr val="2A2A3E"/>
                    </a:solidFill>
                  </a:tcPr>
                </a:tc>
                <a:tc>
                  <a:txBody>
                    <a:bodyPr wrap="square"/>
                    <a:lstStyle/>
                    <a:p>
                      <a:pPr algn="l"/>
                      <a:r>
                        <a:rPr sz="1000" b="0">
                          <a:solidFill>
                            <a:srgbClr val="FFFFFF"/>
                          </a:solidFill>
                          <a:latin typeface="Calibri"/>
                        </a:rPr>
                        <a:t>1 httpProbe (frontend-availability)</a:t>
                      </a:r>
                    </a:p>
                  </a:txBody>
                  <a:tcPr marL="76200" marR="76200" marT="38100" marB="38100">
                    <a:solidFill>
                      <a:srgbClr val="2A2A3E"/>
                    </a:solidFill>
                  </a:tcPr>
                </a:tc>
              </a:tr>
            </a:tbl>
          </a:graphicData>
        </a:graphic>
      </p:graphicFrame>
      <p:sp>
        <p:nvSpPr>
          <p:cNvPr id="11" name="Rounded Rectangle 10"/>
          <p:cNvSpPr/>
          <p:nvPr/>
        </p:nvSpPr>
        <p:spPr>
          <a:xfrm>
            <a:off x="457200" y="4297680"/>
            <a:ext cx="5486400" cy="1645920"/>
          </a:xfrm>
          <a:prstGeom prst="roundRect">
            <a:avLst/>
          </a:prstGeom>
          <a:solidFill>
            <a:srgbClr val="121222"/>
          </a:solidFill>
          <a:ln w="254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297680"/>
            <a:ext cx="5120640" cy="274320"/>
          </a:xfrm>
          <a:prstGeom prst="rect">
            <a:avLst/>
          </a:prstGeom>
          <a:noFill/>
        </p:spPr>
        <p:txBody>
          <a:bodyPr wrap="square">
            <a:spAutoFit/>
          </a:bodyPr>
          <a:lstStyle/>
          <a:p>
            <a:pPr algn="l">
              <a:defRPr sz="1400" b="1">
                <a:solidFill>
                  <a:srgbClr val="7F8C8D"/>
                </a:solidFill>
                <a:latin typeface="Calibri"/>
              </a:defRPr>
            </a:pPr>
            <a:r>
              <a:t>Baseline Configuration (Control Group)</a:t>
            </a:r>
          </a:p>
        </p:txBody>
      </p:sp>
      <p:sp>
        <p:nvSpPr>
          <p:cNvPr id="13" name="TextBox 12"/>
          <p:cNvSpPr txBox="1"/>
          <p:nvPr/>
        </p:nvSpPr>
        <p:spPr>
          <a:xfrm>
            <a:off x="640080" y="4617720"/>
            <a:ext cx="5120640" cy="118872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Fault swapped: pod-delete → pod-cpu-hog</a:t>
            </a:r>
          </a:p>
          <a:p>
            <a:pPr>
              <a:spcBef>
                <a:spcPts val="200"/>
              </a:spcBef>
              <a:spcAft>
                <a:spcPts val="200"/>
              </a:spcAft>
              <a:defRPr sz="1000">
                <a:solidFill>
                  <a:srgbClr val="BDBDBD"/>
                </a:solidFill>
                <a:latin typeface="Calibri"/>
              </a:defRPr>
            </a:pPr>
            <a:r>
              <a:t>• TOTAL_CHAOS_DURATION = 1 second</a:t>
            </a:r>
          </a:p>
          <a:p>
            <a:pPr>
              <a:spcBef>
                <a:spcPts val="200"/>
              </a:spcBef>
              <a:spcAft>
                <a:spcPts val="200"/>
              </a:spcAft>
              <a:defRPr sz="1000">
                <a:solidFill>
                  <a:srgbClr val="BDBDBD"/>
                </a:solidFill>
                <a:latin typeface="Calibri"/>
              </a:defRPr>
            </a:pPr>
            <a:r>
              <a:t>• CPU_CORES = 0, CPU_LOAD = 1 (1% stress)</a:t>
            </a:r>
          </a:p>
          <a:p>
            <a:pPr>
              <a:spcBef>
                <a:spcPts val="200"/>
              </a:spcBef>
              <a:spcAft>
                <a:spcPts val="200"/>
              </a:spcAft>
              <a:defRPr sz="1000">
                <a:solidFill>
                  <a:srgbClr val="BDBDBD"/>
                </a:solidFill>
                <a:latin typeface="Calibri"/>
              </a:defRPr>
            </a:pPr>
            <a:r>
              <a:t>• All 6 probes execute identically (same timeouts)</a:t>
            </a:r>
          </a:p>
          <a:p>
            <a:pPr>
              <a:spcBef>
                <a:spcPts val="200"/>
              </a:spcBef>
              <a:spcAft>
                <a:spcPts val="200"/>
              </a:spcAft>
              <a:defRPr sz="1000">
                <a:solidFill>
                  <a:srgbClr val="BDBDBD"/>
                </a:solidFill>
                <a:latin typeface="Calibri"/>
              </a:defRPr>
            </a:pPr>
            <a:r>
              <a:t>• Expected result: 100% score, 0 recovery cycles</a:t>
            </a:r>
          </a:p>
        </p:txBody>
      </p:sp>
      <p:sp>
        <p:nvSpPr>
          <p:cNvPr id="14" name="Rounded Rectangle 13"/>
          <p:cNvSpPr/>
          <p:nvPr/>
        </p:nvSpPr>
        <p:spPr>
          <a:xfrm>
            <a:off x="6217920" y="4297680"/>
            <a:ext cx="5303520" cy="16459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297680"/>
            <a:ext cx="4937760" cy="274320"/>
          </a:xfrm>
          <a:prstGeom prst="rect">
            <a:avLst/>
          </a:prstGeom>
          <a:noFill/>
        </p:spPr>
        <p:txBody>
          <a:bodyPr wrap="square">
            <a:spAutoFit/>
          </a:bodyPr>
          <a:lstStyle/>
          <a:p>
            <a:pPr algn="l">
              <a:defRPr sz="1400" b="1">
                <a:solidFill>
                  <a:srgbClr val="2ECC71"/>
                </a:solidFill>
                <a:latin typeface="Calibri"/>
              </a:defRPr>
            </a:pPr>
            <a:r>
              <a:t>Why Baseline Shows No Recovery Time</a:t>
            </a:r>
          </a:p>
        </p:txBody>
      </p:sp>
      <p:sp>
        <p:nvSpPr>
          <p:cNvPr id="16" name="TextBox 15"/>
          <p:cNvSpPr txBox="1"/>
          <p:nvPr/>
        </p:nvSpPr>
        <p:spPr>
          <a:xfrm>
            <a:off x="6400800" y="4617720"/>
            <a:ext cx="4937760" cy="118872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pod-cpu-hog does NOT delete pods</a:t>
            </a:r>
          </a:p>
          <a:p>
            <a:pPr>
              <a:spcBef>
                <a:spcPts val="200"/>
              </a:spcBef>
              <a:spcAft>
                <a:spcPts val="200"/>
              </a:spcAft>
              <a:defRPr sz="1000">
                <a:solidFill>
                  <a:srgbClr val="BDBDBD"/>
                </a:solidFill>
                <a:latin typeface="Calibri"/>
              </a:defRPr>
            </a:pPr>
            <a:r>
              <a:t>• RecoveryWatcher only triggers on pod deletion</a:t>
            </a:r>
          </a:p>
          <a:p>
            <a:pPr>
              <a:spcBef>
                <a:spcPts val="200"/>
              </a:spcBef>
              <a:spcAft>
                <a:spcPts val="200"/>
              </a:spcAft>
              <a:defRPr sz="1000">
                <a:solidFill>
                  <a:srgbClr val="BDBDBD"/>
                </a:solidFill>
                <a:latin typeface="Calibri"/>
              </a:defRPr>
            </a:pPr>
            <a:r>
              <a:t>• Therefore: 0 recovery cycles, N/A recovery time</a:t>
            </a:r>
          </a:p>
          <a:p>
            <a:pPr>
              <a:spcBef>
                <a:spcPts val="200"/>
              </a:spcBef>
              <a:spcAft>
                <a:spcPts val="200"/>
              </a:spcAft>
              <a:defRPr sz="1000">
                <a:solidFill>
                  <a:srgbClr val="BDBDBD"/>
                </a:solidFill>
                <a:latin typeface="Calibri"/>
              </a:defRPr>
            </a:pPr>
            <a:r>
              <a:t>• Any non-zero recovery = pre-existing instability</a:t>
            </a:r>
          </a:p>
          <a:p>
            <a:pPr>
              <a:spcBef>
                <a:spcPts val="200"/>
              </a:spcBef>
              <a:spcAft>
                <a:spcPts val="200"/>
              </a:spcAft>
              <a:defRPr sz="1000">
                <a:solidFill>
                  <a:srgbClr val="BDBDBD"/>
                </a:solidFill>
                <a:latin typeface="Calibri"/>
              </a:defRPr>
            </a:pPr>
            <a:r>
              <a:t>• This validates the control: no fault = no impact</a:t>
            </a:r>
          </a:p>
        </p:txBody>
      </p:sp>
      <p:sp>
        <p:nvSpPr>
          <p:cNvPr id="17" name="Rounded Rectangle 16"/>
          <p:cNvSpPr/>
          <p:nvPr/>
        </p:nvSpPr>
        <p:spPr>
          <a:xfrm>
            <a:off x="457200" y="6126480"/>
            <a:ext cx="11064240" cy="54864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6126480"/>
            <a:ext cx="10698480" cy="457200"/>
          </a:xfrm>
          <a:prstGeom prst="rect">
            <a:avLst/>
          </a:prstGeom>
          <a:noFill/>
        </p:spPr>
        <p:txBody>
          <a:bodyPr wrap="square">
            <a:spAutoFit/>
          </a:bodyPr>
          <a:lstStyle/>
          <a:p>
            <a:pPr algn="l">
              <a:defRPr sz="1200" b="0">
                <a:solidFill>
                  <a:srgbClr val="BDBDBD"/>
                </a:solidFill>
                <a:latin typeface="Calibri"/>
              </a:defRPr>
            </a:pPr>
            <a:r>
              <a:t>Replicate:  chaosprobe init --scenario placement-experiment.yaml  →  chaosprobe run --strategies baseline,default,colocate,spread,random,antagonistic --iterations 3  →  chaosprobe visualize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Neo4j Graph Schema</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143000"/>
            <a:ext cx="4572000" cy="228600"/>
          </a:xfrm>
          <a:prstGeom prst="rect">
            <a:avLst/>
          </a:prstGeom>
          <a:noFill/>
        </p:spPr>
        <p:txBody>
          <a:bodyPr wrap="square">
            <a:spAutoFit/>
          </a:bodyPr>
          <a:lstStyle/>
          <a:p>
            <a:pPr algn="l">
              <a:defRPr sz="1100" b="1">
                <a:solidFill>
                  <a:srgbClr val="7F8C8D"/>
                </a:solidFill>
                <a:latin typeface="Calibri"/>
              </a:defRPr>
            </a:pPr>
            <a:r>
              <a:t>Cluster Topology</a:t>
            </a:r>
          </a:p>
        </p:txBody>
      </p:sp>
      <p:sp>
        <p:nvSpPr>
          <p:cNvPr id="5" name="Rounded Rectangle 4"/>
          <p:cNvSpPr/>
          <p:nvPr/>
        </p:nvSpPr>
        <p:spPr>
          <a:xfrm>
            <a:off x="274320" y="1417320"/>
            <a:ext cx="1600200" cy="41148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1">
                <a:solidFill>
                  <a:srgbClr val="FFFFFF"/>
                </a:solidFill>
                <a:latin typeface="Calibri"/>
              </a:defRPr>
            </a:pPr>
            <a:r>
              <a:t>K8sNode</a:t>
            </a:r>
          </a:p>
        </p:txBody>
      </p:sp>
      <p:sp>
        <p:nvSpPr>
          <p:cNvPr id="6" name="Rounded Rectangle 5"/>
          <p:cNvSpPr/>
          <p:nvPr/>
        </p:nvSpPr>
        <p:spPr>
          <a:xfrm>
            <a:off x="2148840" y="1417320"/>
            <a:ext cx="160020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1">
                <a:solidFill>
                  <a:srgbClr val="FFFFFF"/>
                </a:solidFill>
                <a:latin typeface="Calibri"/>
              </a:defRPr>
            </a:pPr>
            <a:r>
              <a:t>Deployment</a:t>
            </a:r>
          </a:p>
        </p:txBody>
      </p:sp>
      <p:sp>
        <p:nvSpPr>
          <p:cNvPr id="7" name="Rounded Rectangle 6"/>
          <p:cNvSpPr/>
          <p:nvPr/>
        </p:nvSpPr>
        <p:spPr>
          <a:xfrm>
            <a:off x="4023360" y="1417320"/>
            <a:ext cx="160020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1">
                <a:solidFill>
                  <a:srgbClr val="FFFFFF"/>
                </a:solidFill>
                <a:latin typeface="Calibri"/>
              </a:defRPr>
            </a:pPr>
            <a:r>
              <a:t>Service</a:t>
            </a:r>
          </a:p>
        </p:txBody>
      </p:sp>
      <p:cxnSp>
        <p:nvCxnSpPr>
          <p:cNvPr id="8" name="Connector 7"/>
          <p:cNvCxnSpPr/>
          <p:nvPr/>
        </p:nvCxnSpPr>
        <p:spPr>
          <a:xfrm flipH="1">
            <a:off x="1874519" y="1627632"/>
            <a:ext cx="274321" cy="0"/>
          </a:xfrm>
          <a:prstGeom prst="line">
            <a:avLst/>
          </a:prstGeom>
          <a:ln w="19050">
            <a:solidFill>
              <a:srgbClr val="1ABC9C"/>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234440" y="1188720"/>
            <a:ext cx="1051560" cy="201168"/>
          </a:xfrm>
          <a:prstGeom prst="rect">
            <a:avLst/>
          </a:prstGeom>
          <a:noFill/>
        </p:spPr>
        <p:txBody>
          <a:bodyPr wrap="square">
            <a:spAutoFit/>
          </a:bodyPr>
          <a:lstStyle/>
          <a:p>
            <a:pPr algn="l">
              <a:defRPr sz="900" b="0">
                <a:solidFill>
                  <a:srgbClr val="9090A0"/>
                </a:solidFill>
                <a:latin typeface="Calibri"/>
              </a:defRPr>
            </a:pPr>
            <a:r>
              <a:t>SCHEDULED_ON</a:t>
            </a:r>
          </a:p>
        </p:txBody>
      </p:sp>
      <p:cxnSp>
        <p:nvCxnSpPr>
          <p:cNvPr id="10" name="Connector 9"/>
          <p:cNvCxnSpPr/>
          <p:nvPr/>
        </p:nvCxnSpPr>
        <p:spPr>
          <a:xfrm>
            <a:off x="3749039" y="1627632"/>
            <a:ext cx="274321" cy="0"/>
          </a:xfrm>
          <a:prstGeom prst="line">
            <a:avLst/>
          </a:prstGeom>
          <a:ln w="19050">
            <a:solidFill>
              <a:srgbClr val="1ABC9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063240" y="1188720"/>
            <a:ext cx="822960" cy="201168"/>
          </a:xfrm>
          <a:prstGeom prst="rect">
            <a:avLst/>
          </a:prstGeom>
          <a:noFill/>
        </p:spPr>
        <p:txBody>
          <a:bodyPr wrap="square">
            <a:spAutoFit/>
          </a:bodyPr>
          <a:lstStyle/>
          <a:p>
            <a:pPr algn="l">
              <a:defRPr sz="900" b="0">
                <a:solidFill>
                  <a:srgbClr val="9090A0"/>
                </a:solidFill>
                <a:latin typeface="Calibri"/>
              </a:defRPr>
            </a:pPr>
            <a:r>
              <a:t>EXPOSES</a:t>
            </a:r>
          </a:p>
        </p:txBody>
      </p:sp>
      <p:cxnSp>
        <p:nvCxnSpPr>
          <p:cNvPr id="12" name="Connector 11"/>
          <p:cNvCxnSpPr/>
          <p:nvPr/>
        </p:nvCxnSpPr>
        <p:spPr>
          <a:xfrm flipV="1">
            <a:off x="4846320" y="1325880"/>
            <a:ext cx="274320" cy="155448"/>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20640" y="1325880"/>
            <a:ext cx="0" cy="457200"/>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4846320" y="1783080"/>
            <a:ext cx="274320" cy="0"/>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212080" y="1490472"/>
            <a:ext cx="1097280" cy="201168"/>
          </a:xfrm>
          <a:prstGeom prst="rect">
            <a:avLst/>
          </a:prstGeom>
          <a:noFill/>
        </p:spPr>
        <p:txBody>
          <a:bodyPr wrap="square">
            <a:spAutoFit/>
          </a:bodyPr>
          <a:lstStyle/>
          <a:p>
            <a:pPr algn="l">
              <a:defRPr sz="900" b="0">
                <a:solidFill>
                  <a:srgbClr val="9090A0"/>
                </a:solidFill>
                <a:latin typeface="Calibri"/>
              </a:defRPr>
            </a:pPr>
            <a:r>
              <a:t>DEPENDS_ON</a:t>
            </a:r>
          </a:p>
        </p:txBody>
      </p:sp>
      <p:sp>
        <p:nvSpPr>
          <p:cNvPr id="16" name="Rounded Rectangle 15"/>
          <p:cNvSpPr/>
          <p:nvPr/>
        </p:nvSpPr>
        <p:spPr>
          <a:xfrm>
            <a:off x="5074920" y="2834640"/>
            <a:ext cx="2103120" cy="5943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300" b="1">
                <a:solidFill>
                  <a:srgbClr val="FFFFFF"/>
                </a:solidFill>
                <a:latin typeface="Calibri"/>
              </a:defRPr>
            </a:pPr>
            <a:r>
              <a:t>ChaosRun</a:t>
            </a:r>
          </a:p>
        </p:txBody>
      </p:sp>
      <p:sp>
        <p:nvSpPr>
          <p:cNvPr id="17" name="Rounded Rectangle 16"/>
          <p:cNvSpPr/>
          <p:nvPr/>
        </p:nvSpPr>
        <p:spPr>
          <a:xfrm>
            <a:off x="2331720" y="2926080"/>
            <a:ext cx="2011680" cy="41148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PlacementStrategy</a:t>
            </a:r>
          </a:p>
        </p:txBody>
      </p:sp>
      <p:cxnSp>
        <p:nvCxnSpPr>
          <p:cNvPr id="18" name="Connector 17"/>
          <p:cNvCxnSpPr/>
          <p:nvPr/>
        </p:nvCxnSpPr>
        <p:spPr>
          <a:xfrm flipH="1">
            <a:off x="4343400" y="3127248"/>
            <a:ext cx="731520" cy="0"/>
          </a:xfrm>
          <a:prstGeom prst="line">
            <a:avLst/>
          </a:prstGeom>
          <a:ln w="19050">
            <a:solidFill>
              <a:srgbClr val="3498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60520" y="2697480"/>
            <a:ext cx="1371600" cy="201168"/>
          </a:xfrm>
          <a:prstGeom prst="rect">
            <a:avLst/>
          </a:prstGeom>
          <a:noFill/>
        </p:spPr>
        <p:txBody>
          <a:bodyPr wrap="square">
            <a:spAutoFit/>
          </a:bodyPr>
          <a:lstStyle/>
          <a:p>
            <a:pPr algn="l">
              <a:defRPr sz="900" b="0">
                <a:solidFill>
                  <a:srgbClr val="9090A0"/>
                </a:solidFill>
                <a:latin typeface="Calibri"/>
              </a:defRPr>
            </a:pPr>
            <a:r>
              <a:t>USED_STRATEGY</a:t>
            </a:r>
          </a:p>
        </p:txBody>
      </p:sp>
      <p:cxnSp>
        <p:nvCxnSpPr>
          <p:cNvPr id="20" name="Connector 19"/>
          <p:cNvCxnSpPr/>
          <p:nvPr/>
        </p:nvCxnSpPr>
        <p:spPr>
          <a:xfrm>
            <a:off x="2834640" y="1828800"/>
            <a:ext cx="2240280" cy="1078992"/>
          </a:xfrm>
          <a:prstGeom prst="line">
            <a:avLst/>
          </a:prstGeom>
          <a:ln w="19050">
            <a:solidFill>
              <a:srgbClr val="E74C3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063240" y="2240280"/>
            <a:ext cx="1280160" cy="201168"/>
          </a:xfrm>
          <a:prstGeom prst="rect">
            <a:avLst/>
          </a:prstGeom>
          <a:noFill/>
        </p:spPr>
        <p:txBody>
          <a:bodyPr wrap="square">
            <a:spAutoFit/>
          </a:bodyPr>
          <a:lstStyle/>
          <a:p>
            <a:pPr algn="l">
              <a:defRPr sz="900" b="0">
                <a:solidFill>
                  <a:srgbClr val="9090A0"/>
                </a:solidFill>
                <a:latin typeface="Calibri"/>
              </a:defRPr>
            </a:pPr>
            <a:r>
              <a:t>TARGETED_BY</a:t>
            </a:r>
          </a:p>
        </p:txBody>
      </p:sp>
      <p:sp>
        <p:nvSpPr>
          <p:cNvPr id="22" name="TextBox 21"/>
          <p:cNvSpPr txBox="1"/>
          <p:nvPr/>
        </p:nvSpPr>
        <p:spPr>
          <a:xfrm>
            <a:off x="7498079" y="1143000"/>
            <a:ext cx="4572000" cy="228600"/>
          </a:xfrm>
          <a:prstGeom prst="rect">
            <a:avLst/>
          </a:prstGeom>
          <a:noFill/>
        </p:spPr>
        <p:txBody>
          <a:bodyPr wrap="square">
            <a:spAutoFit/>
          </a:bodyPr>
          <a:lstStyle/>
          <a:p>
            <a:pPr algn="l">
              <a:defRPr sz="1100" b="1">
                <a:solidFill>
                  <a:srgbClr val="E74C3C"/>
                </a:solidFill>
                <a:latin typeface="Calibri"/>
              </a:defRPr>
            </a:pPr>
            <a:r>
              <a:t>Experiment Results</a:t>
            </a:r>
          </a:p>
        </p:txBody>
      </p:sp>
      <p:sp>
        <p:nvSpPr>
          <p:cNvPr id="23" name="Rounded Rectangle 22"/>
          <p:cNvSpPr/>
          <p:nvPr/>
        </p:nvSpPr>
        <p:spPr>
          <a:xfrm>
            <a:off x="7498079" y="1417320"/>
            <a:ext cx="2011680" cy="41148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ExperimentResult</a:t>
            </a:r>
          </a:p>
        </p:txBody>
      </p:sp>
      <p:sp>
        <p:nvSpPr>
          <p:cNvPr id="24" name="Rounded Rectangle 23"/>
          <p:cNvSpPr/>
          <p:nvPr/>
        </p:nvSpPr>
        <p:spPr>
          <a:xfrm>
            <a:off x="9784080" y="1417320"/>
            <a:ext cx="1737360" cy="41148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ProbeResult</a:t>
            </a:r>
          </a:p>
        </p:txBody>
      </p:sp>
      <p:cxnSp>
        <p:nvCxnSpPr>
          <p:cNvPr id="25" name="Connector 24"/>
          <p:cNvCxnSpPr/>
          <p:nvPr/>
        </p:nvCxnSpPr>
        <p:spPr>
          <a:xfrm>
            <a:off x="9509760" y="1627632"/>
            <a:ext cx="274320" cy="0"/>
          </a:xfrm>
          <a:prstGeom prst="line">
            <a:avLst/>
          </a:prstGeom>
          <a:ln w="19050">
            <a:solidFill>
              <a:srgbClr val="E74C3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89720" y="1188720"/>
            <a:ext cx="914400" cy="201168"/>
          </a:xfrm>
          <a:prstGeom prst="rect">
            <a:avLst/>
          </a:prstGeom>
          <a:noFill/>
        </p:spPr>
        <p:txBody>
          <a:bodyPr wrap="square">
            <a:spAutoFit/>
          </a:bodyPr>
          <a:lstStyle/>
          <a:p>
            <a:pPr algn="l">
              <a:defRPr sz="900" b="0">
                <a:solidFill>
                  <a:srgbClr val="9090A0"/>
                </a:solidFill>
                <a:latin typeface="Calibri"/>
              </a:defRPr>
            </a:pPr>
            <a:r>
              <a:t>HAS_PROBE</a:t>
            </a:r>
          </a:p>
        </p:txBody>
      </p:sp>
      <p:cxnSp>
        <p:nvCxnSpPr>
          <p:cNvPr id="27" name="Connector 26"/>
          <p:cNvCxnSpPr/>
          <p:nvPr/>
        </p:nvCxnSpPr>
        <p:spPr>
          <a:xfrm flipV="1">
            <a:off x="7178040" y="1783080"/>
            <a:ext cx="320039" cy="1188720"/>
          </a:xfrm>
          <a:prstGeom prst="line">
            <a:avLst/>
          </a:prstGeom>
          <a:ln w="19050">
            <a:solidFill>
              <a:srgbClr val="E74C3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315200" y="2148840"/>
            <a:ext cx="1097280" cy="201168"/>
          </a:xfrm>
          <a:prstGeom prst="rect">
            <a:avLst/>
          </a:prstGeom>
          <a:noFill/>
        </p:spPr>
        <p:txBody>
          <a:bodyPr wrap="square">
            <a:spAutoFit/>
          </a:bodyPr>
          <a:lstStyle/>
          <a:p>
            <a:pPr algn="l">
              <a:defRPr sz="900" b="0">
                <a:solidFill>
                  <a:srgbClr val="9090A0"/>
                </a:solidFill>
                <a:latin typeface="Calibri"/>
              </a:defRPr>
            </a:pPr>
            <a:r>
              <a:t>HAS_RESULT</a:t>
            </a:r>
          </a:p>
        </p:txBody>
      </p:sp>
      <p:sp>
        <p:nvSpPr>
          <p:cNvPr id="29" name="Rounded Rectangle 28"/>
          <p:cNvSpPr/>
          <p:nvPr/>
        </p:nvSpPr>
        <p:spPr>
          <a:xfrm>
            <a:off x="7498079" y="2926080"/>
            <a:ext cx="1828800" cy="41148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RecoveryCycle</a:t>
            </a:r>
          </a:p>
        </p:txBody>
      </p:sp>
      <p:cxnSp>
        <p:nvCxnSpPr>
          <p:cNvPr id="30" name="Connector 29"/>
          <p:cNvCxnSpPr/>
          <p:nvPr/>
        </p:nvCxnSpPr>
        <p:spPr>
          <a:xfrm>
            <a:off x="7178040" y="3127248"/>
            <a:ext cx="320039" cy="0"/>
          </a:xfrm>
          <a:prstGeom prst="line">
            <a:avLst/>
          </a:prstGeom>
          <a:ln w="19050">
            <a:solidFill>
              <a:srgbClr val="2ECC71"/>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269480" y="3337560"/>
            <a:ext cx="1737360" cy="201168"/>
          </a:xfrm>
          <a:prstGeom prst="rect">
            <a:avLst/>
          </a:prstGeom>
          <a:noFill/>
        </p:spPr>
        <p:txBody>
          <a:bodyPr wrap="square">
            <a:spAutoFit/>
          </a:bodyPr>
          <a:lstStyle/>
          <a:p>
            <a:pPr algn="l">
              <a:defRPr sz="900" b="0">
                <a:solidFill>
                  <a:srgbClr val="9090A0"/>
                </a:solidFill>
                <a:latin typeface="Calibri"/>
              </a:defRPr>
            </a:pPr>
            <a:r>
              <a:t>HAS_RECOVERY_CYCLE</a:t>
            </a:r>
          </a:p>
        </p:txBody>
      </p:sp>
      <p:sp>
        <p:nvSpPr>
          <p:cNvPr id="32" name="TextBox 31"/>
          <p:cNvSpPr txBox="1"/>
          <p:nvPr/>
        </p:nvSpPr>
        <p:spPr>
          <a:xfrm>
            <a:off x="274320" y="3977639"/>
            <a:ext cx="5486400" cy="228600"/>
          </a:xfrm>
          <a:prstGeom prst="rect">
            <a:avLst/>
          </a:prstGeom>
          <a:noFill/>
        </p:spPr>
        <p:txBody>
          <a:bodyPr wrap="square">
            <a:spAutoFit/>
          </a:bodyPr>
          <a:lstStyle/>
          <a:p>
            <a:pPr algn="l">
              <a:defRPr sz="1100" b="1">
                <a:solidFill>
                  <a:srgbClr val="2ECC71"/>
                </a:solidFill>
                <a:latin typeface="Calibri"/>
              </a:defRPr>
            </a:pPr>
            <a:r>
              <a:t>Metrics &amp; Telemetry</a:t>
            </a:r>
          </a:p>
        </p:txBody>
      </p:sp>
      <p:sp>
        <p:nvSpPr>
          <p:cNvPr id="33" name="Rounded Rectangle 32"/>
          <p:cNvSpPr/>
          <p:nvPr/>
        </p:nvSpPr>
        <p:spPr>
          <a:xfrm>
            <a:off x="274320" y="4251960"/>
            <a:ext cx="1600200" cy="41148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MetricsPhase</a:t>
            </a:r>
          </a:p>
        </p:txBody>
      </p:sp>
      <p:cxnSp>
        <p:nvCxnSpPr>
          <p:cNvPr id="34" name="Connector 33"/>
          <p:cNvCxnSpPr/>
          <p:nvPr/>
        </p:nvCxnSpPr>
        <p:spPr>
          <a:xfrm flipH="1">
            <a:off x="1074420" y="3474720"/>
            <a:ext cx="5006340" cy="777240"/>
          </a:xfrm>
          <a:prstGeom prst="line">
            <a:avLst/>
          </a:prstGeom>
          <a:ln w="15240">
            <a:solidFill>
              <a:srgbClr val="2ECC71"/>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28600" y="4681728"/>
            <a:ext cx="1691640" cy="201168"/>
          </a:xfrm>
          <a:prstGeom prst="rect">
            <a:avLst/>
          </a:prstGeom>
          <a:noFill/>
        </p:spPr>
        <p:txBody>
          <a:bodyPr wrap="square">
            <a:spAutoFit/>
          </a:bodyPr>
          <a:lstStyle/>
          <a:p>
            <a:pPr algn="l">
              <a:defRPr sz="800" b="0">
                <a:solidFill>
                  <a:srgbClr val="9090A0"/>
                </a:solidFill>
                <a:latin typeface="Calibri"/>
              </a:defRPr>
            </a:pPr>
            <a:r>
              <a:t>HAS_METRICS_PHASE</a:t>
            </a:r>
          </a:p>
        </p:txBody>
      </p:sp>
      <p:sp>
        <p:nvSpPr>
          <p:cNvPr id="36" name="Rounded Rectangle 35"/>
          <p:cNvSpPr/>
          <p:nvPr/>
        </p:nvSpPr>
        <p:spPr>
          <a:xfrm>
            <a:off x="2057400" y="4251960"/>
            <a:ext cx="1600200" cy="41148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MetricsSample</a:t>
            </a:r>
          </a:p>
        </p:txBody>
      </p:sp>
      <p:cxnSp>
        <p:nvCxnSpPr>
          <p:cNvPr id="37" name="Connector 36"/>
          <p:cNvCxnSpPr/>
          <p:nvPr/>
        </p:nvCxnSpPr>
        <p:spPr>
          <a:xfrm flipH="1">
            <a:off x="2857500" y="3474720"/>
            <a:ext cx="3223260" cy="777240"/>
          </a:xfrm>
          <a:prstGeom prst="line">
            <a:avLst/>
          </a:prstGeom>
          <a:ln w="15240">
            <a:solidFill>
              <a:srgbClr val="2ECC71"/>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011680" y="4681728"/>
            <a:ext cx="1691640" cy="201168"/>
          </a:xfrm>
          <a:prstGeom prst="rect">
            <a:avLst/>
          </a:prstGeom>
          <a:noFill/>
        </p:spPr>
        <p:txBody>
          <a:bodyPr wrap="square">
            <a:spAutoFit/>
          </a:bodyPr>
          <a:lstStyle/>
          <a:p>
            <a:pPr algn="l">
              <a:defRPr sz="800" b="0">
                <a:solidFill>
                  <a:srgbClr val="9090A0"/>
                </a:solidFill>
                <a:latin typeface="Calibri"/>
              </a:defRPr>
            </a:pPr>
            <a:r>
              <a:t>HAS_SAMPLE</a:t>
            </a:r>
          </a:p>
        </p:txBody>
      </p:sp>
      <p:sp>
        <p:nvSpPr>
          <p:cNvPr id="39" name="Rounded Rectangle 38"/>
          <p:cNvSpPr/>
          <p:nvPr/>
        </p:nvSpPr>
        <p:spPr>
          <a:xfrm>
            <a:off x="3840480" y="4251960"/>
            <a:ext cx="1600200" cy="41148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AnomalyLabel</a:t>
            </a:r>
          </a:p>
        </p:txBody>
      </p:sp>
      <p:cxnSp>
        <p:nvCxnSpPr>
          <p:cNvPr id="40" name="Connector 39"/>
          <p:cNvCxnSpPr/>
          <p:nvPr/>
        </p:nvCxnSpPr>
        <p:spPr>
          <a:xfrm flipH="1">
            <a:off x="4640580" y="3474720"/>
            <a:ext cx="1440180" cy="777240"/>
          </a:xfrm>
          <a:prstGeom prst="line">
            <a:avLst/>
          </a:prstGeom>
          <a:ln w="15240">
            <a:solidFill>
              <a:srgbClr val="E74C3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60" y="4681728"/>
            <a:ext cx="1691640" cy="201168"/>
          </a:xfrm>
          <a:prstGeom prst="rect">
            <a:avLst/>
          </a:prstGeom>
          <a:noFill/>
        </p:spPr>
        <p:txBody>
          <a:bodyPr wrap="square">
            <a:spAutoFit/>
          </a:bodyPr>
          <a:lstStyle/>
          <a:p>
            <a:pPr algn="l">
              <a:defRPr sz="800" b="0">
                <a:solidFill>
                  <a:srgbClr val="9090A0"/>
                </a:solidFill>
                <a:latin typeface="Calibri"/>
              </a:defRPr>
            </a:pPr>
            <a:r>
              <a:t>HAS_ANOMALY_LABEL</a:t>
            </a:r>
          </a:p>
        </p:txBody>
      </p:sp>
      <p:sp>
        <p:nvSpPr>
          <p:cNvPr id="42" name="Rounded Rectangle 41"/>
          <p:cNvSpPr/>
          <p:nvPr/>
        </p:nvSpPr>
        <p:spPr>
          <a:xfrm>
            <a:off x="5623560" y="4251960"/>
            <a:ext cx="1600200" cy="41148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CascadeEvent</a:t>
            </a:r>
          </a:p>
        </p:txBody>
      </p:sp>
      <p:cxnSp>
        <p:nvCxnSpPr>
          <p:cNvPr id="43" name="Connector 42"/>
          <p:cNvCxnSpPr/>
          <p:nvPr/>
        </p:nvCxnSpPr>
        <p:spPr>
          <a:xfrm>
            <a:off x="6080760" y="3474720"/>
            <a:ext cx="342900" cy="777240"/>
          </a:xfrm>
          <a:prstGeom prst="line">
            <a:avLst/>
          </a:prstGeom>
          <a:ln w="15240">
            <a:solidFill>
              <a:srgbClr val="F39C12"/>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577840" y="4681728"/>
            <a:ext cx="1691640" cy="201168"/>
          </a:xfrm>
          <a:prstGeom prst="rect">
            <a:avLst/>
          </a:prstGeom>
          <a:noFill/>
        </p:spPr>
        <p:txBody>
          <a:bodyPr wrap="square">
            <a:spAutoFit/>
          </a:bodyPr>
          <a:lstStyle/>
          <a:p>
            <a:pPr algn="l">
              <a:defRPr sz="800" b="0">
                <a:solidFill>
                  <a:srgbClr val="9090A0"/>
                </a:solidFill>
                <a:latin typeface="Calibri"/>
              </a:defRPr>
            </a:pPr>
            <a:r>
              <a:t>HAS_CASCADE_EVENT</a:t>
            </a:r>
          </a:p>
        </p:txBody>
      </p:sp>
      <p:cxnSp>
        <p:nvCxnSpPr>
          <p:cNvPr id="45" name="Connector 44"/>
          <p:cNvCxnSpPr/>
          <p:nvPr/>
        </p:nvCxnSpPr>
        <p:spPr>
          <a:xfrm flipV="1">
            <a:off x="4526280" y="1874519"/>
            <a:ext cx="45720" cy="2377441"/>
          </a:xfrm>
          <a:prstGeom prst="line">
            <a:avLst/>
          </a:prstGeom>
          <a:ln w="12700">
            <a:solidFill>
              <a:srgbClr val="E74C3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749039" y="3246120"/>
            <a:ext cx="1645920" cy="201168"/>
          </a:xfrm>
          <a:prstGeom prst="rect">
            <a:avLst/>
          </a:prstGeom>
          <a:noFill/>
        </p:spPr>
        <p:txBody>
          <a:bodyPr wrap="square">
            <a:spAutoFit/>
          </a:bodyPr>
          <a:lstStyle/>
          <a:p>
            <a:pPr algn="l">
              <a:defRPr sz="800" b="0">
                <a:solidFill>
                  <a:srgbClr val="BDBDBD"/>
                </a:solidFill>
                <a:latin typeface="Calibri"/>
              </a:defRPr>
            </a:pPr>
            <a:r>
              <a:t>TARGETS / AFFECTS</a:t>
            </a:r>
          </a:p>
        </p:txBody>
      </p:sp>
      <p:sp>
        <p:nvSpPr>
          <p:cNvPr id="47" name="TextBox 46"/>
          <p:cNvSpPr txBox="1"/>
          <p:nvPr/>
        </p:nvSpPr>
        <p:spPr>
          <a:xfrm>
            <a:off x="7498079" y="3977639"/>
            <a:ext cx="4572000" cy="228600"/>
          </a:xfrm>
          <a:prstGeom prst="rect">
            <a:avLst/>
          </a:prstGeom>
          <a:noFill/>
        </p:spPr>
        <p:txBody>
          <a:bodyPr wrap="square">
            <a:spAutoFit/>
          </a:bodyPr>
          <a:lstStyle/>
          <a:p>
            <a:pPr algn="l">
              <a:defRPr sz="1100" b="1">
                <a:solidFill>
                  <a:srgbClr val="1ABC9C"/>
                </a:solidFill>
                <a:latin typeface="Calibri"/>
              </a:defRPr>
            </a:pPr>
            <a:r>
              <a:t>Pod State</a:t>
            </a:r>
          </a:p>
        </p:txBody>
      </p:sp>
      <p:sp>
        <p:nvSpPr>
          <p:cNvPr id="48" name="Rounded Rectangle 47"/>
          <p:cNvSpPr/>
          <p:nvPr/>
        </p:nvSpPr>
        <p:spPr>
          <a:xfrm>
            <a:off x="7498079" y="4251960"/>
            <a:ext cx="182880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PodSnapshot</a:t>
            </a:r>
          </a:p>
        </p:txBody>
      </p:sp>
      <p:sp>
        <p:nvSpPr>
          <p:cNvPr id="49" name="Rounded Rectangle 48"/>
          <p:cNvSpPr/>
          <p:nvPr/>
        </p:nvSpPr>
        <p:spPr>
          <a:xfrm>
            <a:off x="9601200" y="4251960"/>
            <a:ext cx="1828800" cy="41148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ContainerLog</a:t>
            </a:r>
          </a:p>
        </p:txBody>
      </p:sp>
      <p:cxnSp>
        <p:nvCxnSpPr>
          <p:cNvPr id="50" name="Connector 49"/>
          <p:cNvCxnSpPr/>
          <p:nvPr/>
        </p:nvCxnSpPr>
        <p:spPr>
          <a:xfrm>
            <a:off x="7178040" y="3429000"/>
            <a:ext cx="1234440" cy="822960"/>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98079" y="4709160"/>
            <a:ext cx="1737360" cy="201168"/>
          </a:xfrm>
          <a:prstGeom prst="rect">
            <a:avLst/>
          </a:prstGeom>
          <a:noFill/>
        </p:spPr>
        <p:txBody>
          <a:bodyPr wrap="square">
            <a:spAutoFit/>
          </a:bodyPr>
          <a:lstStyle/>
          <a:p>
            <a:pPr algn="l">
              <a:defRPr sz="800" b="0">
                <a:solidFill>
                  <a:srgbClr val="9090A0"/>
                </a:solidFill>
                <a:latin typeface="Calibri"/>
              </a:defRPr>
            </a:pPr>
            <a:r>
              <a:t>HAS_POD_SNAPSHOT</a:t>
            </a:r>
          </a:p>
        </p:txBody>
      </p:sp>
      <p:cxnSp>
        <p:nvCxnSpPr>
          <p:cNvPr id="52" name="Connector 51"/>
          <p:cNvCxnSpPr/>
          <p:nvPr/>
        </p:nvCxnSpPr>
        <p:spPr>
          <a:xfrm>
            <a:off x="9326880" y="4453128"/>
            <a:ext cx="274320" cy="0"/>
          </a:xfrm>
          <a:prstGeom prst="line">
            <a:avLst/>
          </a:prstGeom>
          <a:ln w="15240">
            <a:solidFill>
              <a:srgbClr val="7F8C8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509760" y="4709160"/>
            <a:ext cx="1737360" cy="201168"/>
          </a:xfrm>
          <a:prstGeom prst="rect">
            <a:avLst/>
          </a:prstGeom>
          <a:noFill/>
        </p:spPr>
        <p:txBody>
          <a:bodyPr wrap="square">
            <a:spAutoFit/>
          </a:bodyPr>
          <a:lstStyle/>
          <a:p>
            <a:pPr algn="l">
              <a:defRPr sz="800" b="0">
                <a:solidFill>
                  <a:srgbClr val="9090A0"/>
                </a:solidFill>
                <a:latin typeface="Calibri"/>
              </a:defRPr>
            </a:pPr>
            <a:r>
              <a:t>HAS_CONTAINER_LOG</a:t>
            </a:r>
          </a:p>
        </p:txBody>
      </p:sp>
      <p:sp>
        <p:nvSpPr>
          <p:cNvPr id="54" name="TextBox 53"/>
          <p:cNvSpPr txBox="1"/>
          <p:nvPr/>
        </p:nvSpPr>
        <p:spPr>
          <a:xfrm>
            <a:off x="7498079" y="4956048"/>
            <a:ext cx="3657600" cy="201168"/>
          </a:xfrm>
          <a:prstGeom prst="rect">
            <a:avLst/>
          </a:prstGeom>
          <a:noFill/>
        </p:spPr>
        <p:txBody>
          <a:bodyPr wrap="square">
            <a:spAutoFit/>
          </a:bodyPr>
          <a:lstStyle/>
          <a:p>
            <a:pPr algn="l">
              <a:defRPr sz="800" b="0">
                <a:solidFill>
                  <a:srgbClr val="BDBDBD"/>
                </a:solidFill>
                <a:latin typeface="Calibri"/>
              </a:defRPr>
            </a:pPr>
            <a:r>
              <a:t>PodSnapshot → K8sNode (RUNNING_ON)</a:t>
            </a:r>
          </a:p>
        </p:txBody>
      </p:sp>
      <p:sp>
        <p:nvSpPr>
          <p:cNvPr id="55" name="TextBox 54"/>
          <p:cNvSpPr txBox="1"/>
          <p:nvPr/>
        </p:nvSpPr>
        <p:spPr>
          <a:xfrm>
            <a:off x="7498079" y="5138928"/>
            <a:ext cx="3657600" cy="201168"/>
          </a:xfrm>
          <a:prstGeom prst="rect">
            <a:avLst/>
          </a:prstGeom>
          <a:noFill/>
        </p:spPr>
        <p:txBody>
          <a:bodyPr wrap="square">
            <a:spAutoFit/>
          </a:bodyPr>
          <a:lstStyle/>
          <a:p>
            <a:pPr algn="l">
              <a:defRPr sz="800" b="0">
                <a:solidFill>
                  <a:srgbClr val="BDBDBD"/>
                </a:solidFill>
                <a:latin typeface="Calibri"/>
              </a:defRPr>
            </a:pPr>
            <a:r>
              <a:t>PodSnapshot → Deployment (BELONGS_TO)</a:t>
            </a:r>
          </a:p>
        </p:txBody>
      </p:sp>
      <p:sp>
        <p:nvSpPr>
          <p:cNvPr id="56" name="Rounded Rectangle 55"/>
          <p:cNvSpPr/>
          <p:nvPr/>
        </p:nvSpPr>
        <p:spPr>
          <a:xfrm>
            <a:off x="274320" y="5532120"/>
            <a:ext cx="7040880" cy="114300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80" y="5577840"/>
            <a:ext cx="6766560" cy="274320"/>
          </a:xfrm>
          <a:prstGeom prst="rect">
            <a:avLst/>
          </a:prstGeom>
          <a:noFill/>
        </p:spPr>
        <p:txBody>
          <a:bodyPr wrap="square">
            <a:spAutoFit/>
          </a:bodyPr>
          <a:lstStyle/>
          <a:p>
            <a:pPr algn="l">
              <a:defRPr sz="1100" b="1">
                <a:solidFill>
                  <a:srgbClr val="9B59B6"/>
                </a:solidFill>
                <a:latin typeface="Calibri"/>
              </a:defRPr>
            </a:pPr>
            <a:r>
              <a:t>14 Node Types · 18 Relationships (verified from neo4j_writer.py)</a:t>
            </a:r>
          </a:p>
        </p:txBody>
      </p:sp>
      <p:sp>
        <p:nvSpPr>
          <p:cNvPr id="58" name="TextBox 57"/>
          <p:cNvSpPr txBox="1"/>
          <p:nvPr/>
        </p:nvSpPr>
        <p:spPr>
          <a:xfrm>
            <a:off x="411480" y="5852160"/>
            <a:ext cx="6766560" cy="822960"/>
          </a:xfrm>
          <a:prstGeom prst="rect">
            <a:avLst/>
          </a:prstGeom>
          <a:noFill/>
        </p:spPr>
        <p:txBody>
          <a:bodyPr wrap="square">
            <a:spAutoFit/>
          </a:bodyPr>
          <a:lstStyle/>
          <a:p>
            <a:pPr algn="l">
              <a:defRPr sz="900" b="0">
                <a:solidFill>
                  <a:srgbClr val="BDBDBD"/>
                </a:solidFill>
                <a:latin typeface="Calibri"/>
              </a:defRPr>
            </a:pPr>
            <a:r>
              <a:t>Topology:   K8sNode · Deployment · Service · PlacementStrategy</a:t>
            </a:r>
            <a:br/>
            <a:r>
              <a:t>Run:            ChaosRun · ExperimentResult · ProbeResult · RecoveryCycle</a:t>
            </a:r>
            <a:br/>
            <a:r>
              <a:t>Telemetry:  MetricsPhase · MetricsSample · AnomalyLabel · CascadeEvent</a:t>
            </a:r>
            <a:br/>
            <a:r>
              <a:t>Pod state:  PodSnapshot · ContainerLog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Results — Visualization Summary</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silience_scores.png"/>
          <p:cNvPicPr>
            <a:picLocks noChangeAspect="1"/>
          </p:cNvPicPr>
          <p:nvPr/>
        </p:nvPicPr>
        <p:blipFill>
          <a:blip r:embed="rId2"/>
          <a:stretch>
            <a:fillRect/>
          </a:stretch>
        </p:blipFill>
        <p:spPr>
          <a:xfrm>
            <a:off x="274320" y="1280160"/>
            <a:ext cx="3657600" cy="2377440"/>
          </a:xfrm>
          <a:prstGeom prst="rect">
            <a:avLst/>
          </a:prstGeom>
        </p:spPr>
      </p:pic>
      <p:sp>
        <p:nvSpPr>
          <p:cNvPr id="5" name="TextBox 4"/>
          <p:cNvSpPr txBox="1"/>
          <p:nvPr/>
        </p:nvSpPr>
        <p:spPr>
          <a:xfrm>
            <a:off x="274320" y="3657600"/>
            <a:ext cx="3657600" cy="274320"/>
          </a:xfrm>
          <a:prstGeom prst="rect">
            <a:avLst/>
          </a:prstGeom>
          <a:noFill/>
        </p:spPr>
        <p:txBody>
          <a:bodyPr wrap="square">
            <a:spAutoFit/>
          </a:bodyPr>
          <a:lstStyle/>
          <a:p>
            <a:pPr algn="ctr">
              <a:defRPr sz="1100" b="1">
                <a:solidFill>
                  <a:srgbClr val="0096D6"/>
                </a:solidFill>
                <a:latin typeface="Calibri"/>
              </a:defRPr>
            </a:pPr>
            <a:r>
              <a:t>Resilience Scores by Strategy</a:t>
            </a:r>
          </a:p>
        </p:txBody>
      </p:sp>
      <p:pic>
        <p:nvPicPr>
          <p:cNvPr id="6" name="Picture 5" descr="latency_by_strategy.png"/>
          <p:cNvPicPr>
            <a:picLocks noChangeAspect="1"/>
          </p:cNvPicPr>
          <p:nvPr/>
        </p:nvPicPr>
        <p:blipFill>
          <a:blip r:embed="rId3"/>
          <a:stretch>
            <a:fillRect/>
          </a:stretch>
        </p:blipFill>
        <p:spPr>
          <a:xfrm>
            <a:off x="4206240" y="1280160"/>
            <a:ext cx="3657600" cy="2377440"/>
          </a:xfrm>
          <a:prstGeom prst="rect">
            <a:avLst/>
          </a:prstGeom>
        </p:spPr>
      </p:pic>
      <p:sp>
        <p:nvSpPr>
          <p:cNvPr id="7" name="TextBox 6"/>
          <p:cNvSpPr txBox="1"/>
          <p:nvPr/>
        </p:nvSpPr>
        <p:spPr>
          <a:xfrm>
            <a:off x="4206240" y="3657600"/>
            <a:ext cx="3657600" cy="274320"/>
          </a:xfrm>
          <a:prstGeom prst="rect">
            <a:avLst/>
          </a:prstGeom>
          <a:noFill/>
        </p:spPr>
        <p:txBody>
          <a:bodyPr wrap="square">
            <a:spAutoFit/>
          </a:bodyPr>
          <a:lstStyle/>
          <a:p>
            <a:pPr algn="ctr">
              <a:defRPr sz="1100" b="1">
                <a:solidFill>
                  <a:srgbClr val="0096D6"/>
                </a:solidFill>
                <a:latin typeface="Calibri"/>
              </a:defRPr>
            </a:pPr>
            <a:r>
              <a:t>Inter-Service Latency by Strategy</a:t>
            </a:r>
          </a:p>
        </p:txBody>
      </p:sp>
      <p:pic>
        <p:nvPicPr>
          <p:cNvPr id="8" name="Picture 7" descr="recovery_times.png"/>
          <p:cNvPicPr>
            <a:picLocks noChangeAspect="1"/>
          </p:cNvPicPr>
          <p:nvPr/>
        </p:nvPicPr>
        <p:blipFill>
          <a:blip r:embed="rId4"/>
          <a:stretch>
            <a:fillRect/>
          </a:stretch>
        </p:blipFill>
        <p:spPr>
          <a:xfrm>
            <a:off x="8138160" y="1280160"/>
            <a:ext cx="3657600" cy="2377440"/>
          </a:xfrm>
          <a:prstGeom prst="rect">
            <a:avLst/>
          </a:prstGeom>
        </p:spPr>
      </p:pic>
      <p:sp>
        <p:nvSpPr>
          <p:cNvPr id="9" name="TextBox 8"/>
          <p:cNvSpPr txBox="1"/>
          <p:nvPr/>
        </p:nvSpPr>
        <p:spPr>
          <a:xfrm>
            <a:off x="8138160" y="3657600"/>
            <a:ext cx="3657600" cy="274320"/>
          </a:xfrm>
          <a:prstGeom prst="rect">
            <a:avLst/>
          </a:prstGeom>
          <a:noFill/>
        </p:spPr>
        <p:txBody>
          <a:bodyPr wrap="square">
            <a:spAutoFit/>
          </a:bodyPr>
          <a:lstStyle/>
          <a:p>
            <a:pPr algn="ctr">
              <a:defRPr sz="1100" b="1">
                <a:solidFill>
                  <a:srgbClr val="0096D6"/>
                </a:solidFill>
                <a:latin typeface="Calibri"/>
              </a:defRPr>
            </a:pPr>
            <a:r>
              <a:t>Recovery Times by Strategy</a:t>
            </a:r>
          </a:p>
        </p:txBody>
      </p:sp>
      <p:pic>
        <p:nvPicPr>
          <p:cNvPr id="10" name="Picture 9" descr="resource_utilization.png"/>
          <p:cNvPicPr>
            <a:picLocks noChangeAspect="1"/>
          </p:cNvPicPr>
          <p:nvPr/>
        </p:nvPicPr>
        <p:blipFill>
          <a:blip r:embed="rId5"/>
          <a:stretch>
            <a:fillRect/>
          </a:stretch>
        </p:blipFill>
        <p:spPr>
          <a:xfrm>
            <a:off x="274320" y="4114800"/>
            <a:ext cx="3657600" cy="2103120"/>
          </a:xfrm>
          <a:prstGeom prst="rect">
            <a:avLst/>
          </a:prstGeom>
        </p:spPr>
      </p:pic>
      <p:sp>
        <p:nvSpPr>
          <p:cNvPr id="11" name="TextBox 10"/>
          <p:cNvSpPr txBox="1"/>
          <p:nvPr/>
        </p:nvSpPr>
        <p:spPr>
          <a:xfrm>
            <a:off x="274320" y="6217920"/>
            <a:ext cx="3657600" cy="274320"/>
          </a:xfrm>
          <a:prstGeom prst="rect">
            <a:avLst/>
          </a:prstGeom>
          <a:noFill/>
        </p:spPr>
        <p:txBody>
          <a:bodyPr wrap="square">
            <a:spAutoFit/>
          </a:bodyPr>
          <a:lstStyle/>
          <a:p>
            <a:pPr algn="ctr">
              <a:defRPr sz="1100" b="1">
                <a:solidFill>
                  <a:srgbClr val="0096D6"/>
                </a:solidFill>
                <a:latin typeface="Calibri"/>
              </a:defRPr>
            </a:pPr>
            <a:r>
              <a:t>Resource Utilization (CPU/Memory)</a:t>
            </a:r>
          </a:p>
        </p:txBody>
      </p:sp>
      <p:pic>
        <p:nvPicPr>
          <p:cNvPr id="12" name="Picture 11" descr="throughput_by_strategy.png"/>
          <p:cNvPicPr>
            <a:picLocks noChangeAspect="1"/>
          </p:cNvPicPr>
          <p:nvPr/>
        </p:nvPicPr>
        <p:blipFill>
          <a:blip r:embed="rId6"/>
          <a:stretch>
            <a:fillRect/>
          </a:stretch>
        </p:blipFill>
        <p:spPr>
          <a:xfrm>
            <a:off x="4206240" y="4114800"/>
            <a:ext cx="3657600" cy="2103120"/>
          </a:xfrm>
          <a:prstGeom prst="rect">
            <a:avLst/>
          </a:prstGeom>
        </p:spPr>
      </p:pic>
      <p:sp>
        <p:nvSpPr>
          <p:cNvPr id="13" name="TextBox 12"/>
          <p:cNvSpPr txBox="1"/>
          <p:nvPr/>
        </p:nvSpPr>
        <p:spPr>
          <a:xfrm>
            <a:off x="4206240" y="6217920"/>
            <a:ext cx="3657600" cy="274320"/>
          </a:xfrm>
          <a:prstGeom prst="rect">
            <a:avLst/>
          </a:prstGeom>
          <a:noFill/>
        </p:spPr>
        <p:txBody>
          <a:bodyPr wrap="square">
            <a:spAutoFit/>
          </a:bodyPr>
          <a:lstStyle/>
          <a:p>
            <a:pPr algn="ctr">
              <a:defRPr sz="1100" b="1">
                <a:solidFill>
                  <a:srgbClr val="0096D6"/>
                </a:solidFill>
                <a:latin typeface="Calibri"/>
              </a:defRPr>
            </a:pPr>
            <a:r>
              <a:t>I/O Throughput by Strategy</a:t>
            </a:r>
          </a:p>
        </p:txBody>
      </p:sp>
      <p:pic>
        <p:nvPicPr>
          <p:cNvPr id="14" name="Picture 13" descr="latency_degradation.png"/>
          <p:cNvPicPr>
            <a:picLocks noChangeAspect="1"/>
          </p:cNvPicPr>
          <p:nvPr/>
        </p:nvPicPr>
        <p:blipFill>
          <a:blip r:embed="rId7"/>
          <a:stretch>
            <a:fillRect/>
          </a:stretch>
        </p:blipFill>
        <p:spPr>
          <a:xfrm>
            <a:off x="8138160" y="4114800"/>
            <a:ext cx="3657600" cy="2103120"/>
          </a:xfrm>
          <a:prstGeom prst="rect">
            <a:avLst/>
          </a:prstGeom>
        </p:spPr>
      </p:pic>
      <p:sp>
        <p:nvSpPr>
          <p:cNvPr id="15" name="TextBox 14"/>
          <p:cNvSpPr txBox="1"/>
          <p:nvPr/>
        </p:nvSpPr>
        <p:spPr>
          <a:xfrm>
            <a:off x="8138160" y="6217920"/>
            <a:ext cx="3657600" cy="274320"/>
          </a:xfrm>
          <a:prstGeom prst="rect">
            <a:avLst/>
          </a:prstGeom>
          <a:noFill/>
        </p:spPr>
        <p:txBody>
          <a:bodyPr wrap="square">
            <a:spAutoFit/>
          </a:bodyPr>
          <a:lstStyle/>
          <a:p>
            <a:pPr algn="ctr">
              <a:defRPr sz="1100" b="1">
                <a:solidFill>
                  <a:srgbClr val="0096D6"/>
                </a:solidFill>
                <a:latin typeface="Calibri"/>
              </a:defRPr>
            </a:pPr>
            <a:r>
              <a:t>Latency Degradation (Pre vs During)</a:t>
            </a:r>
          </a:p>
        </p:txBody>
      </p:sp>
      <p:sp>
        <p:nvSpPr>
          <p:cNvPr id="16" name="TextBox 15"/>
          <p:cNvSpPr txBox="1"/>
          <p:nvPr/>
        </p:nvSpPr>
        <p:spPr>
          <a:xfrm>
            <a:off x="274320" y="6492240"/>
            <a:ext cx="11612880" cy="274320"/>
          </a:xfrm>
          <a:prstGeom prst="rect">
            <a:avLst/>
          </a:prstGeom>
          <a:noFill/>
        </p:spPr>
        <p:txBody>
          <a:bodyPr wrap="square">
            <a:spAutoFit/>
          </a:bodyPr>
          <a:lstStyle/>
          <a:p>
            <a:pPr algn="l">
              <a:defRPr sz="1300" b="1">
                <a:solidFill>
                  <a:srgbClr val="F39C12"/>
                </a:solidFill>
                <a:latin typeface="Calibri"/>
              </a:defRPr>
            </a:pPr>
            <a:r>
              <a:t>Key finding: colocate strategy consistently shows worst inter-service latency and longest recovery times — this scenario should be avoided in production deployments.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Inter-Service Latency During Chaos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ency_degradation.png"/>
          <p:cNvPicPr>
            <a:picLocks noChangeAspect="1"/>
          </p:cNvPicPr>
          <p:nvPr/>
        </p:nvPicPr>
        <p:blipFill>
          <a:blip r:embed="rId2"/>
          <a:stretch>
            <a:fillRect/>
          </a:stretch>
        </p:blipFill>
        <p:spPr>
          <a:xfrm>
            <a:off x="457200" y="1280160"/>
            <a:ext cx="6858000" cy="4114800"/>
          </a:xfrm>
          <a:prstGeom prst="rect">
            <a:avLst/>
          </a:prstGeom>
        </p:spPr>
      </p:pic>
      <p:sp>
        <p:nvSpPr>
          <p:cNvPr id="5" name="Rounded Rectangle 4"/>
          <p:cNvSpPr/>
          <p:nvPr/>
        </p:nvSpPr>
        <p:spPr>
          <a:xfrm>
            <a:off x="7772400" y="1280160"/>
            <a:ext cx="3931920" cy="256032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280160"/>
            <a:ext cx="3566160" cy="274320"/>
          </a:xfrm>
          <a:prstGeom prst="rect">
            <a:avLst/>
          </a:prstGeom>
          <a:noFill/>
        </p:spPr>
        <p:txBody>
          <a:bodyPr wrap="square">
            <a:spAutoFit/>
          </a:bodyPr>
          <a:lstStyle/>
          <a:p>
            <a:pPr algn="l">
              <a:defRPr sz="1400" b="1">
                <a:solidFill>
                  <a:srgbClr val="E74C3C"/>
                </a:solidFill>
                <a:latin typeface="Calibri"/>
              </a:defRPr>
            </a:pPr>
            <a:r>
              <a:t>Key Observations</a:t>
            </a:r>
          </a:p>
        </p:txBody>
      </p:sp>
      <p:sp>
        <p:nvSpPr>
          <p:cNvPr id="7" name="TextBox 6"/>
          <p:cNvSpPr txBox="1"/>
          <p:nvPr/>
        </p:nvSpPr>
        <p:spPr>
          <a:xfrm>
            <a:off x="7955279" y="1600200"/>
            <a:ext cx="3566160" cy="210312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Colocate: highest latency degradation</a:t>
            </a:r>
            <a:br/>
            <a:r>
              <a:t>  across all routes — worst strategy</a:t>
            </a:r>
          </a:p>
          <a:p>
            <a:pPr>
              <a:spcBef>
                <a:spcPts val="200"/>
              </a:spcBef>
              <a:spcAft>
                <a:spcPts val="200"/>
              </a:spcAft>
              <a:defRPr sz="1000">
                <a:solidFill>
                  <a:srgbClr val="BDBDBD"/>
                </a:solidFill>
                <a:latin typeface="Calibri"/>
              </a:defRPr>
            </a:pPr>
            <a:r>
              <a:t>• Spread: minimal latency increase —</a:t>
            </a:r>
            <a:br/>
            <a:r>
              <a:t>  fault isolation contains impact</a:t>
            </a:r>
          </a:p>
          <a:p>
            <a:pPr>
              <a:spcBef>
                <a:spcPts val="200"/>
              </a:spcBef>
              <a:spcAft>
                <a:spcPts val="200"/>
              </a:spcAft>
              <a:defRPr sz="1000">
                <a:solidFill>
                  <a:srgbClr val="BDBDBD"/>
                </a:solidFill>
                <a:latin typeface="Calibri"/>
              </a:defRPr>
            </a:pPr>
            <a:r>
              <a:t>• Default: moderate — scheduler partially</a:t>
            </a:r>
            <a:br/>
            <a:r>
              <a:t>  separates dependent services</a:t>
            </a:r>
          </a:p>
          <a:p>
            <a:pPr>
              <a:spcBef>
                <a:spcPts val="200"/>
              </a:spcBef>
              <a:spcAft>
                <a:spcPts val="200"/>
              </a:spcAft>
              <a:defRPr sz="1000">
                <a:solidFill>
                  <a:srgbClr val="BDBDBD"/>
                </a:solidFill>
                <a:latin typeface="Calibri"/>
              </a:defRPr>
            </a:pPr>
            <a:r>
              <a:t>• Antagonistic: high — heavy pods on</a:t>
            </a:r>
            <a:br/>
            <a:r>
              <a:t>  same node amplifies contention</a:t>
            </a:r>
          </a:p>
        </p:txBody>
      </p:sp>
      <p:sp>
        <p:nvSpPr>
          <p:cNvPr id="8" name="Rounded Rectangle 7"/>
          <p:cNvSpPr/>
          <p:nvPr/>
        </p:nvSpPr>
        <p:spPr>
          <a:xfrm>
            <a:off x="7772400" y="4114800"/>
            <a:ext cx="3931920" cy="13716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4114800"/>
            <a:ext cx="3566160" cy="274320"/>
          </a:xfrm>
          <a:prstGeom prst="rect">
            <a:avLst/>
          </a:prstGeom>
          <a:noFill/>
        </p:spPr>
        <p:txBody>
          <a:bodyPr wrap="square">
            <a:spAutoFit/>
          </a:bodyPr>
          <a:lstStyle/>
          <a:p>
            <a:pPr algn="l">
              <a:defRPr sz="1300" b="1">
                <a:solidFill>
                  <a:srgbClr val="F39C12"/>
                </a:solidFill>
                <a:latin typeface="Calibri"/>
              </a:defRPr>
            </a:pPr>
            <a:r>
              <a:t>Why Colocate Performs Worst</a:t>
            </a:r>
          </a:p>
        </p:txBody>
      </p:sp>
      <p:sp>
        <p:nvSpPr>
          <p:cNvPr id="10" name="TextBox 9"/>
          <p:cNvSpPr txBox="1"/>
          <p:nvPr/>
        </p:nvSpPr>
        <p:spPr>
          <a:xfrm>
            <a:off x="7955279" y="4434840"/>
            <a:ext cx="356616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All 12 services on 1 node: shared CPU,</a:t>
            </a:r>
            <a:br/>
            <a:r>
              <a:t>  memory, network stack, disk I/O</a:t>
            </a:r>
          </a:p>
          <a:p>
            <a:pPr>
              <a:spcBef>
                <a:spcPts val="200"/>
              </a:spcBef>
              <a:spcAft>
                <a:spcPts val="200"/>
              </a:spcAft>
              <a:defRPr sz="1000">
                <a:solidFill>
                  <a:srgbClr val="BDBDBD"/>
                </a:solidFill>
                <a:latin typeface="Calibri"/>
              </a:defRPr>
            </a:pPr>
            <a:r>
              <a:t>• Pod deletion causes cascading resource</a:t>
            </a:r>
            <a:br/>
            <a:r>
              <a:t>  pressure on all co-located services</a:t>
            </a:r>
          </a:p>
          <a:p>
            <a:pPr>
              <a:spcBef>
                <a:spcPts val="200"/>
              </a:spcBef>
              <a:spcAft>
                <a:spcPts val="200"/>
              </a:spcAft>
              <a:defRPr sz="1000">
                <a:solidFill>
                  <a:srgbClr val="BDBDBD"/>
                </a:solidFill>
                <a:latin typeface="Calibri"/>
              </a:defRPr>
            </a:pPr>
            <a:r>
              <a:t>• Conclusion: this placement should be</a:t>
            </a:r>
            <a:br/>
            <a:r>
              <a:t>  avoided in production environments</a:t>
            </a:r>
          </a:p>
        </p:txBody>
      </p:sp>
      <p:sp>
        <p:nvSpPr>
          <p:cNvPr id="11" name="Rounded Rectangle 10"/>
          <p:cNvSpPr/>
          <p:nvPr/>
        </p:nvSpPr>
        <p:spPr>
          <a:xfrm>
            <a:off x="457200" y="5669280"/>
            <a:ext cx="112471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5669280"/>
            <a:ext cx="10881360" cy="274320"/>
          </a:xfrm>
          <a:prstGeom prst="rect">
            <a:avLst/>
          </a:prstGeom>
          <a:noFill/>
        </p:spPr>
        <p:txBody>
          <a:bodyPr wrap="square">
            <a:spAutoFit/>
          </a:bodyPr>
          <a:lstStyle/>
          <a:p>
            <a:pPr algn="l">
              <a:defRPr sz="1300" b="1">
                <a:solidFill>
                  <a:srgbClr val="0096D6"/>
                </a:solidFill>
                <a:latin typeface="Calibri"/>
              </a:defRPr>
            </a:pPr>
            <a:r>
              <a:t>Strategy Ranking by Inter-Service Latency (best → worst)</a:t>
            </a:r>
          </a:p>
        </p:txBody>
      </p:sp>
      <p:sp>
        <p:nvSpPr>
          <p:cNvPr id="13" name="Rounded Rectangle 12"/>
          <p:cNvSpPr/>
          <p:nvPr/>
        </p:nvSpPr>
        <p:spPr>
          <a:xfrm>
            <a:off x="640080" y="5989320"/>
            <a:ext cx="1828800" cy="36576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Spread</a:t>
            </a:r>
          </a:p>
        </p:txBody>
      </p:sp>
      <p:sp>
        <p:nvSpPr>
          <p:cNvPr id="14" name="Rounded Rectangle 13"/>
          <p:cNvSpPr/>
          <p:nvPr/>
        </p:nvSpPr>
        <p:spPr>
          <a:xfrm>
            <a:off x="2926080" y="5989320"/>
            <a:ext cx="1828800" cy="36576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Default</a:t>
            </a:r>
          </a:p>
        </p:txBody>
      </p:sp>
      <p:sp>
        <p:nvSpPr>
          <p:cNvPr id="15" name="Rounded Rectangle 14"/>
          <p:cNvSpPr/>
          <p:nvPr/>
        </p:nvSpPr>
        <p:spPr>
          <a:xfrm>
            <a:off x="5212080" y="5989320"/>
            <a:ext cx="1828800" cy="36576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Random</a:t>
            </a:r>
          </a:p>
        </p:txBody>
      </p:sp>
      <p:sp>
        <p:nvSpPr>
          <p:cNvPr id="16" name="Rounded Rectangle 15"/>
          <p:cNvSpPr/>
          <p:nvPr/>
        </p:nvSpPr>
        <p:spPr>
          <a:xfrm>
            <a:off x="7498079" y="5989320"/>
            <a:ext cx="1828800" cy="365760"/>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Antagonistic</a:t>
            </a:r>
          </a:p>
        </p:txBody>
      </p:sp>
      <p:sp>
        <p:nvSpPr>
          <p:cNvPr id="17" name="Rounded Rectangle 16"/>
          <p:cNvSpPr/>
          <p:nvPr/>
        </p:nvSpPr>
        <p:spPr>
          <a:xfrm>
            <a:off x="9784080" y="5989320"/>
            <a:ext cx="18288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Colocate</a:t>
            </a:r>
          </a:p>
        </p:txBody>
      </p:sp>
      <p:cxnSp>
        <p:nvCxnSpPr>
          <p:cNvPr id="18" name="Connector 17"/>
          <p:cNvCxnSpPr/>
          <p:nvPr/>
        </p:nvCxnSpPr>
        <p:spPr>
          <a:xfrm>
            <a:off x="2468880" y="6172200"/>
            <a:ext cx="45720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6172200"/>
            <a:ext cx="45720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040880" y="6172200"/>
            <a:ext cx="457199"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326880" y="6172200"/>
            <a:ext cx="45720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Summary &amp; Future Work</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371600"/>
            <a:ext cx="5303520" cy="27432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4937760" cy="320040"/>
          </a:xfrm>
          <a:prstGeom prst="rect">
            <a:avLst/>
          </a:prstGeom>
          <a:noFill/>
        </p:spPr>
        <p:txBody>
          <a:bodyPr wrap="square">
            <a:spAutoFit/>
          </a:bodyPr>
          <a:lstStyle/>
          <a:p>
            <a:pPr algn="l">
              <a:defRPr sz="1800" b="1">
                <a:solidFill>
                  <a:srgbClr val="2ECC71"/>
                </a:solidFill>
                <a:latin typeface="Calibri"/>
              </a:defRPr>
            </a:pPr>
            <a:r>
              <a:t>Key Contributions</a:t>
            </a:r>
          </a:p>
        </p:txBody>
      </p:sp>
      <p:sp>
        <p:nvSpPr>
          <p:cNvPr id="6" name="TextBox 5"/>
          <p:cNvSpPr txBox="1"/>
          <p:nvPr/>
        </p:nvSpPr>
        <p:spPr>
          <a:xfrm>
            <a:off x="640080" y="1783080"/>
            <a:ext cx="4937760" cy="219456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Systematic evaluation of 6 placement strategies</a:t>
            </a:r>
            <a:br/>
            <a:r>
              <a:t>  under fault injection in Kubernetes</a:t>
            </a:r>
          </a:p>
          <a:p>
            <a:pPr>
              <a:spcBef>
                <a:spcPts val="200"/>
              </a:spcBef>
              <a:spcAft>
                <a:spcPts val="200"/>
              </a:spcAft>
              <a:defRPr sz="1200">
                <a:solidFill>
                  <a:srgbClr val="BDBDBD"/>
                </a:solidFill>
                <a:latin typeface="Calibri"/>
              </a:defRPr>
            </a:pPr>
            <a:r>
              <a:t>• Quantified impact on recovery time, inter-service</a:t>
            </a:r>
            <a:br/>
            <a:r>
              <a:t>  latency, resource utilization, and I/O throughput</a:t>
            </a:r>
          </a:p>
          <a:p>
            <a:pPr>
              <a:spcBef>
                <a:spcPts val="200"/>
              </a:spcBef>
              <a:spcAft>
                <a:spcPts val="200"/>
              </a:spcAft>
              <a:defRPr sz="1200">
                <a:solidFill>
                  <a:srgbClr val="BDBDBD"/>
                </a:solidFill>
                <a:latin typeface="Calibri"/>
              </a:defRPr>
            </a:pPr>
            <a:r>
              <a:t>• Neo4j graph storage preserving causal</a:t>
            </a:r>
            <a:br/>
            <a:r>
              <a:t>  relationships for topology-aware analysis</a:t>
            </a:r>
          </a:p>
          <a:p>
            <a:pPr>
              <a:spcBef>
                <a:spcPts val="200"/>
              </a:spcBef>
              <a:spcAft>
                <a:spcPts val="200"/>
              </a:spcAft>
              <a:defRPr sz="1200">
                <a:solidFill>
                  <a:srgbClr val="BDBDBD"/>
                </a:solidFill>
                <a:latin typeface="Calibri"/>
              </a:defRPr>
            </a:pPr>
            <a:r>
              <a:t>• Reproducible framework: exact configs,</a:t>
            </a:r>
            <a:br/>
            <a:r>
              <a:t>  seeded randomness, automated comparison</a:t>
            </a:r>
          </a:p>
        </p:txBody>
      </p:sp>
      <p:sp>
        <p:nvSpPr>
          <p:cNvPr id="7" name="Rounded Rectangle 6"/>
          <p:cNvSpPr/>
          <p:nvPr/>
        </p:nvSpPr>
        <p:spPr>
          <a:xfrm>
            <a:off x="6217920" y="1371600"/>
            <a:ext cx="5303520" cy="27432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4937760" cy="320040"/>
          </a:xfrm>
          <a:prstGeom prst="rect">
            <a:avLst/>
          </a:prstGeom>
          <a:noFill/>
        </p:spPr>
        <p:txBody>
          <a:bodyPr wrap="square">
            <a:spAutoFit/>
          </a:bodyPr>
          <a:lstStyle/>
          <a:p>
            <a:pPr algn="l">
              <a:defRPr sz="1800" b="1">
                <a:solidFill>
                  <a:srgbClr val="0096D6"/>
                </a:solidFill>
                <a:latin typeface="Calibri"/>
              </a:defRPr>
            </a:pPr>
            <a:r>
              <a:t>Key Findings</a:t>
            </a:r>
          </a:p>
        </p:txBody>
      </p:sp>
      <p:sp>
        <p:nvSpPr>
          <p:cNvPr id="9" name="TextBox 8"/>
          <p:cNvSpPr txBox="1"/>
          <p:nvPr/>
        </p:nvSpPr>
        <p:spPr>
          <a:xfrm>
            <a:off x="6400800" y="1783080"/>
            <a:ext cx="4937760" cy="219456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Colocate is consistently the worst strategy:</a:t>
            </a:r>
            <a:br/>
            <a:r>
              <a:t>  highest latency, longest recovery, most contention</a:t>
            </a:r>
          </a:p>
          <a:p>
            <a:pPr>
              <a:spcBef>
                <a:spcPts val="200"/>
              </a:spcBef>
              <a:spcAft>
                <a:spcPts val="200"/>
              </a:spcAft>
              <a:defRPr sz="1200">
                <a:solidFill>
                  <a:srgbClr val="BDBDBD"/>
                </a:solidFill>
                <a:latin typeface="Calibri"/>
              </a:defRPr>
            </a:pPr>
            <a:r>
              <a:t>• Spread provides best fault isolation:</a:t>
            </a:r>
            <a:br/>
            <a:r>
              <a:t>  minimal latency degradation under chaos</a:t>
            </a:r>
          </a:p>
          <a:p>
            <a:pPr>
              <a:spcBef>
                <a:spcPts val="200"/>
              </a:spcBef>
              <a:spcAft>
                <a:spcPts val="200"/>
              </a:spcAft>
              <a:defRPr sz="1200">
                <a:solidFill>
                  <a:srgbClr val="BDBDBD"/>
                </a:solidFill>
                <a:latin typeface="Calibri"/>
              </a:defRPr>
            </a:pPr>
            <a:r>
              <a:t>• Placement topology significantly affects</a:t>
            </a:r>
            <a:br/>
            <a:r>
              <a:t>  resilience — not just resource availability</a:t>
            </a:r>
          </a:p>
          <a:p>
            <a:pPr>
              <a:spcBef>
                <a:spcPts val="200"/>
              </a:spcBef>
              <a:spcAft>
                <a:spcPts val="200"/>
              </a:spcAft>
              <a:defRPr sz="1200">
                <a:solidFill>
                  <a:srgbClr val="BDBDBD"/>
                </a:solidFill>
                <a:latin typeface="Calibri"/>
              </a:defRPr>
            </a:pPr>
            <a:r>
              <a:t>• Baseline validates methodology: trivial fault</a:t>
            </a:r>
            <a:br/>
            <a:r>
              <a:t>  produces 100% score as expected</a:t>
            </a:r>
          </a:p>
        </p:txBody>
      </p:sp>
      <p:sp>
        <p:nvSpPr>
          <p:cNvPr id="10" name="Rounded Rectangle 9"/>
          <p:cNvSpPr/>
          <p:nvPr/>
        </p:nvSpPr>
        <p:spPr>
          <a:xfrm>
            <a:off x="457200" y="4389120"/>
            <a:ext cx="11064240" cy="118872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389120"/>
            <a:ext cx="10698480" cy="320040"/>
          </a:xfrm>
          <a:prstGeom prst="rect">
            <a:avLst/>
          </a:prstGeom>
          <a:noFill/>
        </p:spPr>
        <p:txBody>
          <a:bodyPr wrap="square">
            <a:spAutoFit/>
          </a:bodyPr>
          <a:lstStyle/>
          <a:p>
            <a:pPr algn="l">
              <a:defRPr sz="1800" b="1">
                <a:solidFill>
                  <a:srgbClr val="F39C12"/>
                </a:solidFill>
                <a:latin typeface="Calibri"/>
              </a:defRPr>
            </a:pPr>
            <a:r>
              <a:t>Future Work</a:t>
            </a:r>
          </a:p>
        </p:txBody>
      </p:sp>
      <p:sp>
        <p:nvSpPr>
          <p:cNvPr id="12" name="TextBox 11"/>
          <p:cNvSpPr txBox="1"/>
          <p:nvPr/>
        </p:nvSpPr>
        <p:spPr>
          <a:xfrm>
            <a:off x="640080" y="4754880"/>
            <a:ext cx="4937760" cy="73152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Multi-fault injection — concurrent faults</a:t>
            </a:r>
            <a:br/>
            <a:r>
              <a:t>  for complex failure scenarios</a:t>
            </a:r>
          </a:p>
          <a:p>
            <a:pPr>
              <a:spcBef>
                <a:spcPts val="200"/>
              </a:spcBef>
              <a:spcAft>
                <a:spcPts val="200"/>
              </a:spcAft>
              <a:defRPr sz="1200">
                <a:solidFill>
                  <a:srgbClr val="BDBDBD"/>
                </a:solidFill>
                <a:latin typeface="Calibri"/>
              </a:defRPr>
            </a:pPr>
            <a:r>
              <a:t>• Larger cluster scale — 20+ nodes, 100+ services</a:t>
            </a:r>
          </a:p>
          <a:p>
            <a:pPr>
              <a:spcBef>
                <a:spcPts val="200"/>
              </a:spcBef>
              <a:spcAft>
                <a:spcPts val="200"/>
              </a:spcAft>
              <a:defRPr sz="1200">
                <a:solidFill>
                  <a:srgbClr val="BDBDBD"/>
                </a:solidFill>
                <a:latin typeface="Calibri"/>
              </a:defRPr>
            </a:pPr>
            <a:r>
              <a:t>• ML-based anomaly detection on collected dataset</a:t>
            </a:r>
          </a:p>
        </p:txBody>
      </p:sp>
      <p:sp>
        <p:nvSpPr>
          <p:cNvPr id="13" name="TextBox 12"/>
          <p:cNvSpPr txBox="1"/>
          <p:nvPr/>
        </p:nvSpPr>
        <p:spPr>
          <a:xfrm>
            <a:off x="6217920" y="4754880"/>
            <a:ext cx="4937760" cy="73152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Custom placement policies — RL-based scheduling</a:t>
            </a:r>
          </a:p>
          <a:p>
            <a:pPr>
              <a:spcBef>
                <a:spcPts val="200"/>
              </a:spcBef>
              <a:spcAft>
                <a:spcPts val="200"/>
              </a:spcAft>
              <a:defRPr sz="1200">
                <a:solidFill>
                  <a:srgbClr val="BDBDBD"/>
                </a:solidFill>
                <a:latin typeface="Calibri"/>
              </a:defRPr>
            </a:pPr>
            <a:r>
              <a:t>• Production-like traffic patterns &amp; workloads</a:t>
            </a:r>
          </a:p>
          <a:p>
            <a:pPr>
              <a:spcBef>
                <a:spcPts val="200"/>
              </a:spcBef>
              <a:spcAft>
                <a:spcPts val="200"/>
              </a:spcAft>
              <a:defRPr sz="1200">
                <a:solidFill>
                  <a:srgbClr val="BDBDBD"/>
                </a:solidFill>
                <a:latin typeface="Calibri"/>
              </a:defRPr>
            </a:pPr>
            <a:r>
              <a:t>• Integration with GitOps for automated remediation</a:t>
            </a:r>
          </a:p>
        </p:txBody>
      </p:sp>
      <p:sp>
        <p:nvSpPr>
          <p:cNvPr id="14" name="Rounded Rectangle 13"/>
          <p:cNvSpPr/>
          <p:nvPr/>
        </p:nvSpPr>
        <p:spPr>
          <a:xfrm>
            <a:off x="457200" y="5760720"/>
            <a:ext cx="11064240" cy="914400"/>
          </a:xfrm>
          <a:prstGeom prst="roundRect">
            <a:avLst/>
          </a:prstGeom>
          <a:solidFill>
            <a:srgbClr val="121222"/>
          </a:solidFill>
          <a:ln w="381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760720"/>
            <a:ext cx="10698480" cy="274320"/>
          </a:xfrm>
          <a:prstGeom prst="rect">
            <a:avLst/>
          </a:prstGeom>
          <a:noFill/>
        </p:spPr>
        <p:txBody>
          <a:bodyPr wrap="square">
            <a:spAutoFit/>
          </a:bodyPr>
          <a:lstStyle/>
          <a:p>
            <a:pPr algn="l">
              <a:defRPr sz="1800" b="1">
                <a:solidFill>
                  <a:srgbClr val="0096D6"/>
                </a:solidFill>
                <a:latin typeface="Calibri"/>
              </a:defRPr>
            </a:pPr>
            <a:r>
              <a:t>Core Message</a:t>
            </a:r>
          </a:p>
        </p:txBody>
      </p:sp>
      <p:sp>
        <p:nvSpPr>
          <p:cNvPr id="16" name="TextBox 15"/>
          <p:cNvSpPr txBox="1"/>
          <p:nvPr/>
        </p:nvSpPr>
        <p:spPr>
          <a:xfrm>
            <a:off x="640080" y="6080760"/>
            <a:ext cx="10698480" cy="548640"/>
          </a:xfrm>
          <a:prstGeom prst="rect">
            <a:avLst/>
          </a:prstGeom>
          <a:noFill/>
        </p:spPr>
        <p:txBody>
          <a:bodyPr wrap="square">
            <a:spAutoFit/>
          </a:bodyPr>
          <a:lstStyle/>
          <a:p>
            <a:pPr algn="l">
              <a:defRPr sz="1400" b="0">
                <a:solidFill>
                  <a:srgbClr val="FFFFFF"/>
                </a:solidFill>
                <a:latin typeface="Calibri"/>
              </a:defRPr>
            </a:pPr>
            <a:r>
              <a:t>Pod placement topology has a measurable and significant impact on microservice resilience under chaos injection. By systematically varying placement strategies and measuring recovery time, inter-service latency, and resource utilization, ChaosProbe demonstrates that topology-aware scheduling is essential for building resilient cloud-native 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