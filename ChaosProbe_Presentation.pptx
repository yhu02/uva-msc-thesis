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645920"/>
            <a:ext cx="9418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  <a:latin typeface="Calibri"/>
              </a:defRPr>
            </a:pPr>
            <a:r>
              <a:t>ChaosProbe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74320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0096D6"/>
                </a:solidFill>
                <a:latin typeface="Calibri"/>
              </a:defRPr>
            </a:pPr>
            <a:r>
              <a:t>Measuring the Impact of Chaos in Differing</a:t>
            </a:r>
            <a:br/>
            <a:r>
              <a:t>Placement Strategies within Cloud Systems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0" y="3840480"/>
            <a:ext cx="393192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420624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BDBDBD"/>
                </a:solidFill>
                <a:latin typeface="Calibri"/>
              </a:defRPr>
            </a:pPr>
            <a:r>
              <a:t>MSc Thesis Defense — University of Amsterdam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84632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090A0"/>
                </a:solidFill>
                <a:latin typeface="Calibri"/>
              </a:defRPr>
            </a:pPr>
            <a:r>
              <a:t>April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Background &amp; Motivation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5303520" cy="18288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498DB"/>
                </a:solidFill>
                <a:latin typeface="Calibri"/>
              </a:defRPr>
            </a:pPr>
            <a:r>
              <a:t>Microservice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4937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Decomposed services with independent lifecycles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Communicate via network (HTTP / gRPC / Redis)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Deployed as containers orchestrated by Kubernetes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Independently scalable — but failures can cascade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71600"/>
            <a:ext cx="5303520" cy="18288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74C3C"/>
                </a:solidFill>
                <a:latin typeface="Calibri"/>
              </a:defRPr>
            </a:pPr>
            <a:r>
              <a:t>The Placement 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737360"/>
            <a:ext cx="4937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K8s scheduler optimizes for resource fit,</a:t>
            </a:r>
            <a:br/>
            <a:r>
              <a:t>  not for resilience or fault isolation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Pod placement determines which services share</a:t>
            </a:r>
            <a:br/>
            <a:r>
              <a:t>  node resources (CPU, memory, disk, network)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Co-located services suffer correlated failures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474720"/>
            <a:ext cx="5303520" cy="146304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47472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39C12"/>
                </a:solidFill>
                <a:latin typeface="Calibri"/>
              </a:defRPr>
            </a:pPr>
            <a:r>
              <a:t>Chaos Engineering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0"/>
            <a:ext cx="49377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Discipline of experimenting on systems to build</a:t>
            </a:r>
            <a:br/>
            <a:r>
              <a:t>  confidence in resilience (Basiri et al., 2016)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Controlled fault injection reveals weaknesses</a:t>
            </a:r>
            <a:br/>
            <a:r>
              <a:t>  before they manifest in production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3474720"/>
            <a:ext cx="5303520" cy="146304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347472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ECC71"/>
                </a:solidFill>
                <a:latin typeface="Calibri"/>
              </a:defRPr>
            </a:pPr>
            <a:r>
              <a:t>Research Gap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840480"/>
            <a:ext cx="49377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Existing work studies placement OR resilience,</a:t>
            </a:r>
            <a:br/>
            <a:r>
              <a:t>  but rarely their interaction under fault injection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No systematic framework to quantify how</a:t>
            </a:r>
            <a:br/>
            <a:r>
              <a:t>  placement topology affects chaos resilience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212080"/>
            <a:ext cx="11064240" cy="13716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521208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6D6"/>
                </a:solidFill>
                <a:latin typeface="Calibri"/>
              </a:defRPr>
            </a:pPr>
            <a:r>
              <a:t>Our Approach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57784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DBDBD"/>
                </a:solidFill>
                <a:latin typeface="Calibri"/>
              </a:defRPr>
            </a:pPr>
            <a:r>
              <a:t>ChaosProbe: an automated framework that systematically varies pod placement strategies, injects faults via LitmusChaos, and measures the response at three layers — aggregate score, kernel/network mechanism, and user-visible outcome — to establish at which layer placement effects appear under each fault class.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6126480"/>
            <a:ext cx="1828800" cy="320040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Deploy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017520" y="6126480"/>
            <a:ext cx="1828800" cy="3200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Place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303520" y="6126480"/>
            <a:ext cx="1828800" cy="32004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Inject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89520" y="6126480"/>
            <a:ext cx="1828800" cy="32004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Measure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875520" y="6126480"/>
            <a:ext cx="1828800" cy="32004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Compare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560320" y="6281928"/>
            <a:ext cx="457200" cy="0"/>
          </a:xfrm>
          <a:prstGeom prst="line">
            <a:avLst/>
          </a:prstGeom>
          <a:ln w="254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4846320" y="6281928"/>
            <a:ext cx="457200" cy="0"/>
          </a:xfrm>
          <a:prstGeom prst="line">
            <a:avLst/>
          </a:prstGeom>
          <a:ln w="254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7132320" y="6281928"/>
            <a:ext cx="457200" cy="0"/>
          </a:xfrm>
          <a:prstGeom prst="line">
            <a:avLst/>
          </a:prstGeom>
          <a:ln w="254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418320" y="6281928"/>
            <a:ext cx="457200" cy="0"/>
          </a:xfrm>
          <a:prstGeom prst="line">
            <a:avLst/>
          </a:prstGeom>
          <a:ln w="254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Research Question &amp; Hypotheses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11064240" cy="777240"/>
          </a:xfrm>
          <a:prstGeom prst="roundRect">
            <a:avLst/>
          </a:prstGeom>
          <a:solidFill>
            <a:srgbClr val="121222"/>
          </a:solidFill>
          <a:ln w="381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Calibri"/>
              </a:defRPr>
            </a:pPr>
            <a:r>
              <a:t>Under which fault classes does pod placement measurably affect mechanism-level behaviour and user-visible outcomes — and when do aggregate resilience scores obscure those effects?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233172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74C3C"/>
                </a:solidFill>
                <a:latin typeface="Calibri"/>
              </a:defRPr>
            </a:pPr>
            <a:r>
              <a:t>Churn (pod-delete)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80760" y="233172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39C12"/>
                </a:solidFill>
                <a:latin typeface="Calibri"/>
              </a:defRPr>
            </a:pPr>
            <a:r>
              <a:t>Load contention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21240" y="233172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9B59B6"/>
                </a:solidFill>
                <a:latin typeface="Calibri"/>
              </a:defRPr>
            </a:pPr>
            <a:r>
              <a:t>Node failure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2651760"/>
            <a:ext cx="1874519" cy="338328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20040" y="2651760"/>
            <a:ext cx="1874519" cy="32004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H1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79" y="3017520"/>
            <a:ext cx="16916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74C3C"/>
                </a:solidFill>
                <a:latin typeface="Calibri"/>
              </a:defRPr>
            </a:pPr>
            <a:r>
              <a:t>The score cannot rank placements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3429000"/>
            <a:ext cx="1691639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ICC_strategy = 0.033 (CI 0.014-0.178): only 3.3% of score variance is between-strategy (7 sessions, 147 iterations). Focal colocate 64.0 vs spread 74.3 (d = 0.46) needs 73 iters/strategy for 80% power; MDE at n=3 is ~51 points.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240279" y="2651760"/>
            <a:ext cx="1874519" cy="338328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240279" y="2651760"/>
            <a:ext cx="1874519" cy="32004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H2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31720" y="3017520"/>
            <a:ext cx="16916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74C3C"/>
                </a:solidFill>
                <a:latin typeface="Calibri"/>
              </a:defRPr>
            </a:pPr>
            <a:r>
              <a:t>Placement moves a reconvergence signature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31720" y="3429000"/>
            <a:ext cx="1691639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Churn flushes conntrack state: spread 38.5% vs colocate 2.7% median; spread &gt; colocate in 7/7 sessions (sign p = .016, Wilcoxon p = .023). CPU throttling corroborates (colocate lowest, 6/7).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60519" y="2651760"/>
            <a:ext cx="1874519" cy="338328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160519" y="2651760"/>
            <a:ext cx="1874519" cy="32004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H3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51959" y="3017520"/>
            <a:ext cx="16916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74C3C"/>
                </a:solidFill>
                <a:latin typeface="Calibri"/>
              </a:defRPr>
            </a:pPr>
            <a:r>
              <a:t>The mechanism is decoupled from the user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51959" y="3429000"/>
            <a:ext cx="1691639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Flush vs dependent-route p95: ρ = 0.07 (n.s., TOST-decoupled) while the control route shows ρ = 0.29* — a run-level-confound signature, not dependency-specific user impact.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80759" y="2651760"/>
            <a:ext cx="1874519" cy="338328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080759" y="2651760"/>
            <a:ext cx="1874519" cy="32004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H4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72199" y="3017520"/>
            <a:ext cx="16916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39C12"/>
                </a:solidFill>
                <a:latin typeface="Calibri"/>
              </a:defRPr>
            </a:pPr>
            <a:r>
              <a:t>Under load, mechanism only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72199" y="3429000"/>
            <a:ext cx="1691639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East-west effect replicates: colocate ~1.3-1.4x lower inter-service p95 than spread (two i=4 batches). The user-layer effect did not survive replication — no user-visible placement claim under load.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00999" y="2651760"/>
            <a:ext cx="1874519" cy="338328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000999" y="2651760"/>
            <a:ext cx="1874519" cy="32004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H5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92439" y="3017520"/>
            <a:ext cx="16916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39C12"/>
                </a:solidFill>
                <a:latin typeface="Calibri"/>
              </a:defRPr>
            </a:pPr>
            <a:r>
              <a:t>A graph metric separates the placement regimes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92439" y="3429000"/>
            <a:ext cx="1691639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Cross-node call fraction (dependency graph + placement, pre-chaos): the node-local pair (colocate, best-fit; fraction ≈ 0) takes the two lowest east-west tails of 8 in BOTH load batches (joint null ≈ 0.0013), ~1.25× below the spreading cluster. Continuous ρ = 0.79 (batch 1) did not replicate (0.25 n.s.) — a separator, not a smooth law.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921239" y="2651760"/>
            <a:ext cx="1874519" cy="338328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9921239" y="2651760"/>
            <a:ext cx="1874519" cy="320040"/>
          </a:xfrm>
          <a:prstGeom prst="round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H6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12679" y="3017520"/>
            <a:ext cx="16916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9B59B6"/>
                </a:solidFill>
                <a:latin typeface="Calibri"/>
              </a:defRPr>
            </a:pPr>
            <a:r>
              <a:t>Latency vs availability trade-off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12679" y="3429000"/>
            <a:ext cx="1691639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Node drain: colocate loses 11/11 services (100% blast) vs spread 2/11 (18%). 6-strategy gradient: observed blast = placement-predicted blast (11, 4, 3, 3, 2, 2; ρ = 1.0, n = 6). Recovery is NOT monotone in blast — ~4× (10.3 s vs 2.6 s) only at the colocate-vs-spread extremes.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6446520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9090A0"/>
                </a:solidFill>
                <a:latin typeface="Calibri"/>
              </a:defRPr>
            </a:pPr>
            <a:r>
              <a:t>Each hypothesis is falsifiable from ChaosProbe-collected data. The literature predictions L1-L3 are kept as context: inapplicable in this regime, not refuted.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Related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3474720" cy="41148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1ABC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BC9C"/>
                </a:solidFill>
                <a:latin typeface="Calibri"/>
              </a:defRPr>
            </a:pPr>
            <a:r>
              <a:t>Pod Placement &amp; Scheduling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1089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Borg (Verma et al., 2015)</a:t>
            </a:r>
            <a:br/>
            <a:r>
              <a:t>  Resource-aware bin-packing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Medea (Garefalakis et al., 2018)</a:t>
            </a:r>
            <a:br/>
            <a:r>
              <a:t>  Topology spread constraints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DeathStarBench (Gan et al., 2019)</a:t>
            </a:r>
            <a:br/>
            <a:r>
              <a:t>  Dependency-graph-aware placement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Mars (2011); Delimitrou (2014)</a:t>
            </a:r>
            <a:br/>
            <a:r>
              <a:t>  Contention-aware co-scheduling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Liu et al. (arXiv 2507.16109, 2025)</a:t>
            </a:r>
            <a:br/>
            <a:r>
              <a:t>  Cloud-edge placement under churn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06240" y="1371600"/>
            <a:ext cx="3474720" cy="41148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0" y="14173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74C3C"/>
                </a:solidFill>
                <a:latin typeface="Calibri"/>
              </a:defRPr>
            </a:pPr>
            <a:r>
              <a:t>Chaos Engineering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1828800"/>
            <a:ext cx="31089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Principles of Chaos Engineering</a:t>
            </a:r>
            <a:br/>
            <a:r>
              <a:t>  (Basiri et al., 2016)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LitmusChaos — CNCF sandbox</a:t>
            </a:r>
            <a:br/>
            <a:r>
              <a:t>  ChaosEngine CRDs + ChaosCenter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Chaos Monkey (Netflix, 2011)</a:t>
            </a:r>
            <a:br/>
            <a:r>
              <a:t>  Random instance termination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Mutiny! K8s churn injection</a:t>
            </a:r>
            <a:br/>
            <a:r>
              <a:t>  (DSN 2024) — closest peer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Tail at Scale (Dean &amp; Barroso,</a:t>
            </a:r>
            <a:br/>
            <a:r>
              <a:t>  2013) — latency sensitivity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79" y="1371600"/>
            <a:ext cx="3474720" cy="41148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14173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96D6"/>
                </a:solidFill>
                <a:latin typeface="Calibri"/>
              </a:defRPr>
            </a:pPr>
            <a:r>
              <a:t>Gap — Our Contribution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0" y="1828800"/>
            <a:ext cx="31089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Existing work studies placement</a:t>
            </a:r>
            <a:br/>
            <a:r>
              <a:t>  OR resilience — not their interaction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No framework systematically varies</a:t>
            </a:r>
            <a:br/>
            <a:r>
              <a:t>  placement under controlled chaos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Missing: quantitative comparison</a:t>
            </a:r>
            <a:br/>
            <a:r>
              <a:t>  across multiple dimensions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ChaosProbe bridges this gap:</a:t>
            </a:r>
            <a:br/>
            <a:r>
              <a:t>  8 placements × 3 fault classes,</a:t>
            </a:r>
            <a:br/>
            <a:r>
              <a:t>  layered metrics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Graph storage preserves causal</a:t>
            </a:r>
            <a:br/>
            <a:r>
              <a:t>  topology for 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7607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39C12"/>
                </a:solidFill>
                <a:latin typeface="Calibri"/>
              </a:defRPr>
            </a:pPr>
            <a:r>
              <a:t>Expected Contention by Placement (Literature Predictions L1–L3 — tested as context)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57200" y="5989320"/>
          <a:ext cx="11247120" cy="777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15544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Category</a:t>
                      </a:r>
                    </a:p>
                  </a:txBody>
                  <a:tcPr marL="76200" marR="76200" marT="38100" marB="38100">
                    <a:solidFill>
                      <a:srgbClr val="F39C1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 marL="76200" marR="76200" marT="38100" marB="38100">
                    <a:solidFill>
                      <a:srgbClr val="F39C1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Colocate Impact</a:t>
                      </a:r>
                    </a:p>
                  </a:txBody>
                  <a:tcPr marL="76200" marR="76200" marT="38100" marB="38100">
                    <a:solidFill>
                      <a:srgbClr val="F39C1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Key Reference</a:t>
                      </a:r>
                    </a:p>
                  </a:txBody>
                  <a:tcPr marL="76200" marR="76200" marT="38100" marB="38100">
                    <a:solidFill>
                      <a:srgbClr val="F39C12"/>
                    </a:solidFill>
                  </a:tcPr>
                </a:tc>
              </a:tr>
              <a:tr h="15544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CPU Contention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Millicores, throttle seconds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Shared cores → throttling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Burns et al. (2016)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15544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Memory Pressure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Working set bytes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Shared memory → evictions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Verma et al. (2015)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15544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Network Latency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HTTP response time (ms)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Shared network stack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Gan et al. (2019)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15544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Disk I/O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Sequential R/W bytes/s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Shared bandwidth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Dean &amp; Barroso (2013)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Placement Strategies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DBDBD"/>
                </a:solidFill>
                <a:latin typeface="Calibri"/>
              </a:defRPr>
            </a:pPr>
            <a:r>
              <a:t>Independent variable: 6 strategies + baseline + default scheduler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1554480"/>
            <a:ext cx="2788920" cy="219456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1752" y="1600200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7F8C8D"/>
                </a:solidFill>
                <a:latin typeface="Calibri"/>
              </a:defRPr>
            </a:pPr>
            <a:r>
              <a:t>Baseline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" y="1901952"/>
            <a:ext cx="1325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Null-injection control</a:t>
            </a:r>
            <a:br/>
            <a:r>
              <a:t>Default scheduler + trivial fault</a:t>
            </a:r>
            <a:br/>
            <a:r>
              <a:t>(1% CPU, 1s) — validates methodology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56816" y="2139696"/>
            <a:ext cx="164592" cy="164592"/>
          </a:xfrm>
          <a:prstGeom prst="roundRect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500884" y="2139696"/>
            <a:ext cx="164592" cy="164592"/>
          </a:xfrm>
          <a:prstGeom prst="roundRect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956816" y="2395728"/>
            <a:ext cx="164592" cy="164592"/>
          </a:xfrm>
          <a:prstGeom prst="roundRect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500884" y="2395728"/>
            <a:ext cx="164592" cy="164592"/>
          </a:xfrm>
          <a:prstGeom prst="roundRect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1752" y="2971800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ECC71"/>
                </a:solidFill>
                <a:latin typeface="Calibri"/>
              </a:defRPr>
            </a:pPr>
            <a:r>
              <a:t>Contention: None (control)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1752" y="3182112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090A0"/>
                </a:solidFill>
                <a:latin typeface="Calibri"/>
              </a:defRPr>
            </a:pPr>
            <a:r>
              <a:t>Expected: 100% score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2" y="3401568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096D6"/>
                </a:solidFill>
                <a:latin typeface="Calibri"/>
              </a:defRPr>
            </a:pPr>
            <a:r>
              <a:t>Basiri et al., IEEE SW 2016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00400" y="1554480"/>
            <a:ext cx="2788920" cy="219456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73552" y="1600200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498DB"/>
                </a:solidFill>
                <a:latin typeface="Calibri"/>
              </a:defRPr>
            </a:pPr>
            <a:r>
              <a:t>Default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73552" y="1901952"/>
            <a:ext cx="1325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Default K8s scheduler</a:t>
            </a:r>
            <a:br/>
            <a:r>
              <a:t>Full chaos injection</a:t>
            </a:r>
            <a:br/>
            <a:r>
              <a:t>Scheduler-determined placement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28616" y="2139696"/>
            <a:ext cx="164592" cy="164592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472683" y="2139696"/>
            <a:ext cx="164592" cy="164592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928616" y="2395728"/>
            <a:ext cx="164592" cy="164592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472683" y="2395728"/>
            <a:ext cx="164592" cy="164592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73552" y="2971800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39C12"/>
                </a:solidFill>
                <a:latin typeface="Calibri"/>
              </a:defRPr>
            </a:pPr>
            <a:r>
              <a:t>Contention: Scheduler-set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73552" y="3182112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090A0"/>
                </a:solidFill>
                <a:latin typeface="Calibri"/>
              </a:defRPr>
            </a:pPr>
            <a:r>
              <a:t>Placement null hypothesis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73552" y="3401568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096D6"/>
                </a:solidFill>
                <a:latin typeface="Calibri"/>
              </a:defRPr>
            </a:pPr>
            <a:r>
              <a:t>Burns et al., ACM Queue 2016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1554480"/>
            <a:ext cx="2788920" cy="219456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45352" y="1600200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74C3C"/>
                </a:solidFill>
                <a:latin typeface="Calibri"/>
              </a:defRPr>
            </a:pPr>
            <a:r>
              <a:t>Colocate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5352" y="1901952"/>
            <a:ext cx="1325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All pods pinned to a single node</a:t>
            </a:r>
            <a:br/>
            <a:r>
              <a:t>via nodeSelector (hostname)</a:t>
            </a:r>
            <a:br/>
            <a:r>
              <a:t>Maximal co-location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900416" y="2139696"/>
            <a:ext cx="164592" cy="164592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094726" y="2235708"/>
            <a:ext cx="164592" cy="164592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900416" y="2331720"/>
            <a:ext cx="164592" cy="164592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094726" y="2427732"/>
            <a:ext cx="164592" cy="164592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45352" y="2971800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74C3C"/>
                </a:solidFill>
                <a:latin typeface="Calibri"/>
              </a:defRPr>
            </a:pPr>
            <a:r>
              <a:t>Contention: Maximum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45352" y="3182112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090A0"/>
                </a:solidFill>
                <a:latin typeface="Calibri"/>
              </a:defRPr>
            </a:pPr>
            <a:r>
              <a:t>Expected: worst resilience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45352" y="3401568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096D6"/>
                </a:solidFill>
                <a:latin typeface="Calibri"/>
              </a:defRPr>
            </a:pPr>
            <a:r>
              <a:t>Mars 2011; Delimitrou 2014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144000" y="1554480"/>
            <a:ext cx="2788920" cy="219456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217152" y="1600200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ECC71"/>
                </a:solidFill>
                <a:latin typeface="Calibri"/>
              </a:defRPr>
            </a:pPr>
            <a:r>
              <a:t>Spread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17152" y="1901952"/>
            <a:ext cx="1325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Even distribution across workers</a:t>
            </a:r>
            <a:br/>
            <a:r>
              <a:t>via per-node nodeSelector</a:t>
            </a:r>
            <a:br/>
            <a:r>
              <a:t>Minimal per-node contention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716768" y="2267712"/>
            <a:ext cx="164592" cy="164592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11027664" y="2267712"/>
            <a:ext cx="164592" cy="164592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1338560" y="2267712"/>
            <a:ext cx="164592" cy="164592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1649456" y="2267712"/>
            <a:ext cx="164592" cy="164592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217152" y="2971800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ECC71"/>
                </a:solidFill>
                <a:latin typeface="Calibri"/>
              </a:defRPr>
            </a:pPr>
            <a:r>
              <a:t>Contention: Minimum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17152" y="3182112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090A0"/>
                </a:solidFill>
                <a:latin typeface="Calibri"/>
              </a:defRPr>
            </a:pPr>
            <a:r>
              <a:t>Expected: best isolation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17152" y="3401568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096D6"/>
                </a:solidFill>
                <a:latin typeface="Calibri"/>
              </a:defRPr>
            </a:pPr>
            <a:r>
              <a:t>Medea (Garefalakis 2018)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28600" y="4023360"/>
            <a:ext cx="2788920" cy="219456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01752" y="4069080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39C12"/>
                </a:solidFill>
                <a:latin typeface="Calibri"/>
              </a:defRPr>
            </a:pPr>
            <a:r>
              <a:t>Random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01752" y="4370832"/>
            <a:ext cx="1325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Seeded random assignment</a:t>
            </a:r>
            <a:br/>
            <a:r>
              <a:t>Reproducible null baseline</a:t>
            </a:r>
            <a:br/>
            <a:r>
              <a:t>for topology effects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879092" y="4608576"/>
            <a:ext cx="164592" cy="164592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2423160" y="4864608"/>
            <a:ext cx="164592" cy="164592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1879092" y="4864608"/>
            <a:ext cx="164592" cy="164592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2423160" y="4608576"/>
            <a:ext cx="164592" cy="164592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01752" y="5440680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39C12"/>
                </a:solidFill>
                <a:latin typeface="Calibri"/>
              </a:defRPr>
            </a:pPr>
            <a:r>
              <a:t>Contention: Variable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01752" y="5650992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090A0"/>
                </a:solidFill>
                <a:latin typeface="Calibri"/>
              </a:defRPr>
            </a:pPr>
            <a:r>
              <a:t>Seeded; reproducible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01752" y="5870448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096D6"/>
                </a:solidFill>
                <a:latin typeface="Calibri"/>
              </a:defRPr>
            </a:pPr>
            <a:r>
              <a:t>Sparrow (Ousterhout SOSP 2013)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200400" y="4023360"/>
            <a:ext cx="2788920" cy="219456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273552" y="4069080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9B59B6"/>
                </a:solidFill>
                <a:latin typeface="Calibri"/>
              </a:defRPr>
            </a:pPr>
            <a:r>
              <a:t>Adversarial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273552" y="4370832"/>
            <a:ext cx="1325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Heavy pods → single node (worst-fit)</a:t>
            </a:r>
            <a:br/>
            <a:r>
              <a:t>Light pods → remaining nodes</a:t>
            </a:r>
            <a:br/>
            <a:r>
              <a:t>Intentional CPU/mem hotspot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850892" y="4608576"/>
            <a:ext cx="164592" cy="164592"/>
          </a:xfrm>
          <a:prstGeom prst="round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5045202" y="4704588"/>
            <a:ext cx="164592" cy="164592"/>
          </a:xfrm>
          <a:prstGeom prst="round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5394959" y="4736592"/>
            <a:ext cx="164592" cy="164592"/>
          </a:xfrm>
          <a:prstGeom prst="round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5628131" y="4864608"/>
            <a:ext cx="164592" cy="164592"/>
          </a:xfrm>
          <a:prstGeom prst="round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273552" y="5440680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74C3C"/>
                </a:solidFill>
                <a:latin typeface="Calibri"/>
              </a:defRPr>
            </a:pPr>
            <a:r>
              <a:t>Contention: High (asymmetric)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273552" y="5650992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090A0"/>
                </a:solidFill>
                <a:latin typeface="Calibri"/>
              </a:defRPr>
            </a:pPr>
            <a:r>
              <a:t>Resource-weighted hotspot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273552" y="5870448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096D6"/>
                </a:solidFill>
                <a:latin typeface="Calibri"/>
              </a:defRPr>
            </a:pPr>
            <a:r>
              <a:t>Worst-fit; Cortez 2017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172200" y="4023360"/>
            <a:ext cx="2788920" cy="219456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245352" y="4069080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ECC71"/>
                </a:solidFill>
                <a:latin typeface="Calibri"/>
              </a:defRPr>
            </a:pPr>
            <a:r>
              <a:t>Best-fit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245352" y="4370832"/>
            <a:ext cx="1325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Pack into fewest nodes</a:t>
            </a:r>
            <a:br/>
            <a:r>
              <a:t>(bin-packing decreasing)</a:t>
            </a:r>
            <a:br/>
            <a:r>
              <a:t>Borg-style resource scoring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7822692" y="4608576"/>
            <a:ext cx="164592" cy="164592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8017002" y="4704588"/>
            <a:ext cx="164592" cy="164592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7900416" y="4832604"/>
            <a:ext cx="164592" cy="164592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8561070" y="4736592"/>
            <a:ext cx="164592" cy="164592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245352" y="5440680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39C12"/>
                </a:solidFill>
                <a:latin typeface="Calibri"/>
              </a:defRPr>
            </a:pPr>
            <a:r>
              <a:t>Contention: Moderate (packed)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245352" y="5650992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090A0"/>
                </a:solidFill>
                <a:latin typeface="Calibri"/>
              </a:defRPr>
            </a:pPr>
            <a:r>
              <a:t>Minimizes nodes used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245352" y="5870448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096D6"/>
                </a:solidFill>
                <a:latin typeface="Calibri"/>
              </a:defRPr>
            </a:pPr>
            <a:r>
              <a:t>Borg (Verma 2015; Burns 2016)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9144000" y="4023360"/>
            <a:ext cx="2788920" cy="219456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217152" y="4069080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6D6"/>
                </a:solidFill>
                <a:latin typeface="Calibri"/>
              </a:defRPr>
            </a:pPr>
            <a:r>
              <a:t>Dependency-aware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217152" y="4370832"/>
            <a:ext cx="1325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Co-locate communicating services</a:t>
            </a:r>
            <a:br/>
            <a:r>
              <a:t>via service-graph partitioning</a:t>
            </a:r>
            <a:br/>
            <a:r>
              <a:t>(BFS from entry-point root)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10794492" y="4640580"/>
            <a:ext cx="164592" cy="164592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ounded Rectangle 78"/>
          <p:cNvSpPr/>
          <p:nvPr/>
        </p:nvSpPr>
        <p:spPr>
          <a:xfrm>
            <a:off x="10988802" y="4736592"/>
            <a:ext cx="164592" cy="164592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11416284" y="4672584"/>
            <a:ext cx="164592" cy="164592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11571732" y="4832604"/>
            <a:ext cx="164592" cy="164592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217152" y="5440680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39C12"/>
                </a:solidFill>
                <a:latin typeface="Calibri"/>
              </a:defRPr>
            </a:pPr>
            <a:r>
              <a:t>Contention: Moderate (grouped)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217152" y="5650992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090A0"/>
                </a:solidFill>
                <a:latin typeface="Calibri"/>
              </a:defRPr>
            </a:pPr>
            <a:r>
              <a:t>Preserves service-graph edges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217152" y="5870448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096D6"/>
                </a:solidFill>
                <a:latin typeface="Calibri"/>
              </a:defRPr>
            </a:pPr>
            <a:r>
              <a:t>DeathStarBench (Gan ASPLOS 2019)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28600" y="6355080"/>
            <a:ext cx="11750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090A0"/>
                </a:solidFill>
                <a:latin typeface="Calibri"/>
              </a:defRPr>
            </a:pPr>
            <a:r>
              <a:t>Analytic weight: the churn findings (H2 conntrack reconvergence, H3 decoupling) rest on the colocate vs. spread locality contrast. All 8 placements enter the load matrix — H5's cross-node fraction is computed per strategy (n = 8, two independent batches) — and H6 spans the full 6-strategy gradient under node drain (observed blast = predicted for every strategy), with the recovery contrast scoped to the extremes.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Experimental Setup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5486400" cy="32004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96D6"/>
                </a:solidFill>
                <a:latin typeface="Calibri"/>
              </a:defRPr>
            </a:pPr>
            <a:r>
              <a:t>Target Application — Google Online Boutique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1828800"/>
            <a:ext cx="1645920" cy="365760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frontend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377440"/>
            <a:ext cx="1097280" cy="3200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productcatalog</a:t>
            </a:r>
          </a:p>
        </p:txBody>
      </p:sp>
      <p:cxnSp>
        <p:nvCxnSpPr>
          <p:cNvPr id="8" name="Connector 7"/>
          <p:cNvCxnSpPr/>
          <p:nvPr/>
        </p:nvCxnSpPr>
        <p:spPr>
          <a:xfrm flipH="1">
            <a:off x="1188719" y="2194560"/>
            <a:ext cx="2194561" cy="182880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011680" y="2377440"/>
            <a:ext cx="1097280" cy="3200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currency</a:t>
            </a:r>
          </a:p>
        </p:txBody>
      </p:sp>
      <p:cxnSp>
        <p:nvCxnSpPr>
          <p:cNvPr id="10" name="Connector 9"/>
          <p:cNvCxnSpPr/>
          <p:nvPr/>
        </p:nvCxnSpPr>
        <p:spPr>
          <a:xfrm flipH="1">
            <a:off x="2560320" y="2194560"/>
            <a:ext cx="822960" cy="182880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3383280" y="2377440"/>
            <a:ext cx="1097280" cy="3200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cart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383280" y="2194560"/>
            <a:ext cx="548640" cy="182880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754880" y="2377440"/>
            <a:ext cx="1097280" cy="3200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recommend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383280" y="2194560"/>
            <a:ext cx="1920240" cy="182880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1554480" y="2926080"/>
            <a:ext cx="1097280" cy="3200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checkout</a:t>
            </a:r>
          </a:p>
        </p:txBody>
      </p:sp>
      <p:cxnSp>
        <p:nvCxnSpPr>
          <p:cNvPr id="16" name="Connector 15"/>
          <p:cNvCxnSpPr/>
          <p:nvPr/>
        </p:nvCxnSpPr>
        <p:spPr>
          <a:xfrm flipH="1">
            <a:off x="2103120" y="2194560"/>
            <a:ext cx="1280160" cy="731520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3200400" y="2926080"/>
            <a:ext cx="1097280" cy="32004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redis-cart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108960" y="2697480"/>
            <a:ext cx="640079" cy="228600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640080" y="3474720"/>
            <a:ext cx="1097280" cy="3200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email</a:t>
            </a:r>
          </a:p>
        </p:txBody>
      </p:sp>
      <p:cxnSp>
        <p:nvCxnSpPr>
          <p:cNvPr id="20" name="Connector 19"/>
          <p:cNvCxnSpPr/>
          <p:nvPr/>
        </p:nvCxnSpPr>
        <p:spPr>
          <a:xfrm flipH="1">
            <a:off x="1188719" y="3246120"/>
            <a:ext cx="914401" cy="228600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2011680" y="3474720"/>
            <a:ext cx="1097280" cy="3200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payment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2103120" y="3246120"/>
            <a:ext cx="457200" cy="228600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3383280" y="3474720"/>
            <a:ext cx="1097280" cy="3200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shipping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103120" y="3246120"/>
            <a:ext cx="1828800" cy="228600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4754880" y="3474720"/>
            <a:ext cx="1097280" cy="3200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ad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3383280" y="2194560"/>
            <a:ext cx="1920240" cy="1280160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40080" y="393192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090A0"/>
                </a:solidFill>
                <a:latin typeface="Calibri"/>
              </a:defRPr>
            </a:pPr>
            <a:r>
              <a:t>11 services (10 polyglot microservices + Redis)</a:t>
            </a:r>
            <a:br/>
            <a:r>
              <a:t>Single replica per service — 100% pod-delete = full unavailability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7920" y="1371600"/>
            <a:ext cx="5303520" cy="201168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137160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7F8C8D"/>
                </a:solidFill>
                <a:latin typeface="Calibri"/>
              </a:defRPr>
            </a:pPr>
            <a:r>
              <a:t>Cluster Topology (Vagrant / libvirt)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0" y="1737360"/>
            <a:ext cx="1554480" cy="640080"/>
          </a:xfrm>
          <a:prstGeom prst="roundRect">
            <a:avLst/>
          </a:prstGeom>
          <a:solidFill>
            <a:srgbClr val="223355"/>
          </a:solidFill>
          <a:ln w="127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92240" y="1737360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96D6"/>
                </a:solidFill>
                <a:latin typeface="Calibri"/>
              </a:defRPr>
            </a:pPr>
            <a:r>
              <a:t>cp1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92240" y="196596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2 vCPU</a:t>
            </a:r>
            <a:br/>
            <a:r>
              <a:t>12 GiB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46720" y="1737360"/>
            <a:ext cx="731520" cy="640080"/>
          </a:xfrm>
          <a:prstGeom prst="roundRect">
            <a:avLst/>
          </a:prstGeom>
          <a:solidFill>
            <a:srgbClr val="2244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92440" y="1737360"/>
            <a:ext cx="640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ECC71"/>
                </a:solidFill>
                <a:latin typeface="Calibri"/>
              </a:defRPr>
            </a:pPr>
            <a:r>
              <a:t>w1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92440" y="196596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2 vCPU</a:t>
            </a:r>
            <a:br/>
            <a:r>
              <a:t>4 GiB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869680" y="1737360"/>
            <a:ext cx="731520" cy="640080"/>
          </a:xfrm>
          <a:prstGeom prst="roundRect">
            <a:avLst/>
          </a:prstGeom>
          <a:solidFill>
            <a:srgbClr val="2244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915400" y="1737360"/>
            <a:ext cx="640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ECC71"/>
                </a:solidFill>
                <a:latin typeface="Calibri"/>
              </a:defRPr>
            </a:pPr>
            <a:r>
              <a:t>w2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15400" y="196596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2 vCPU</a:t>
            </a:r>
            <a:br/>
            <a:r>
              <a:t>4 GiB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692640" y="1737360"/>
            <a:ext cx="731520" cy="640080"/>
          </a:xfrm>
          <a:prstGeom prst="roundRect">
            <a:avLst/>
          </a:prstGeom>
          <a:solidFill>
            <a:srgbClr val="2244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738360" y="1737360"/>
            <a:ext cx="640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ECC71"/>
                </a:solidFill>
                <a:latin typeface="Calibri"/>
              </a:defRPr>
            </a:pPr>
            <a:r>
              <a:t>w3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38360" y="196596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2 vCPU</a:t>
            </a:r>
            <a:br/>
            <a:r>
              <a:t>4 GiB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515600" y="1737360"/>
            <a:ext cx="731520" cy="640080"/>
          </a:xfrm>
          <a:prstGeom prst="roundRect">
            <a:avLst/>
          </a:prstGeom>
          <a:solidFill>
            <a:srgbClr val="2244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561320" y="1737360"/>
            <a:ext cx="640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ECC71"/>
                </a:solidFill>
                <a:latin typeface="Calibri"/>
              </a:defRPr>
            </a:pPr>
            <a:r>
              <a:t>w4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61320" y="196596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2 vCPU</a:t>
            </a:r>
            <a:br/>
            <a:r>
              <a:t>4 GiB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00800" y="246888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090A0"/>
                </a:solidFill>
                <a:latin typeface="Calibri"/>
              </a:defRPr>
            </a:pPr>
            <a:r>
              <a:t>K8s v1.28.6 • Calico CNI • containerd 1.7.11 • Total: 10 vCPU, 28 GiB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57200" y="4754880"/>
            <a:ext cx="5486400" cy="192024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" y="475488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74C3C"/>
                </a:solidFill>
                <a:latin typeface="Calibri"/>
              </a:defRPr>
            </a:pPr>
            <a:r>
              <a:t>Three Fault Classes × Placement</a:t>
            </a:r>
          </a:p>
        </p:txBody>
      </p:sp>
      <p:graphicFrame>
        <p:nvGraphicFramePr>
          <p:cNvPr id="48" name="Table 47"/>
          <p:cNvGraphicFramePr>
            <a:graphicFrameLocks noGrp="1"/>
          </p:cNvGraphicFramePr>
          <p:nvPr/>
        </p:nvGraphicFramePr>
        <p:xfrm>
          <a:off x="640080" y="5074920"/>
          <a:ext cx="51206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1280160"/>
                <a:gridCol w="1280160"/>
                <a:gridCol w="1280160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6200" marR="76200" marT="38100" marB="38100">
                    <a:solidFill>
                      <a:srgbClr val="E74C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Churn (pod-delete)</a:t>
                      </a:r>
                    </a:p>
                  </a:txBody>
                  <a:tcPr marL="76200" marR="76200" marT="38100" marB="38100">
                    <a:solidFill>
                      <a:srgbClr val="E74C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Load (Locust spike)</a:t>
                      </a:r>
                    </a:p>
                  </a:txBody>
                  <a:tcPr marL="76200" marR="76200" marT="38100" marB="38100">
                    <a:solidFill>
                      <a:srgbClr val="E74C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Node failure (drain)</a:t>
                      </a:r>
                    </a:p>
                  </a:txBody>
                  <a:tcPr marL="76200" marR="76200" marT="38100" marB="38100">
                    <a:solidFill>
                      <a:srgbClr val="E74C3C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FFFFFF"/>
                          </a:solidFill>
                          <a:latin typeface="Calibri"/>
                        </a:rPr>
                        <a:t>Stressor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FFFFFF"/>
                          </a:solidFill>
                          <a:latin typeface="Calibri"/>
                        </a:rPr>
                        <a:t>Kill target every 15s, 120s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FFFFFF"/>
                          </a:solidFill>
                          <a:latin typeface="Calibri"/>
                        </a:rPr>
                        <a:t>200-user sustained spike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FFFFFF"/>
                          </a:solidFill>
                          <a:latin typeface="Calibri"/>
                        </a:rPr>
                        <a:t>Drain the target's node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FFFFFF"/>
                          </a:solidFill>
                          <a:latin typeface="Calibri"/>
                        </a:rPr>
                        <a:t>Target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FFFFFF"/>
                          </a:solidFill>
                          <a:latin typeface="Calibri"/>
                        </a:rPr>
                        <a:t>productcatalogservice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FFFFFF"/>
                          </a:solidFill>
                          <a:latin typeface="Calibri"/>
                        </a:rPr>
                        <a:t>whole app under load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FFFFFF"/>
                          </a:solidFill>
                          <a:latin typeface="Calibri"/>
                        </a:rPr>
                        <a:t>node hosting the target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FFFFFF"/>
                          </a:solidFill>
                          <a:latin typeface="Calibri"/>
                        </a:rPr>
                        <a:t>Layer read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FFFFFF"/>
                          </a:solidFill>
                          <a:latin typeface="Calibri"/>
                        </a:rPr>
                        <a:t>Score + mechanism + user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FFFFFF"/>
                          </a:solidFill>
                          <a:latin typeface="Calibri"/>
                        </a:rPr>
                        <a:t>East-west + user routes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FFFFFF"/>
                          </a:solidFill>
                          <a:latin typeface="Calibri"/>
                        </a:rPr>
                        <a:t>Blast radius + recovery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FFFFFF"/>
                          </a:solidFill>
                          <a:latin typeface="Calibri"/>
                        </a:rPr>
                        <a:t>Hypotheses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FFFFFF"/>
                          </a:solidFill>
                          <a:latin typeface="Calibri"/>
                        </a:rPr>
                        <a:t>H1–H3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FFFFFF"/>
                          </a:solidFill>
                          <a:latin typeface="Calibri"/>
                        </a:rPr>
                        <a:t>H4–H5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FFFFFF"/>
                          </a:solidFill>
                          <a:latin typeface="Calibri"/>
                        </a:rPr>
                        <a:t>H6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</a:tbl>
          </a:graphicData>
        </a:graphic>
      </p:graphicFrame>
      <p:sp>
        <p:nvSpPr>
          <p:cNvPr id="49" name="Rounded Rectangle 48"/>
          <p:cNvSpPr/>
          <p:nvPr/>
        </p:nvSpPr>
        <p:spPr>
          <a:xfrm>
            <a:off x="6217920" y="3566160"/>
            <a:ext cx="5303520" cy="100584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00800" y="356616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7F8C8D"/>
                </a:solidFill>
                <a:latin typeface="Calibri"/>
              </a:defRPr>
            </a:pPr>
            <a:r>
              <a:t>Baseline — Methodology Control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00800" y="388620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Swaps pod-delete → trivial pod-cpu-hog (DURATION=1s, CPU_LOAD=1%).</a:t>
            </a:r>
            <a:br/>
            <a:r>
              <a:t>Validates probes &amp; scoring: expected 100%, 0 recovery cycles — any drift</a:t>
            </a:r>
            <a:br/>
            <a:r>
              <a:t>indicates pre-existing instability rather than placement effects.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217920" y="4754880"/>
            <a:ext cx="5303520" cy="192024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400800" y="475488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9B59B6"/>
                </a:solidFill>
                <a:latin typeface="Calibri"/>
              </a:defRPr>
            </a:pPr>
            <a:r>
              <a:t>Infrastructure Components</a:t>
            </a:r>
          </a:p>
        </p:txBody>
      </p:sp>
      <p:graphicFrame>
        <p:nvGraphicFramePr>
          <p:cNvPr id="54" name="Table 53"/>
          <p:cNvGraphicFramePr>
            <a:graphicFrameLocks noGrp="1"/>
          </p:cNvGraphicFramePr>
          <p:nvPr/>
        </p:nvGraphicFramePr>
        <p:xfrm>
          <a:off x="6400800" y="5074920"/>
          <a:ext cx="49377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2468880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Component</a:t>
                      </a:r>
                    </a:p>
                  </a:txBody>
                  <a:tcPr marL="76200" marR="76200" marT="38100" marB="38100">
                    <a:solidFill>
                      <a:srgbClr val="9B59B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Purpose</a:t>
                      </a:r>
                    </a:p>
                  </a:txBody>
                  <a:tcPr marL="76200" marR="76200" marT="38100" marB="38100">
                    <a:solidFill>
                      <a:srgbClr val="9B59B6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LitmusChaos + ChaosCenter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Fault injection engine (Helm)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Prometheus + kube-state-metrics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Cluster metrics (PromQL)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Neo4j 5 Community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Graph storage (14 node types, 18 rels)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Locust (steady: 50 users, 10/s)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Load generation (120s)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ChaosProbe — System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2801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6D6"/>
                </a:solidFill>
                <a:latin typeface="Calibri"/>
              </a:defRPr>
            </a:pPr>
            <a:r>
              <a:t>ChaosProbe (our contribution)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1645920"/>
            <a:ext cx="2560320" cy="1024128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1ABC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6916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ABC9C"/>
                </a:solidFill>
                <a:latin typeface="Calibri"/>
              </a:defRPr>
            </a:pPr>
            <a:r>
              <a:t>Placement</a:t>
            </a:r>
            <a:br/>
            <a:r>
              <a:t>Engine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057400"/>
            <a:ext cx="23774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6 strategies: mutate nodeSelector</a:t>
            </a:r>
            <a:br/>
            <a:r>
              <a:t>per deployment to target nodes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2743200"/>
            <a:ext cx="2560320" cy="1024128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27889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ECC71"/>
                </a:solidFill>
                <a:latin typeface="Calibri"/>
              </a:defRPr>
            </a:pPr>
            <a:r>
              <a:t>Metrics</a:t>
            </a:r>
            <a:br/>
            <a:r>
              <a:t>Collection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154680"/>
            <a:ext cx="23774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6 continuous probers (threads):</a:t>
            </a:r>
            <a:br/>
            <a:r>
              <a:t>recovery, latency, resources,</a:t>
            </a:r>
            <a:br/>
            <a:r>
              <a:t>Redis, disk, Prometheus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4320" y="3840480"/>
            <a:ext cx="2560320" cy="1024128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388620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39C12"/>
                </a:solidFill>
                <a:latin typeface="Calibri"/>
              </a:defRPr>
            </a:pPr>
            <a:r>
              <a:t>Result</a:t>
            </a:r>
            <a:br/>
            <a:r>
              <a:t>Aggregation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4251960"/>
            <a:ext cx="23774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ChaosResult CRDs, probe verdicts,</a:t>
            </a:r>
            <a:br/>
            <a:r>
              <a:t>resilience scoring, phase tracking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108960" y="1645920"/>
            <a:ext cx="2560320" cy="1024128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00400" y="16916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498DB"/>
                </a:solidFill>
                <a:latin typeface="Calibri"/>
              </a:defRPr>
            </a:pPr>
            <a:r>
              <a:t>Orchestrator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057400"/>
            <a:ext cx="23774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Strategy runner, run phases,</a:t>
            </a:r>
            <a:br/>
            <a:r>
              <a:t>preflight checks, port-forward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108960" y="2743200"/>
            <a:ext cx="2560320" cy="1024128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0" y="27889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9B59B6"/>
                </a:solidFill>
                <a:latin typeface="Calibri"/>
              </a:defRPr>
            </a:pPr>
            <a:r>
              <a:t>Graph</a:t>
            </a:r>
            <a:br/>
            <a:r>
              <a:t>Storage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0" y="3154680"/>
            <a:ext cx="23774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Neo4j writer/reader: 14 node types,</a:t>
            </a:r>
            <a:br/>
            <a:r>
              <a:t>18 relationships, Cypher queries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108960" y="3840480"/>
            <a:ext cx="2560320" cy="1024128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00400" y="388620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39C12"/>
                </a:solidFill>
                <a:latin typeface="Calibri"/>
              </a:defRPr>
            </a:pPr>
            <a:r>
              <a:t>Visualization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4251960"/>
            <a:ext cx="23774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matplotlib charts, HTML report,</a:t>
            </a:r>
            <a:br/>
            <a:r>
              <a:t>ML export (CSV/Parquet)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0" y="12801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7F8C8D"/>
                </a:solidFill>
                <a:latin typeface="Calibri"/>
              </a:defRPr>
            </a:pPr>
            <a:r>
              <a:t>Infrastructure (existing tools)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1645920"/>
            <a:ext cx="2560320" cy="1024128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59" y="16916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74C3C"/>
                </a:solidFill>
                <a:latin typeface="Calibri"/>
              </a:defRPr>
            </a:pPr>
            <a:r>
              <a:t>LitmusChaos +</a:t>
            </a:r>
            <a:br/>
            <a:r>
              <a:t>ChaosCenter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59" y="2057400"/>
            <a:ext cx="23774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Fault injection engine.</a:t>
            </a:r>
            <a:br/>
            <a:r>
              <a:t>ChaosEngine CRDs, Argo Workflows,</a:t>
            </a:r>
            <a:br/>
            <a:r>
              <a:t>ChaosCenter dashboard + API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0" y="2743200"/>
            <a:ext cx="2560320" cy="1024128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59" y="27889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ECC71"/>
                </a:solidFill>
                <a:latin typeface="Calibri"/>
              </a:defRPr>
            </a:pPr>
            <a:r>
              <a:t>Prometheus +</a:t>
            </a:r>
            <a:br/>
            <a:r>
              <a:t>kube-state-metrics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59" y="3154680"/>
            <a:ext cx="23774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Cluster monitoring.</a:t>
            </a:r>
            <a:br/>
            <a:r>
              <a:t>PromQL queries for pod_ready,</a:t>
            </a:r>
            <a:br/>
            <a:r>
              <a:t>CPU throttle, memory, network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17920" y="3840480"/>
            <a:ext cx="2560320" cy="1024128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59" y="388620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9B59B6"/>
                </a:solidFill>
                <a:latin typeface="Calibri"/>
              </a:defRPr>
            </a:pPr>
            <a:r>
              <a:t>Neo4j 5</a:t>
            </a:r>
            <a:br/>
            <a:r>
              <a:t>Community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59" y="4251960"/>
            <a:ext cx="23774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Graph database.</a:t>
            </a:r>
            <a:br/>
            <a:r>
              <a:t>14 node types, 18 relationships.</a:t>
            </a:r>
            <a:br/>
            <a:r>
              <a:t>Cypher query language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052560" y="1645920"/>
            <a:ext cx="2560320" cy="1024128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1ABC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44000" y="16916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ABC9C"/>
                </a:solidFill>
                <a:latin typeface="Calibri"/>
              </a:defRPr>
            </a:pPr>
            <a:r>
              <a:t>Kubernetes</a:t>
            </a:r>
            <a:br/>
            <a:r>
              <a:t>v1.28.6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0" y="2057400"/>
            <a:ext cx="23774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Container orchestration.</a:t>
            </a:r>
            <a:br/>
            <a:r>
              <a:t>containerd runtime, Metrics API,</a:t>
            </a:r>
            <a:br/>
            <a:r>
              <a:t>Watch API for recovery tracking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052560" y="2743200"/>
            <a:ext cx="2560320" cy="1024128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44000" y="27889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498DB"/>
                </a:solidFill>
                <a:latin typeface="Calibri"/>
              </a:defRPr>
            </a:pPr>
            <a:r>
              <a:t>Locust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3154680"/>
            <a:ext cx="23774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Load generation.</a:t>
            </a:r>
            <a:br/>
            <a:r>
              <a:t>Configurable user count, spawn rate.</a:t>
            </a:r>
            <a:br/>
            <a:r>
              <a:t>HTTP traffic to entry-point service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052560" y="3840480"/>
            <a:ext cx="2560320" cy="1024128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44000" y="388620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7F8C8D"/>
                </a:solidFill>
                <a:latin typeface="Calibri"/>
              </a:defRPr>
            </a:pPr>
            <a:r>
              <a:t>Vagrant</a:t>
            </a:r>
            <a:br/>
            <a:r>
              <a:t>(libvirt/KVM)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44000" y="4251960"/>
            <a:ext cx="23774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VM provisioning.</a:t>
            </a:r>
            <a:br/>
            <a:r>
              <a:t>5 VMs: 1 control plane +</a:t>
            </a:r>
            <a:br/>
            <a:r>
              <a:t>4 worker nodes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5669280" y="2103120"/>
            <a:ext cx="548640" cy="0"/>
          </a:xfrm>
          <a:prstGeom prst="line">
            <a:avLst/>
          </a:prstGeom>
          <a:ln w="25400">
            <a:solidFill>
              <a:srgbClr val="009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5669280" y="3200400"/>
            <a:ext cx="548640" cy="0"/>
          </a:xfrm>
          <a:prstGeom prst="line">
            <a:avLst/>
          </a:prstGeom>
          <a:ln w="25400">
            <a:solidFill>
              <a:srgbClr val="009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5669280" y="4297680"/>
            <a:ext cx="548640" cy="0"/>
          </a:xfrm>
          <a:prstGeom prst="line">
            <a:avLst/>
          </a:prstGeom>
          <a:ln w="25400">
            <a:solidFill>
              <a:srgbClr val="009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5669280" y="1874519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090A0"/>
                </a:solidFill>
                <a:latin typeface="Calibri"/>
              </a:defRPr>
            </a:pPr>
            <a:r>
              <a:t>uses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69280" y="29718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090A0"/>
                </a:solidFill>
                <a:latin typeface="Calibri"/>
              </a:defRPr>
            </a:pPr>
            <a:r>
              <a:t>queries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69280" y="406908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090A0"/>
                </a:solidFill>
                <a:latin typeface="Calibri"/>
              </a:defRPr>
            </a:pPr>
            <a:r>
              <a:t>stores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74320" y="5029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6D6"/>
                </a:solidFill>
                <a:latin typeface="Calibri"/>
              </a:defRPr>
            </a:pPr>
            <a:r>
              <a:t>Experiment Lifecycle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74320" y="5394960"/>
            <a:ext cx="2011680" cy="914400"/>
          </a:xfrm>
          <a:prstGeom prst="roundRect">
            <a:avLst/>
          </a:prstGeom>
          <a:solidFill>
            <a:srgbClr val="3498DB"/>
          </a:solidFill>
          <a:ln w="127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20040" y="539496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1. Configure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65760" y="566928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0F0F8"/>
                </a:solidFill>
                <a:latin typeface="Calibri"/>
              </a:defRPr>
            </a:pPr>
            <a:r>
              <a:t>Load YAML</a:t>
            </a:r>
            <a:br/>
            <a:r>
              <a:t>Validate specs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560320" y="5394960"/>
            <a:ext cx="2011680" cy="914400"/>
          </a:xfrm>
          <a:prstGeom prst="roundRect">
            <a:avLst/>
          </a:prstGeom>
          <a:solidFill>
            <a:srgbClr val="1ABC9C"/>
          </a:solidFill>
          <a:ln w="12700">
            <a:solidFill>
              <a:srgbClr val="1ABC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606039" y="539496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2. Place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651760" y="566928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0F0F8"/>
                </a:solidFill>
                <a:latin typeface="Calibri"/>
              </a:defRPr>
            </a:pPr>
            <a:r>
              <a:t>Apply strategy</a:t>
            </a:r>
            <a:br/>
            <a:r>
              <a:t>Patch nodeSelector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846320" y="5394960"/>
            <a:ext cx="2011680" cy="914400"/>
          </a:xfrm>
          <a:prstGeom prst="roundRect">
            <a:avLst/>
          </a:prstGeom>
          <a:solidFill>
            <a:srgbClr val="E74C3C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892040" y="539496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3. Inject Chaos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937759" y="566928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0F0F8"/>
                </a:solidFill>
                <a:latin typeface="Calibri"/>
              </a:defRPr>
            </a:pPr>
            <a:r>
              <a:t>ChaosEngine</a:t>
            </a:r>
            <a:br/>
            <a:r>
              <a:t>via ChaosCenter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132320" y="5394960"/>
            <a:ext cx="2011680" cy="914400"/>
          </a:xfrm>
          <a:prstGeom prst="roundRect">
            <a:avLst/>
          </a:prstGeom>
          <a:solidFill>
            <a:srgbClr val="2ECC71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178040" y="539496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4. Measure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223759" y="566928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0F0F8"/>
                </a:solidFill>
                <a:latin typeface="Calibri"/>
              </a:defRPr>
            </a:pPr>
            <a:r>
              <a:t>6 probers</a:t>
            </a:r>
            <a:br/>
            <a:r>
              <a:t>+ load generator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418320" y="5394960"/>
            <a:ext cx="2011680" cy="914400"/>
          </a:xfrm>
          <a:prstGeom prst="roundRect">
            <a:avLst/>
          </a:prstGeom>
          <a:solidFill>
            <a:srgbClr val="9B59B6"/>
          </a:solidFill>
          <a:ln w="127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464040" y="539496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5. Store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509760" y="566928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0F0F8"/>
                </a:solidFill>
                <a:latin typeface="Calibri"/>
              </a:defRPr>
            </a:pPr>
            <a:r>
              <a:t>Neo4j sync</a:t>
            </a:r>
            <a:br/>
            <a:r>
              <a:t>Charts + export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2286000" y="5852160"/>
            <a:ext cx="274320" cy="0"/>
          </a:xfrm>
          <a:prstGeom prst="line">
            <a:avLst/>
          </a:prstGeom>
          <a:ln w="254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4572000" y="5852160"/>
            <a:ext cx="274320" cy="0"/>
          </a:xfrm>
          <a:prstGeom prst="line">
            <a:avLst/>
          </a:prstGeom>
          <a:ln w="254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6858000" y="5852160"/>
            <a:ext cx="274320" cy="0"/>
          </a:xfrm>
          <a:prstGeom prst="line">
            <a:avLst/>
          </a:prstGeom>
          <a:ln w="254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9144000" y="5852160"/>
            <a:ext cx="274320" cy="0"/>
          </a:xfrm>
          <a:prstGeom prst="line">
            <a:avLst/>
          </a:prstGeom>
          <a:ln w="254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Measurement Design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6D6"/>
                </a:solidFill>
                <a:latin typeface="Calibri"/>
              </a:defRPr>
            </a:pPr>
            <a:r>
              <a:t>Three-Phase Measurement Window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508760"/>
            <a:ext cx="3200400" cy="41148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PreChaos — steady state (60s)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40480" y="1508760"/>
            <a:ext cx="4114800" cy="41148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DuringChaos — fault active (120s)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8160" y="1508760"/>
            <a:ext cx="3474720" cy="41148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PostChaos — recovery sampling (60s)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9456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CC71"/>
                </a:solidFill>
                <a:latin typeface="Calibri"/>
              </a:defRPr>
            </a:pPr>
            <a:r>
              <a:t>6 Continuous Probers (Background Threads)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274320" y="2560320"/>
          <a:ext cx="68580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4500"/>
                <a:gridCol w="1714500"/>
                <a:gridCol w="1714500"/>
                <a:gridCol w="1714500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Prober</a:t>
                      </a:r>
                    </a:p>
                  </a:txBody>
                  <a:tcPr marL="76200" marR="76200" marT="38100" marB="38100">
                    <a:solidFill>
                      <a:srgbClr val="0096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What It Measures</a:t>
                      </a:r>
                    </a:p>
                  </a:txBody>
                  <a:tcPr marL="76200" marR="76200" marT="38100" marB="38100">
                    <a:solidFill>
                      <a:srgbClr val="0096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Data Source</a:t>
                      </a:r>
                    </a:p>
                  </a:txBody>
                  <a:tcPr marL="76200" marR="76200" marT="38100" marB="38100">
                    <a:solidFill>
                      <a:srgbClr val="0096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Interval</a:t>
                      </a:r>
                    </a:p>
                  </a:txBody>
                  <a:tcPr marL="76200" marR="76200" marT="38100" marB="38100">
                    <a:solidFill>
                      <a:srgbClr val="0096D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RecoveryWatcher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deletion→scheduled (d2s) + scheduled→ready (s2r) split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K8s Watch API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Real-time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LatencyProber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HTTP route latency + error rates + per-pod stddev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kubectl exec → python3/wget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3.5s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RedisProber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Redis ops/s (GET/SET throughput)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kubectl exec → redis-cli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10s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DiskProber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Sequential disk R/W bytes/s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kubectl exec → dd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10s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ResourceProber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Node/pod CPU (millicores) + memory (used-nodes only)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Metrics API (v1beta1)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5s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PrometheusProber (app)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pod_ready, CPU/memory, throttle, net rx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PromQL queries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10s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PrometheusProber (churn)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kube-proxy SLO p99, CoreDNS p99, conntrack, TCP retrans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PromQL — SIG-Scalability metrics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10s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498079" y="21945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39C12"/>
                </a:solidFill>
                <a:latin typeface="Calibri"/>
              </a:defRPr>
            </a:pPr>
            <a:r>
              <a:t>Resilience Probes (LitmusChaos)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498079" y="2560320"/>
          <a:ext cx="438912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463040"/>
                <a:gridCol w="1463040"/>
              </a:tblGrid>
              <a:tr h="24003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Probe</a:t>
                      </a:r>
                    </a:p>
                  </a:txBody>
                  <a:tcPr marL="76200" marR="76200" marT="38100" marB="38100">
                    <a:solidFill>
                      <a:srgbClr val="F39C1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Mode (interval)</a:t>
                      </a:r>
                    </a:p>
                  </a:txBody>
                  <a:tcPr marL="76200" marR="76200" marT="38100" marB="38100">
                    <a:solidFill>
                      <a:srgbClr val="F39C1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Timeout / retries</a:t>
                      </a:r>
                    </a:p>
                  </a:txBody>
                  <a:tcPr marL="76200" marR="76200" marT="38100" marB="38100">
                    <a:solidFill>
                      <a:srgbClr val="F39C12"/>
                    </a:solidFill>
                  </a:tcPr>
                </a:tc>
              </a:tr>
              <a:tr h="24003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frontend-product-strict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Continuous (2s)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3s, 1 retry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4003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frontend-homepage-strict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Continuous (2s)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3s, 1 retry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4003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frontend-homepage-moderate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Continuous (5s)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3s, 4 retries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4003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frontend-product-moderate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Continuous (5s)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3s, 4 retries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4003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frontend-cart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Continuous (6s)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5s, 4 retries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4003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frontend-homepage-loose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Continuous (6s)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5s, 4 retries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4003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frontend-healthz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Continuous (4s)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5s, 3 retries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498079" y="452628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+ 5 Rust cmdProbes: check-redis, check-http-latency,</a:t>
            </a:r>
            <a:br/>
            <a:r>
              <a:t>  check-dns-latency, check-tcp-connect, check-cart-flow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029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6D6"/>
                </a:solidFill>
                <a:latin typeface="Calibri"/>
              </a:defRPr>
            </a:pPr>
            <a:r>
              <a:t>Resilience Scoring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394960"/>
            <a:ext cx="5029200" cy="4572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544068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mean = Σ(probeSuccess%)/N · also report p25, harmonic mean, 95% bootstrap CI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0" y="5394960"/>
            <a:ext cx="731520" cy="45720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0%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12280" y="5394960"/>
            <a:ext cx="731520" cy="45720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17%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80960" y="5394960"/>
            <a:ext cx="731520" cy="45720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33%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549640" y="5394960"/>
            <a:ext cx="731520" cy="45720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50%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418320" y="5394960"/>
            <a:ext cx="731520" cy="45720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67%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287000" y="5394960"/>
            <a:ext cx="731520" cy="45720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83%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155680" y="5394960"/>
            <a:ext cx="731520" cy="45720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100%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0" y="5897880"/>
            <a:ext cx="6126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9090A0"/>
                </a:solidFill>
                <a:latin typeface="Calibri"/>
              </a:defRPr>
            </a:pPr>
            <a:r>
              <a:t>Total disruption  ←                              →  No visible impact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03504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Bootstrap 95% CI on the mean + Holm-Bonferroni-adjusted pairwise Mann-Whitney U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Recovery time split: scheduler-stall (d2s) vs container start-up (s2r)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0" y="603504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kube-proxy SLO + CoreDNS p99 + conntrack measured directly (SIG-Scalability)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Heterogeneity confound: score vs host-node RAM scatter (Threats-to-Validity)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Results — H1: The Score Cannot Rank Placements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core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6858000" cy="41148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772400" y="1280160"/>
            <a:ext cx="3931920" cy="41148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79" y="1325880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6D6"/>
                </a:solidFill>
                <a:latin typeface="Calibri"/>
              </a:defRPr>
            </a:pPr>
            <a:r>
              <a:t>Key Observations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5279" y="1691640"/>
            <a:ext cx="3566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Baseline: 100% (stddev 0) —</a:t>
            </a:r>
            <a:br/>
            <a:r>
              <a:t>  methodology control holds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ICC_strategy = 0.033, 95% CI [0.014, 0.178]:</a:t>
            </a:r>
            <a:br/>
            <a:r>
              <a:t>  only 3.3% of score variance is</a:t>
            </a:r>
            <a:br/>
            <a:r>
              <a:t>  between-strategy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Evidence base: 7 independent sessions,</a:t>
            </a:r>
            <a:br/>
            <a:r>
              <a:t>  147 churn iterations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Focal contrast colocate 64.0 vs spread 74.3</a:t>
            </a:r>
            <a:br/>
            <a:r>
              <a:t>  (d = 0.46) → 73 iterations/strategy</a:t>
            </a:r>
            <a:br/>
            <a:r>
              <a:t>  needed for 80% power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At the n = 3 actually run, the minimum</a:t>
            </a:r>
            <a:br/>
            <a:r>
              <a:t>  detectable effect is ≈ 51 score points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So the aggregate score cannot rank</a:t>
            </a:r>
            <a:br/>
            <a:r>
              <a:t>  placements — the signal is elsewhere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5669280"/>
            <a:ext cx="11247120" cy="9144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5669280"/>
            <a:ext cx="10881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39C12"/>
                </a:solidFill>
                <a:latin typeface="Calibri"/>
              </a:defRPr>
            </a:pPr>
            <a:r>
              <a:t>H1 — the aggregate score cannot rank placement strategies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98932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39C12"/>
                </a:solidFill>
                <a:latin typeface="Calibri"/>
              </a:defRPr>
            </a:pPr>
            <a:r>
              <a:t>L1 (colocate = worst): N/A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598932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39C12"/>
                </a:solidFill>
                <a:latin typeface="Calibri"/>
              </a:defRPr>
            </a:pPr>
            <a:r>
              <a:t>L2 (spread = best): N/A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0" y="598932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39C12"/>
                </a:solidFill>
                <a:latin typeface="Calibri"/>
              </a:defRPr>
            </a:pPr>
            <a:r>
              <a:t>L3 (recovery → score): N/A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355080"/>
            <a:ext cx="10881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The score's between-strategy variance is too small a fraction to adjudicate L1–L3 — they are inapplicable in this regime, not refuted. The signal lives at the mechanism layer (next slides).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Results — H2: A Kernel Reconvergence Signature Moves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echanism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6858000" cy="41148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772400" y="1280160"/>
            <a:ext cx="3931920" cy="41148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79" y="1325880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39C12"/>
                </a:solidFill>
                <a:latin typeface="Calibri"/>
              </a:defRPr>
            </a:pPr>
            <a:r>
              <a:t>Conntrack Flush (per session)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5279" y="1691640"/>
            <a:ext cx="3566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Median flush during the kill cycle:</a:t>
            </a:r>
            <a:br/>
            <a:r>
              <a:t>  spread 38.5% vs colocate 2.7%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spread &gt; colocate in 7 / 7 sessions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Sign test p = 0.0156;</a:t>
            </a:r>
            <a:br/>
            <a:r>
              <a:t>  Wilcoxon signed-rank p = 0.0225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Protocol probe: TCP dominates the table</a:t>
            </a:r>
            <a:br/>
            <a:r>
              <a:t>  and DROPS at the kill cycles under BOTH</a:t>
            </a:r>
            <a:br/>
            <a:r>
              <a:t>  placements (−28% / −21%) — kernel-side</a:t>
            </a:r>
            <a:br/>
            <a:r>
              <a:t>  teardown; kube-proxy never flushes TCP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The placement-dependent component is</a:t>
            </a:r>
            <a:br/>
            <a:r>
              <a:t>  the UDP/DNS pool: ~4× larger under</a:t>
            </a:r>
            <a:br/>
            <a:r>
              <a:t>  spread (chaos-window medians 910 vs 224)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Corroborating only: CPU throttling —</a:t>
            </a:r>
            <a:br/>
            <a:r>
              <a:t>  colocate lowest in 6 / 7 sessions</a:t>
            </a:r>
            <a:br/>
            <a:r>
              <a:t>  (weaker; lead with conntrack)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5669280"/>
            <a:ext cx="11247120" cy="9144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5669280"/>
            <a:ext cx="10881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39C12"/>
                </a:solidFill>
                <a:latin typeface="Calibri"/>
              </a:defRPr>
            </a:pPr>
            <a:r>
              <a:t>H2 — attribution protocol-scoped by a dedicated conntrack-composition probe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98932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Both paths are visible: kernel TCP teardown (kube-proxy never flushes TCP) and kube-proxy's documented UDP-only cleanup, with more to clean under spread. The campaign's flush percentages (38.5% vs 2.7%, 7/7 sessions) remain statistically primary and are not apportioned between the two paths (probe: i = 1).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Results — H3: The Mechanism Does Not Reach the User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atency_degrad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6858000" cy="41148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772400" y="1280160"/>
            <a:ext cx="3931920" cy="41148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79" y="1325880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ECC71"/>
                </a:solidFill>
                <a:latin typeface="Calibri"/>
              </a:defRPr>
            </a:pPr>
            <a:r>
              <a:t>Decoupling Evidence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5279" y="1691640"/>
            <a:ext cx="3566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Conntrack flush → dependent-route p95:</a:t>
            </a:r>
            <a:br/>
            <a:r>
              <a:t>  ρ = 0.07 (n.s.) — and TOST declares it</a:t>
            </a:r>
            <a:br/>
            <a:r>
              <a:t>  statistically equivalent to zero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Control route (does NOT depend on the</a:t>
            </a:r>
            <a:br/>
            <a:r>
              <a:t>  target): ρ = 0.29* — the correlation is</a:t>
            </a:r>
            <a:br/>
            <a:r>
              <a:t>  stronger where it shouldn't exist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That pattern is the signature of a</a:t>
            </a:r>
            <a:br/>
            <a:r>
              <a:t>  run-level confound, not causation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No dependency-specific propagation of</a:t>
            </a:r>
            <a:br/>
            <a:r>
              <a:t>  the mechanism to the user layer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5669280"/>
            <a:ext cx="5669280" cy="100584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566928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96D6"/>
                </a:solidFill>
                <a:latin typeface="Calibri"/>
              </a:defRPr>
            </a:pPr>
            <a:r>
              <a:t>The layered churn story (H1–H3)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989320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The score is blind (H1); the kernel layer moves with placement (H2); the user layer does not follow (H3). Three layers, three different answers.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5669280"/>
            <a:ext cx="5669280" cy="100584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566928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39C12"/>
                </a:solidFill>
                <a:latin typeface="Calibri"/>
              </a:defRPr>
            </a:pPr>
            <a:r>
              <a:t>Operator reading (bounded)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5989320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For churn faults on single-replica services in this setup, pod placement is not a user-visible resilience lever — the killed pod is simply gone.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Results — H4 &amp; H5: Load Contention and a Graph Predictor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280160"/>
            <a:ext cx="5486400" cy="402336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39C12"/>
                </a:solidFill>
                <a:latin typeface="Calibri"/>
              </a:defRPr>
            </a:pPr>
            <a:r>
              <a:t>H4 — the mechanism replicates; the user layer does not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51206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200-user Locust spike: the app is genuinely</a:t>
            </a:r>
            <a:br/>
            <a:r>
              <a:t>  resource-bound (hog faults never get there)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East-west inter-service p95: colocate ~1.3–1.4×</a:t>
            </a:r>
            <a:br/>
            <a:r>
              <a:t>  lower than spread, in both i = 4 batches</a:t>
            </a:r>
            <a:br/>
            <a:r>
              <a:t>  (median ratio 1.39× and 1.36×)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Co-location keeps inter-service calls node-local;</a:t>
            </a:r>
            <a:br/>
            <a:r>
              <a:t>  spread routes every call across the network —</a:t>
            </a:r>
            <a:br/>
            <a:r>
              <a:t>  the bottleneck under load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User-facing routes: a ~2× reading in batch A</a:t>
            </a:r>
            <a:br/>
            <a:r>
              <a:t>  collapsed to ~1.1× in the clean batch, with no</a:t>
            </a:r>
            <a:br/>
            <a:r>
              <a:t>  dependency specificity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So: no user-visible placement effect is claimed</a:t>
            </a:r>
            <a:br/>
            <a:r>
              <a:t>  under load — the mechanism effect is the finding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280160"/>
            <a:ext cx="5486400" cy="402336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32588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CC71"/>
                </a:solidFill>
                <a:latin typeface="Calibri"/>
              </a:defRPr>
            </a:pPr>
            <a:r>
              <a:t>H5 — cross-node fraction separates node-local from spreading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0" y="1691640"/>
          <a:ext cx="512064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24128"/>
                <a:gridCol w="1024128"/>
                <a:gridCol w="1024128"/>
                <a:gridCol w="1024128"/>
                <a:gridCol w="1024128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Strategy</a:t>
                      </a:r>
                    </a:p>
                  </a:txBody>
                  <a:tcPr marL="76200" marR="76200" marT="38100" marB="38100">
                    <a:solidFill>
                      <a:srgbClr val="2ECC7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frac (B1)</a:t>
                      </a:r>
                    </a:p>
                  </a:txBody>
                  <a:tcPr marL="76200" marR="76200" marT="38100" marB="38100">
                    <a:solidFill>
                      <a:srgbClr val="2ECC7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EW p95 (B1)</a:t>
                      </a:r>
                    </a:p>
                  </a:txBody>
                  <a:tcPr marL="76200" marR="76200" marT="38100" marB="38100">
                    <a:solidFill>
                      <a:srgbClr val="2ECC7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frac (B2)</a:t>
                      </a:r>
                    </a:p>
                  </a:txBody>
                  <a:tcPr marL="76200" marR="76200" marT="38100" marB="38100">
                    <a:solidFill>
                      <a:srgbClr val="2ECC7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EW p95 (B2)</a:t>
                      </a:r>
                    </a:p>
                  </a:txBody>
                  <a:tcPr marL="76200" marR="76200" marT="38100" marB="38100">
                    <a:solidFill>
                      <a:srgbClr val="2ECC71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FFFFFF"/>
                          </a:solidFill>
                          <a:latin typeface="Calibri"/>
                        </a:rPr>
                        <a:t>colocate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FFFFFF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FFFFFF"/>
                          </a:solidFill>
                          <a:latin typeface="Calibri"/>
                        </a:rPr>
                        <a:t>33.9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FFFFFF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FFFFFF"/>
                          </a:solidFill>
                          <a:latin typeface="Calibri"/>
                        </a:rPr>
                        <a:t>33.2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FFFFFF"/>
                          </a:solidFill>
                          <a:latin typeface="Calibri"/>
                        </a:rPr>
                        <a:t>best-fit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FFFFFF"/>
                          </a:solidFill>
                          <a:latin typeface="Calibri"/>
                        </a:rPr>
                        <a:t>0.13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FFFFFF"/>
                          </a:solidFill>
                          <a:latin typeface="Calibri"/>
                        </a:rPr>
                        <a:t>35.3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FFFFFF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FFFFFF"/>
                          </a:solidFill>
                          <a:latin typeface="Calibri"/>
                        </a:rPr>
                        <a:t>35.7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FFFFFF"/>
                          </a:solidFill>
                          <a:latin typeface="Calibri"/>
                        </a:rPr>
                        <a:t>dependency-aware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FFFFFF"/>
                          </a:solidFill>
                          <a:latin typeface="Calibri"/>
                        </a:rPr>
                        <a:t>0.73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FFFFFF"/>
                          </a:solidFill>
                          <a:latin typeface="Calibri"/>
                        </a:rPr>
                        <a:t>42.6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FFFFFF"/>
                          </a:solidFill>
                          <a:latin typeface="Calibri"/>
                        </a:rPr>
                        <a:t>0.73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FFFFFF"/>
                          </a:solidFill>
                          <a:latin typeface="Calibri"/>
                        </a:rPr>
                        <a:t>43.8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FFFFFF"/>
                          </a:solidFill>
                          <a:latin typeface="Calibri"/>
                        </a:rPr>
                        <a:t>spread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FFFFFF"/>
                          </a:solidFill>
                          <a:latin typeface="Calibri"/>
                        </a:rPr>
                        <a:t>0.73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FFFFFF"/>
                          </a:solidFill>
                          <a:latin typeface="Calibri"/>
                        </a:rPr>
                        <a:t>43.5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FFFFFF"/>
                          </a:solidFill>
                          <a:latin typeface="Calibri"/>
                        </a:rPr>
                        <a:t>0.73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FFFFFF"/>
                          </a:solidFill>
                          <a:latin typeface="Calibri"/>
                        </a:rPr>
                        <a:t>44.2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FFFFFF"/>
                          </a:solidFill>
                          <a:latin typeface="Calibri"/>
                        </a:rPr>
                        <a:t>baseline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FFFFFF"/>
                          </a:solidFill>
                          <a:latin typeface="Calibri"/>
                        </a:rPr>
                        <a:t>0.70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FFFFFF"/>
                          </a:solidFill>
                          <a:latin typeface="Calibri"/>
                        </a:rPr>
                        <a:t>43.5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FFFFFF"/>
                          </a:solidFill>
                          <a:latin typeface="Calibri"/>
                        </a:rPr>
                        <a:t>0.78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FFFFFF"/>
                          </a:solidFill>
                          <a:latin typeface="Calibri"/>
                        </a:rPr>
                        <a:t>41.7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FFFFFF"/>
                          </a:solidFill>
                          <a:latin typeface="Calibri"/>
                        </a:rPr>
                        <a:t>adversarial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FFFFFF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FFFFFF"/>
                          </a:solidFill>
                          <a:latin typeface="Calibri"/>
                        </a:rPr>
                        <a:t>43.5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FFFFFF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FFFFFF"/>
                          </a:solidFill>
                          <a:latin typeface="Calibri"/>
                        </a:rPr>
                        <a:t>42.0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FFFFFF"/>
                          </a:solidFill>
                          <a:latin typeface="Calibri"/>
                        </a:rPr>
                        <a:t>default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FFFFFF"/>
                          </a:solidFill>
                          <a:latin typeface="Calibri"/>
                        </a:rPr>
                        <a:t>0.78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FFFFFF"/>
                          </a:solidFill>
                          <a:latin typeface="Calibri"/>
                        </a:rPr>
                        <a:t>45.5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FFFFFF"/>
                          </a:solidFill>
                          <a:latin typeface="Calibri"/>
                        </a:rPr>
                        <a:t>0.82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FFFFFF"/>
                          </a:solidFill>
                          <a:latin typeface="Calibri"/>
                        </a:rPr>
                        <a:t>41.6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FFFFFF"/>
                          </a:solidFill>
                          <a:latin typeface="Calibri"/>
                        </a:rPr>
                        <a:t>random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FFFFFF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FFFFFF"/>
                          </a:solidFill>
                          <a:latin typeface="Calibri"/>
                        </a:rPr>
                        <a:t>43.9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FFFFFF"/>
                          </a:solidFill>
                          <a:latin typeface="Calibri"/>
                        </a:rPr>
                        <a:t>0.80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FFFFFF"/>
                          </a:solidFill>
                          <a:latin typeface="Calibri"/>
                        </a:rPr>
                        <a:t>42.8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0" y="4206240"/>
            <a:ext cx="51206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Node-local pair = the 2 lowest tails of 8 in BOTH</a:t>
            </a:r>
            <a:br/>
            <a:r>
              <a:t>  batches (joint null ≈ 0.0013) — ~1.25× below the rest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Continuous ρ = 0.79 (batch 1) → 0.25 n.s. (batch 2):</a:t>
            </a:r>
            <a:br/>
            <a:r>
              <a:t>  a replicated two-regime separator, not a smooth law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486400"/>
            <a:ext cx="11247120" cy="109728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5486400"/>
            <a:ext cx="10881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6D6"/>
                </a:solidFill>
                <a:latin typeface="Calibri"/>
              </a:defRPr>
            </a:pPr>
            <a:r>
              <a:t>Framing: a replicated two-regime separator — not a validated smooth predictor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8064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Locality-as-objective already belongs to the literature (NetMARKS, graph-partitioning schedulers); the contribution is validating the graph-derived fraction (Neo4j graph + podPlacements, pre-chaos) against measured during-load tails in two independent batches. The continuous law is not claimed: batch 1's ρ = 0.79 was carried by best-fit's intermediate 0.13 point and collapsed to ρ = 0.25 (n.s.) when best-fit packed fully in batch 2. Note dependency-aware's partition did not co-locate as intended (0.73, spread-like, both batches).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Results — H6: The Latency/Availability Trade-Off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280160"/>
            <a:ext cx="5943600" cy="402336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5577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74C3C"/>
                </a:solidFill>
                <a:latin typeface="Calibri"/>
              </a:defRPr>
            </a:pPr>
            <a:r>
              <a:t>Node drain on the target's node (third fault class)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691640"/>
          <a:ext cx="5577840" cy="201167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4460"/>
                <a:gridCol w="1394460"/>
                <a:gridCol w="1394460"/>
                <a:gridCol w="1394460"/>
              </a:tblGrid>
              <a:tr h="28738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Strategy</a:t>
                      </a:r>
                    </a:p>
                  </a:txBody>
                  <a:tcPr marL="76200" marR="76200" marT="38100" marB="38100">
                    <a:solidFill>
                      <a:srgbClr val="E74C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On drained node</a:t>
                      </a:r>
                    </a:p>
                  </a:txBody>
                  <a:tcPr marL="76200" marR="76200" marT="38100" marB="38100">
                    <a:solidFill>
                      <a:srgbClr val="E74C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Blast (observed)</a:t>
                      </a:r>
                    </a:p>
                  </a:txBody>
                  <a:tcPr marL="76200" marR="76200" marT="38100" marB="38100">
                    <a:solidFill>
                      <a:srgbClr val="E74C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Recovery (mean)</a:t>
                      </a:r>
                    </a:p>
                  </a:txBody>
                  <a:tcPr marL="76200" marR="76200" marT="38100" marB="38100">
                    <a:solidFill>
                      <a:srgbClr val="E74C3C"/>
                    </a:solidFill>
                  </a:tcPr>
                </a:tc>
              </a:tr>
              <a:tr h="28738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colocate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11 / 11 services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11 — whole app offline (100%)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10.8 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8738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random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4 / 11 services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4.6 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8738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dependency-aware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3 / 11 services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33.3 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8738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best-fit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3 / 11 services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9.7 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8738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spread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2 / 11 services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2 (18%)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2.6 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8738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adversarial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2 / 11 services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33.1 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3840480"/>
            <a:ext cx="55778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Observed blast = placement-predicted blast for ALL 6</a:t>
            </a:r>
            <a:br/>
            <a:r>
              <a:t>  placing strategies — Spearman ρ = 1.0 (n = 6); read from</a:t>
            </a:r>
            <a:br/>
            <a:r>
              <a:t>  EndpointSlice troughs, not the score (probes Unknown; H1)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Recovery is NOT monotone in blast (4.6 s and 33.3 s both</a:t>
            </a:r>
            <a:br/>
            <a:r>
              <a:t>  at intermediate blast) — the ~4× contrast (10.3 s vs 2.6 s)</a:t>
            </a:r>
            <a:br/>
            <a:r>
              <a:t>  is claimed only at the colocate-vs-spread extremes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0" y="1280160"/>
            <a:ext cx="5029200" cy="402336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0" y="1325880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9B59B6"/>
                </a:solidFill>
                <a:latin typeface="Calibri"/>
              </a:defRPr>
            </a:pPr>
            <a:r>
              <a:t>One placement property, two opposing consequences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0" y="1691640"/>
            <a:ext cx="46634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colocate: best east-west tail (H5: ~33–34 ms</a:t>
            </a:r>
            <a:br/>
            <a:r>
              <a:t>  in both batches) AND worst node-failure</a:t>
            </a:r>
            <a:br/>
            <a:r>
              <a:t>  blast (100% outage) — spread is the mirror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H5 is the latency face, H6 the availability</a:t>
            </a:r>
            <a:br/>
            <a:r>
              <a:t>  face of the same co-location metric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Where placement DOES bite users in this</a:t>
            </a:r>
            <a:br/>
            <a:r>
              <a:t>  study is availability under node failure —</a:t>
            </a:r>
            <a:br/>
            <a:r>
              <a:t>  and it is predictable from the placement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Quantification of a known qualitative</a:t>
            </a:r>
            <a:br/>
            <a:r>
              <a:t>  trade-off (cell-based architectures), not</a:t>
            </a:r>
            <a:br/>
            <a:r>
              <a:t>  a discovery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Reproduced: two doctor-clean two-point</a:t>
            </a:r>
            <a:br/>
            <a:r>
              <a:t>  batches + a completed 6-strategy gradient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486400"/>
            <a:ext cx="11247120" cy="1097280"/>
          </a:xfrm>
          <a:prstGeom prst="roundRect">
            <a:avLst/>
          </a:prstGeom>
          <a:solidFill>
            <a:srgbClr val="121222"/>
          </a:solidFill>
          <a:ln w="381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562356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The same co-location that wins H5's latency loses H6's availability. Placement is not 'good' or 'bad' — it trades a measured east-west latency benefit against a measured node-failure blast radius, and both faces are computable from the dependency graph before any chaos.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Negative Findings — Why the Obvious Experiments Are Wrong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280160"/>
            <a:ext cx="5486400" cy="237744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74C3C"/>
                </a:solidFill>
                <a:latin typeface="Calibri"/>
              </a:defRPr>
            </a:pPr>
            <a:r>
              <a:t>Hog faults are absorbed, not felt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5120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pod-cpu-hog: CFS-capped at the 200m container</a:t>
            </a:r>
            <a:br/>
            <a:r>
              <a:t>  limit — the hog throttles itself, not the app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node-cpu-hog: loads the node, but CPU requests</a:t>
            </a:r>
            <a:br/>
            <a:r>
              <a:t>  keep the light app pods responsive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Both scored 100 with the app fully up — the</a:t>
            </a:r>
            <a:br/>
            <a:r>
              <a:t>  'obvious' contention experiments measure nothing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Contention only bites when the app is genuinely</a:t>
            </a:r>
            <a:br/>
            <a:r>
              <a:t>  resource-bound — i.e. under load (H4)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280160"/>
            <a:ext cx="5486400" cy="237744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32588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39C12"/>
                </a:solidFill>
                <a:latin typeface="Calibri"/>
              </a:defRPr>
            </a:pPr>
            <a:r>
              <a:t>node-memory-hog evicts itself first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691640"/>
            <a:ext cx="5120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On 4 GiB workers, the kubelet evicts the</a:t>
            </a:r>
            <a:br/>
            <a:r>
              <a:t>  LitmusChaos helper pod before any app pod</a:t>
            </a:r>
            <a:br/>
            <a:r>
              <a:t>  feels memory pressure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The experiment kills its own instrument, not</a:t>
            </a:r>
            <a:br/>
            <a:r>
              <a:t>  the application (litmus-go: % of node capacity,</a:t>
            </a:r>
            <a:br/>
            <a:r>
              <a:t>  clamped to allocatable)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000">
                <a:solidFill>
                  <a:srgbClr val="BDBDBD"/>
                </a:solidFill>
                <a:latin typeface="Calibri"/>
              </a:defRPr>
            </a:pPr>
            <a:r>
              <a:t>• Negative findings like these bound the fault</a:t>
            </a:r>
            <a:br/>
            <a:r>
              <a:t>  taxonomy: they tell you which experiments</a:t>
            </a:r>
            <a:br/>
            <a:r>
              <a:t>  measure the app and which measure the harness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931920"/>
            <a:ext cx="11247120" cy="265176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977639"/>
            <a:ext cx="10881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96D6"/>
                </a:solidFill>
                <a:latin typeface="Calibri"/>
              </a:defRPr>
            </a:pPr>
            <a:r>
              <a:t>Literature predictions L1–L3 — inapplicable in this regime, not refuted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343400"/>
            <a:ext cx="502920" cy="411480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43434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Colocate is the worst placement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892040"/>
            <a:ext cx="35204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The score cannot adjudicate it (H1), and the churn</a:t>
            </a:r>
            <a:br/>
            <a:r>
              <a:t>mechanism points the other way: colocate flushes</a:t>
            </a:r>
            <a:br/>
            <a:r>
              <a:t>the least conntrack state and throttles least.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43400" y="4343400"/>
            <a:ext cx="502920" cy="411480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60" y="43434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Spread isolates faults best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43400" y="4892040"/>
            <a:ext cx="35204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Under churn, spreading maximises the cross-node</a:t>
            </a:r>
            <a:br/>
            <a:r>
              <a:t>flows the kill cycle tears down (H2) — and under</a:t>
            </a:r>
            <a:br/>
            <a:r>
              <a:t>node drain spread does win availability (H6).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19" y="4343400"/>
            <a:ext cx="502920" cy="411480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L3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41080" y="43434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Recovery time predicts resilience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19" y="4892040"/>
            <a:ext cx="35204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The recovery decomposition (d2s/s2r) is unstable</a:t>
            </a:r>
            <a:br/>
            <a:r>
              <a:t>run-to-run and the score is too noisy to predict —</a:t>
            </a:r>
            <a:br/>
            <a:r>
              <a:t>no stable relationship on either side.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17220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090A0"/>
                </a:solidFill>
                <a:latin typeface="Calibri"/>
              </a:defRPr>
            </a:pPr>
            <a:r>
              <a:t>These predictions come from contention regimes the churn fault class never enters — they are inapplicable here, which is itself a fault-class-specific result, not a refutation of the literature.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Threats to Validity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5486400" cy="50292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74C3C"/>
                </a:solidFill>
                <a:latin typeface="Calibri"/>
              </a:defRPr>
            </a:pPr>
            <a:r>
              <a:t>Internal Validity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Single application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5120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DBDBD"/>
                </a:solidFill>
                <a:latin typeface="Calibri"/>
              </a:defRPr>
            </a:pPr>
            <a:r>
              <a:t>Results based on Google Online Boutique — a representative but single microservice benchmark. Other application topologies may yield different results.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0896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Single replica per service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429000"/>
            <a:ext cx="5120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DBDBD"/>
                </a:solidFill>
                <a:latin typeface="Calibri"/>
              </a:defRPr>
            </a:pPr>
            <a:r>
              <a:t>100% pod-delete guarantees unavailability, but production systems typically run multiple replicas. Results represent worst-case single-replica scenarios.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29768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Virtualized environment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617720"/>
            <a:ext cx="5120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DBDBD"/>
                </a:solidFill>
                <a:latin typeface="Calibri"/>
              </a:defRPr>
            </a:pPr>
            <a:r>
              <a:t>Vagrant/libvirt (KVM/QEMU) introduces virtualization overhead. Bare-metal clusters may show different performance characteristics, especially for I/O metrics.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4864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Uneven contrast coverage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806440"/>
            <a:ext cx="5120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DBDBD"/>
                </a:solidFill>
                <a:latin typeface="Calibri"/>
              </a:defRPr>
            </a:pPr>
            <a:r>
              <a:t>The churn findings (H2, H3) rest on the colocate-vs-spread locality contrast; H5 covers all 8 placements across two independent batches; H6's extremes contrast is extended by a completed 6-strategy gradient (blast ρ = 1.0) — but recovery is validated only at the extremes.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371600"/>
            <a:ext cx="5486400" cy="50292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141732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39C12"/>
                </a:solidFill>
                <a:latin typeface="Calibri"/>
              </a:defRPr>
            </a:pPr>
            <a:r>
              <a:t>External Validity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192024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Cluster scale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240280"/>
            <a:ext cx="5120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DBDBD"/>
                </a:solidFill>
                <a:latin typeface="Calibri"/>
              </a:defRPr>
            </a:pPr>
            <a:r>
              <a:t>5-node cluster (1 control plane @ 12 GiB + 4 uniform 4-GiB workers, 10 vCPU, 28 GiB). Larger clusters may show different placement effects.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10896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Fault classes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429000"/>
            <a:ext cx="5120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DBDBD"/>
                </a:solidFill>
                <a:latin typeface="Calibri"/>
              </a:defRPr>
            </a:pPr>
            <a:r>
              <a:t>Three classes tested: churn (pod-delete), load contention (Locust spike), node failure (drain). Hog faults are absorbed by cgroup limits (negative finding); network partitions and disk faults remain untested and may behave differently.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429768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Traffic pattern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4617720"/>
            <a:ext cx="5120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DBDBD"/>
                </a:solidFill>
                <a:latin typeface="Calibri"/>
              </a:defRPr>
            </a:pPr>
            <a:r>
              <a:t>Steady-state load (50 users, 10/s) for churn; a 200-user spike for the load regime. Production-like traffic patterns may affect results differently.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54864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Metric portability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5806440"/>
            <a:ext cx="51206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DBDBD"/>
                </a:solidFill>
                <a:latin typeface="Calibri"/>
              </a:defRPr>
            </a:pPr>
            <a:r>
              <a:t>PSI requires cgroup-v2, Felix requires Calico, etcd_debugging_* is K8s-version-fragile. metricAvailability surfaces which metrics were collected per run.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Conclusion &amp; Future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5303520" cy="292608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ECC71"/>
                </a:solidFill>
                <a:latin typeface="Calibri"/>
              </a:defRPr>
            </a:pPr>
            <a:r>
              <a:t>Contributions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49377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ChaosProbe framework: automated placement-</a:t>
            </a:r>
            <a:br/>
            <a:r>
              <a:t>  aware chaos evaluation for Kubernetes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A fault-class × measurement-layer study:</a:t>
            </a:r>
            <a:br/>
            <a:r>
              <a:t>  churn, load contention, node failure across</a:t>
            </a:r>
            <a:br/>
            <a:r>
              <a:t>  score, mechanism, and user layers (H1–H6)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The Neo4j dependency graph made analytically</a:t>
            </a:r>
            <a:br/>
            <a:r>
              <a:t>  load-bearing: a replicated pre-chaos placement</a:t>
            </a:r>
            <a:br/>
            <a:r>
              <a:t>  separator (H5)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Statistical &amp; provenance discipline: ICC variance</a:t>
            </a:r>
            <a:br/>
            <a:r>
              <a:t>  partition, TOST, power analysis, doctor-gated runs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71600"/>
            <a:ext cx="5303520" cy="292608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96D6"/>
                </a:solidFill>
                <a:latin typeface="Calibri"/>
              </a:defRPr>
            </a:pPr>
            <a:r>
              <a:t>Key Findings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783080"/>
            <a:ext cx="49377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H1: the aggregate score cannot rank placements</a:t>
            </a:r>
            <a:br/>
            <a:r>
              <a:t>  (3.3% between-strategy variance)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H2 + H4: placement moves mechanism-layer</a:t>
            </a:r>
            <a:br/>
            <a:r>
              <a:t>  signals in both churn and load regimes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H3: those mechanisms do not reach the user</a:t>
            </a:r>
            <a:br/>
            <a:r>
              <a:t>  (TOST-decoupled; control-route confound)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H5 + H6: placement bites users at the availability</a:t>
            </a:r>
            <a:br/>
            <a:r>
              <a:t>  layer — and both faces of the trade-off are</a:t>
            </a:r>
            <a:br/>
            <a:r>
              <a:t>  predictable from the dependency graph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4480560"/>
            <a:ext cx="11064240" cy="146304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44805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39C12"/>
                </a:solidFill>
                <a:latin typeface="Calibri"/>
              </a:defRPr>
            </a:pPr>
            <a:r>
              <a:t>Future 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846320"/>
            <a:ext cx="51206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Multi-replica anti-affinity — the production question</a:t>
            </a:r>
            <a:br/>
            <a:r>
              <a:t>  this single-replica design structurally excludes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Recovery dynamics across the H6 gradient — why</a:t>
            </a:r>
            <a:br/>
            <a:r>
              <a:t>  intermediate-blast placements recover</a:t>
            </a:r>
            <a:br/>
            <a:r>
              <a:t>  non-monotonically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Larger clusters, other CNIs / kube-proxy modes,</a:t>
            </a:r>
            <a:br/>
            <a:r>
              <a:t>  production-like traffic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4846320"/>
            <a:ext cx="52120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Apportion the H2 flush between kernel TCP teardown</a:t>
            </a:r>
            <a:br/>
            <a:r>
              <a:t>  and kube-proxy's UDP-only cleanup (steady-state,</a:t>
            </a:r>
            <a:br/>
            <a:r>
              <a:t>  multi-iteration probe)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More load batches — does any user-layer effect</a:t>
            </a:r>
            <a:br/>
            <a:r>
              <a:t>  survive replication?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Scheduler integration of the cross-node-fraction</a:t>
            </a:r>
            <a:br/>
            <a:r>
              <a:t>  predictor (H5)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6126480"/>
            <a:ext cx="11064240" cy="640080"/>
          </a:xfrm>
          <a:prstGeom prst="roundRect">
            <a:avLst/>
          </a:prstGeom>
          <a:solidFill>
            <a:srgbClr val="121222"/>
          </a:solidFill>
          <a:ln w="381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617220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A single score is blind to placement (H1). Placement acts at the mechanism layer (H2, H4) without reaching the user (H3); where it does reach users is availability under node failure — predictably (H5 + H6).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828800"/>
            <a:ext cx="9418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Calibri"/>
              </a:defRPr>
            </a:pPr>
            <a:r>
              <a:t>Thank You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0" y="3017520"/>
            <a:ext cx="301752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3383280"/>
            <a:ext cx="9418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0096D6"/>
                </a:solidFill>
                <a:latin typeface="Calibri"/>
              </a:defRPr>
            </a:pPr>
            <a:r>
              <a:t>Questions?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0" y="4754880"/>
            <a:ext cx="16459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1ABC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86000" y="47548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1ABC9C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51663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DBDBD"/>
                </a:solidFill>
                <a:latin typeface="Calibri"/>
              </a:defRPr>
            </a:pPr>
            <a:r>
              <a:t>Placement</a:t>
            </a:r>
            <a:br/>
            <a:r>
              <a:t>Strategies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4754880"/>
            <a:ext cx="16459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0" y="47548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2ECC71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51663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DBDBD"/>
                </a:solidFill>
                <a:latin typeface="Calibri"/>
              </a:defRPr>
            </a:pPr>
            <a:r>
              <a:t>Fault</a:t>
            </a:r>
            <a:br/>
            <a:r>
              <a:t>Classes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92240" y="4754880"/>
            <a:ext cx="16459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47548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096D6"/>
                </a:solidFill>
                <a:latin typeface="Calibri"/>
              </a:defRPr>
            </a:pPr>
            <a:r>
              <a:t>H1–H6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51663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DBDBD"/>
                </a:solidFill>
                <a:latin typeface="Calibri"/>
              </a:defRPr>
            </a:pPr>
            <a:r>
              <a:t>Hypotheses</a:t>
            </a:r>
            <a:br/>
            <a:r>
              <a:t>Tested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95359" y="4754880"/>
            <a:ext cx="16459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59" y="47548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2ECC71"/>
                </a:solidFill>
                <a:latin typeface="Calibri"/>
              </a:defRPr>
            </a:pPr>
            <a:r>
              <a:t>ρ = 1.0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59" y="51663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DBDBD"/>
                </a:solidFill>
                <a:latin typeface="Calibri"/>
              </a:defRPr>
            </a:pPr>
            <a:r>
              <a:t>Blast Radius</a:t>
            </a:r>
            <a:br/>
            <a:r>
              <a:t>Predicted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