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ChaosProbe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6D6"/>
                </a:solidFill>
                <a:latin typeface="Calibri"/>
              </a:defRPr>
            </a:pPr>
            <a:r>
              <a:t>Measuring the Impact of Chaos in Differing</a:t>
            </a:r>
            <a:br/>
            <a:r>
              <a:t>Placement Strategies within Cloud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840480"/>
            <a:ext cx="393192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DBDBD"/>
                </a:solidFill>
                <a:latin typeface="Calibri"/>
              </a:defRPr>
            </a:pPr>
            <a:r>
              <a:t>MSc Thesis Defense — University of Amsterdam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90A0"/>
                </a:solidFill>
                <a:latin typeface="Calibri"/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Background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182880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Calibri"/>
              </a:defRPr>
            </a:pPr>
            <a:r>
              <a:t>Microservice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BDBDBD"/>
                </a:solidFill>
                <a:latin typeface="Calibri"/>
              </a:defRPr>
            </a:pPr>
            <a:r>
              <a:t>• Decomposed services with independent lifecycles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BDBDBD"/>
                </a:solidFill>
                <a:latin typeface="Calibri"/>
              </a:defRPr>
            </a:pPr>
            <a:r>
              <a:t>• Communicate via network (HTTP / gRPC / Redis)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BDBDBD"/>
                </a:solidFill>
                <a:latin typeface="Calibri"/>
              </a:defRPr>
            </a:pPr>
            <a:r>
              <a:t>• Deployed as containers orchestrated by Kubernetes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BDBDBD"/>
                </a:solidFill>
                <a:latin typeface="Calibri"/>
              </a:defRPr>
            </a:pPr>
            <a:r>
              <a:t>• Independently scalable — but failures can cascade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182880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The Placement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BDBDBD"/>
                </a:solidFill>
                <a:latin typeface="Calibri"/>
              </a:defRPr>
            </a:pPr>
            <a:r>
              <a:t>• K8s scheduler optimizes for resource fit,</a:t>
            </a:r>
            <a:br/>
            <a:r>
              <a:t>  not for resilience or fault isolation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BDBDBD"/>
                </a:solidFill>
                <a:latin typeface="Calibri"/>
              </a:defRPr>
            </a:pPr>
            <a:r>
              <a:t>• Pod placement determines which services share</a:t>
            </a:r>
            <a:br/>
            <a:r>
              <a:t>  node resources (CPU, memory, disk, network)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BDBDBD"/>
                </a:solidFill>
                <a:latin typeface="Calibri"/>
              </a:defRPr>
            </a:pPr>
            <a:r>
              <a:t>• Co-located services suffer correlated failures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74720"/>
            <a:ext cx="5303520" cy="146304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Chaos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BDBDBD"/>
                </a:solidFill>
                <a:latin typeface="Calibri"/>
              </a:defRPr>
            </a:pPr>
            <a:r>
              <a:t>• Discipline of experimenting on systems to build</a:t>
            </a:r>
            <a:br/>
            <a:r>
              <a:t>  confidence in resilience (Basiri et al., 2016)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BDBDBD"/>
                </a:solidFill>
                <a:latin typeface="Calibri"/>
              </a:defRPr>
            </a:pPr>
            <a:r>
              <a:t>• Controlled fault injection reveals weaknesses</a:t>
            </a:r>
            <a:br/>
            <a:r>
              <a:t>  before they manifest in production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474720"/>
            <a:ext cx="5303520" cy="146304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474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Research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8404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BDBDBD"/>
                </a:solidFill>
                <a:latin typeface="Calibri"/>
              </a:defRPr>
            </a:pPr>
            <a:r>
              <a:t>• Existing work studies placement OR resilience,</a:t>
            </a:r>
            <a:br/>
            <a:r>
              <a:t>  but rarely their interaction under fault injection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BDBDBD"/>
                </a:solidFill>
                <a:latin typeface="Calibri"/>
              </a:defRPr>
            </a:pPr>
            <a:r>
              <a:t>• No systematic framework to quantify how</a:t>
            </a:r>
            <a:br/>
            <a:r>
              <a:t>  placement topology affects chaos resilience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12080"/>
            <a:ext cx="11064240" cy="137160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ChaosProbe: an automated framework that systematically varies pod placement strategies, injects faults via LitmusChaos, and measures recovery time, inter-service latency, resource utilization, and I/O throughput to quantify placement's impact on resilience.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6126480"/>
            <a:ext cx="1828800" cy="3200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6126480"/>
            <a:ext cx="1828800" cy="32004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Place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6126480"/>
            <a:ext cx="182880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Inject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6126480"/>
            <a:ext cx="1828800" cy="3200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Measure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6126480"/>
            <a:ext cx="1828800" cy="320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Compare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560320" y="6281928"/>
            <a:ext cx="457200" cy="0"/>
          </a:xfrm>
          <a:prstGeom prst="line">
            <a:avLst/>
          </a:prstGeom>
          <a:ln w="2540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846320" y="6281928"/>
            <a:ext cx="457200" cy="0"/>
          </a:xfrm>
          <a:prstGeom prst="line">
            <a:avLst/>
          </a:prstGeom>
          <a:ln w="2540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132320" y="6281928"/>
            <a:ext cx="457200" cy="0"/>
          </a:xfrm>
          <a:prstGeom prst="line">
            <a:avLst/>
          </a:prstGeom>
          <a:ln w="2540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418320" y="6281928"/>
            <a:ext cx="457200" cy="0"/>
          </a:xfrm>
          <a:prstGeom prst="line">
            <a:avLst/>
          </a:prstGeom>
          <a:ln w="2540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Research Question &amp; Hypotheses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1188720"/>
          </a:xfrm>
          <a:prstGeom prst="roundRect">
            <a:avLst/>
          </a:prstGeom>
          <a:solidFill>
            <a:srgbClr val="121222"/>
          </a:solidFill>
          <a:ln w="381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Research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How does pod placement topology affect microservice resilience</a:t>
            </a:r>
            <a:br/>
            <a:r>
              <a:t>under fault injection in Kubernetes?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Hypotheses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91440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3291840"/>
            <a:ext cx="9966960" cy="82296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31012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Calibri"/>
              </a:defRPr>
            </a:pPr>
            <a:r>
              <a:t>Maximum contention degrades resilience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63931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Calibri"/>
              </a:defRPr>
            </a:pPr>
            <a:r>
              <a:t>Colocating all pods on a single node maximizes resource contention (CPU, memory, disk, network) and produces the worst resilience scores.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914400" cy="8229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4480560"/>
            <a:ext cx="9966960" cy="82296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449884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Calibri"/>
              </a:defRPr>
            </a:pPr>
            <a:r>
              <a:t>Spreading improves fault isolation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828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Calibri"/>
              </a:defRPr>
            </a:pPr>
            <a:r>
              <a:t>Distributing pods evenly across nodes minimizes per-node contention and limits fault blast radius, yielding the best resilience scores.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669280"/>
            <a:ext cx="914400" cy="82296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5669280"/>
            <a:ext cx="9966960" cy="82296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568756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F8C8D"/>
                </a:solidFill>
                <a:latin typeface="Calibri"/>
              </a:defRPr>
            </a:pPr>
            <a:r>
              <a:t>Baseline validates methodology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601675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Calibri"/>
              </a:defRPr>
            </a:pPr>
            <a:r>
              <a:t>A trivial fault (1% CPU, 1 second) with default scheduling should produce 100% resilience — any degradation indicates pre-existing instability.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090A0"/>
                </a:solidFill>
                <a:latin typeface="Calibri"/>
              </a:defRPr>
            </a:pPr>
            <a:r>
              <a:t>Measured Dimensions: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6355080"/>
            <a:ext cx="192024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Recovery 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6355080"/>
            <a:ext cx="1920240" cy="3200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Inter-Service Latency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6355080"/>
            <a:ext cx="1920240" cy="32004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Resource Utilization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59" y="6355080"/>
            <a:ext cx="1920240" cy="320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I/O Throughput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Related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411480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BC9C"/>
                </a:solidFill>
                <a:latin typeface="Calibri"/>
              </a:defRPr>
            </a:pPr>
            <a:r>
              <a:t>Pod Placement &amp; Scheduling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Borg (Verma et al., 2015)</a:t>
            </a:r>
            <a:br/>
            <a:r>
              <a:t>  Resource-aware bin-packing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Medea (Garefalakis et al., 2018)</a:t>
            </a:r>
            <a:br/>
            <a:r>
              <a:t>  Topology spread constraints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Sparrow (Ousterhout et al., 2013)</a:t>
            </a:r>
            <a:br/>
            <a:r>
              <a:t>  Decentralized random scheduling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DeathStarBench (Gan et al., 2019)</a:t>
            </a:r>
            <a:br/>
            <a:r>
              <a:t>  Dependency-graph-aware placement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Mars (2011); Delimitrou (2014)</a:t>
            </a:r>
            <a:br/>
            <a:r>
              <a:t>  Contention-aware co-scheduling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371600"/>
            <a:ext cx="3474720" cy="411480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417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Chaos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82880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Principles of Chaos Engineering</a:t>
            </a:r>
            <a:br/>
            <a:r>
              <a:t>  (Basiri et al., 2016)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LitmusChaos — CNCF sandbox</a:t>
            </a:r>
            <a:br/>
            <a:r>
              <a:t>  ChaosEngine CRDs + ChaosCenter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Chaos Monkey (Netflix, 2011)</a:t>
            </a:r>
            <a:br/>
            <a:r>
              <a:t>  Random instance termination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Gremlin — fault injection SaaS</a:t>
            </a:r>
            <a:br/>
            <a:r>
              <a:t>  Commercial chaos platform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Tail at Scale (Dean &amp; Barroso,</a:t>
            </a:r>
            <a:br/>
            <a:r>
              <a:t>  2013) — latency sensitivity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371600"/>
            <a:ext cx="3474720" cy="411480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417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Gap — Our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82880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Existing work studies placement</a:t>
            </a:r>
            <a:br/>
            <a:r>
              <a:t>  OR resilience — not their interaction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No framework systematically varies</a:t>
            </a:r>
            <a:br/>
            <a:r>
              <a:t>  placement under controlled chaos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Missing: quantitative comparison</a:t>
            </a:r>
            <a:br/>
            <a:r>
              <a:t>  across multiple dimensions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ChaosProbe bridges this gap:</a:t>
            </a:r>
            <a:br/>
            <a:r>
              <a:t>  6 strategies × 2 faults × 4 metrics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Graph storage preserves causal</a:t>
            </a:r>
            <a:br/>
            <a:r>
              <a:t>  topology for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Expected Contention by Placement (Literature-Informed Hypotheses)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5989320"/>
          <a:ext cx="1124712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15544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6200" marR="76200" marT="38100" marB="38100">
                    <a:solidFill>
                      <a:srgbClr val="F39C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6200" marR="76200" marT="38100" marB="38100">
                    <a:solidFill>
                      <a:srgbClr val="F39C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Colocate Impact</a:t>
                      </a:r>
                    </a:p>
                  </a:txBody>
                  <a:tcPr marL="76200" marR="76200" marT="38100" marB="38100">
                    <a:solidFill>
                      <a:srgbClr val="F39C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Key Reference</a:t>
                      </a:r>
                    </a:p>
                  </a:txBody>
                  <a:tcPr marL="76200" marR="76200" marT="38100" marB="38100">
                    <a:solidFill>
                      <a:srgbClr val="F39C12"/>
                    </a:solidFill>
                  </a:tcPr>
                </a:tc>
              </a:tr>
              <a:tr h="1554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CPU Contention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Millicores, throttle seconds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Shared cores → throttling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Burns et al. (2016)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</a:tr>
              <a:tr h="1554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Memory Pressure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Working set bytes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Shared memory → evictions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Verma et al. (2015)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</a:tr>
              <a:tr h="1554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Network Latency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HTTP response time (ms)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Shared network stack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Gan et al. (2019)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</a:tr>
              <a:tr h="1554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Disk I/O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Sequential R/W bytes/s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Shared bandwidth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Dean &amp; Barroso (2013)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Placement Strategies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DBDBD"/>
                </a:solidFill>
                <a:latin typeface="Calibri"/>
              </a:defRPr>
            </a:pPr>
            <a:r>
              <a:t>Independent variable: 6 strategies + baseline + default scheduler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554480"/>
            <a:ext cx="2788920" cy="219456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00200"/>
            <a:ext cx="26426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F8C8D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1901952"/>
            <a:ext cx="1325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DBDBD"/>
                </a:solidFill>
                <a:latin typeface="Calibri"/>
              </a:defRPr>
            </a:pPr>
            <a:r>
              <a:t>Null-injection control</a:t>
            </a:r>
            <a:br/>
            <a:r>
              <a:t>Default scheduler + trivial fault</a:t>
            </a:r>
            <a:br/>
            <a:r>
              <a:t>(1% CPU, 1s) — validates methodology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56816" y="2139696"/>
            <a:ext cx="164592" cy="164592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00884" y="2139696"/>
            <a:ext cx="164592" cy="164592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56816" y="2395728"/>
            <a:ext cx="164592" cy="164592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00884" y="2395728"/>
            <a:ext cx="164592" cy="164592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2971800"/>
            <a:ext cx="2642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71"/>
                </a:solidFill>
                <a:latin typeface="Calibri"/>
              </a:defRPr>
            </a:pPr>
            <a:r>
              <a:t>Contention: None (control)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" y="3182112"/>
            <a:ext cx="2642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090A0"/>
                </a:solidFill>
                <a:latin typeface="Calibri"/>
              </a:defRPr>
            </a:pPr>
            <a:r>
              <a:t>Expected: 100%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" y="3401568"/>
            <a:ext cx="26426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96D6"/>
                </a:solidFill>
                <a:latin typeface="Calibri"/>
              </a:defRPr>
            </a:pPr>
            <a:r>
              <a:t>Basiri et al., IEEE SW 2016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1554480"/>
            <a:ext cx="2788920" cy="219456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73552" y="1600200"/>
            <a:ext cx="26426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  <a:latin typeface="Calibri"/>
              </a:defRPr>
            </a:pPr>
            <a:r>
              <a:t>Default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1901952"/>
            <a:ext cx="1325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DBDBD"/>
                </a:solidFill>
                <a:latin typeface="Calibri"/>
              </a:defRPr>
            </a:pPr>
            <a:r>
              <a:t>Default K8s scheduler</a:t>
            </a:r>
            <a:br/>
            <a:r>
              <a:t>Full chaos injection</a:t>
            </a:r>
            <a:br/>
            <a:r>
              <a:t>Scheduler-determined placement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28616" y="2139696"/>
            <a:ext cx="164592" cy="16459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72683" y="2139696"/>
            <a:ext cx="164592" cy="16459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28616" y="2395728"/>
            <a:ext cx="164592" cy="16459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72683" y="2395728"/>
            <a:ext cx="164592" cy="16459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73552" y="2971800"/>
            <a:ext cx="2642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39C12"/>
                </a:solidFill>
                <a:latin typeface="Calibri"/>
              </a:defRPr>
            </a:pPr>
            <a:r>
              <a:t>Contention: Scheduler-set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73552" y="3182112"/>
            <a:ext cx="2642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090A0"/>
                </a:solidFill>
                <a:latin typeface="Calibri"/>
              </a:defRPr>
            </a:pPr>
            <a:r>
              <a:t>Placement null hypothesis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3552" y="3401568"/>
            <a:ext cx="26426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96D6"/>
                </a:solidFill>
                <a:latin typeface="Calibri"/>
              </a:defRPr>
            </a:pPr>
            <a:r>
              <a:t>Burns et al., ACM Queue 2016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1554480"/>
            <a:ext cx="2788920" cy="219456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5352" y="1600200"/>
            <a:ext cx="26426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Colocate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5352" y="1901952"/>
            <a:ext cx="1325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DBDBD"/>
                </a:solidFill>
                <a:latin typeface="Calibri"/>
              </a:defRPr>
            </a:pPr>
            <a:r>
              <a:t>All pods pinned to a single node</a:t>
            </a:r>
            <a:br/>
            <a:r>
              <a:t>via podAffinity</a:t>
            </a:r>
            <a:br/>
            <a:r>
              <a:t>Maximal co-location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0416" y="2139696"/>
            <a:ext cx="164592" cy="164592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94726" y="2235708"/>
            <a:ext cx="164592" cy="164592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0416" y="2331720"/>
            <a:ext cx="164592" cy="164592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94726" y="2427732"/>
            <a:ext cx="164592" cy="164592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45352" y="2971800"/>
            <a:ext cx="2642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74C3C"/>
                </a:solidFill>
                <a:latin typeface="Calibri"/>
              </a:defRPr>
            </a:pPr>
            <a:r>
              <a:t>Contention: Maximum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5352" y="3182112"/>
            <a:ext cx="2642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090A0"/>
                </a:solidFill>
                <a:latin typeface="Calibri"/>
              </a:defRPr>
            </a:pPr>
            <a:r>
              <a:t>Expected: worst resilience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5352" y="3401568"/>
            <a:ext cx="26426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96D6"/>
                </a:solidFill>
                <a:latin typeface="Calibri"/>
              </a:defRPr>
            </a:pPr>
            <a:r>
              <a:t>Mars 2011; Delimitrou 2014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1554480"/>
            <a:ext cx="2788920" cy="219456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17152" y="1600200"/>
            <a:ext cx="26426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Calibri"/>
              </a:defRPr>
            </a:pPr>
            <a:r>
              <a:t>Spread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7152" y="1901952"/>
            <a:ext cx="1325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DBDBD"/>
                </a:solidFill>
                <a:latin typeface="Calibri"/>
              </a:defRPr>
            </a:pPr>
            <a:r>
              <a:t>Even distribution across workers</a:t>
            </a:r>
            <a:br/>
            <a:r>
              <a:t>via topologySpreadConstraints</a:t>
            </a:r>
            <a:br/>
            <a:r>
              <a:t>Minimal per-node contention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16768" y="2267712"/>
            <a:ext cx="164592" cy="16459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1027664" y="2267712"/>
            <a:ext cx="164592" cy="16459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1338560" y="2267712"/>
            <a:ext cx="164592" cy="16459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1649456" y="2267712"/>
            <a:ext cx="164592" cy="16459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17152" y="2971800"/>
            <a:ext cx="2642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71"/>
                </a:solidFill>
                <a:latin typeface="Calibri"/>
              </a:defRPr>
            </a:pPr>
            <a:r>
              <a:t>Contention: Minimum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17152" y="3182112"/>
            <a:ext cx="2642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090A0"/>
                </a:solidFill>
                <a:latin typeface="Calibri"/>
              </a:defRPr>
            </a:pPr>
            <a:r>
              <a:t>Expected: best isolation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17152" y="3401568"/>
            <a:ext cx="26426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96D6"/>
                </a:solidFill>
                <a:latin typeface="Calibri"/>
              </a:defRPr>
            </a:pPr>
            <a:r>
              <a:t>Medea (Garefalakis 2018)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8600" y="4023360"/>
            <a:ext cx="2788920" cy="219456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1752" y="4069080"/>
            <a:ext cx="26426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Calibri"/>
              </a:defRPr>
            </a:pPr>
            <a:r>
              <a:t>Random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" y="4370832"/>
            <a:ext cx="1325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DBDBD"/>
                </a:solidFill>
                <a:latin typeface="Calibri"/>
              </a:defRPr>
            </a:pPr>
            <a:r>
              <a:t>Seeded random assignment</a:t>
            </a:r>
            <a:br/>
            <a:r>
              <a:t>Reproducible null baseline</a:t>
            </a:r>
            <a:br/>
            <a:r>
              <a:t>for topology effects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879092" y="4608576"/>
            <a:ext cx="164592" cy="164592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423160" y="4864608"/>
            <a:ext cx="164592" cy="164592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879092" y="4864608"/>
            <a:ext cx="164592" cy="164592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423160" y="4608576"/>
            <a:ext cx="164592" cy="164592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1752" y="5440680"/>
            <a:ext cx="2642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39C12"/>
                </a:solidFill>
                <a:latin typeface="Calibri"/>
              </a:defRPr>
            </a:pPr>
            <a:r>
              <a:t>Contention: Variable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1752" y="5650992"/>
            <a:ext cx="2642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090A0"/>
                </a:solidFill>
                <a:latin typeface="Calibri"/>
              </a:defRPr>
            </a:pPr>
            <a:r>
              <a:t>Seeded; reproducible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1752" y="5870448"/>
            <a:ext cx="26426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96D6"/>
                </a:solidFill>
                <a:latin typeface="Calibri"/>
              </a:defRPr>
            </a:pPr>
            <a:r>
              <a:t>Sparrow (Ousterhout SOSP 2013)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200400" y="4023360"/>
            <a:ext cx="2788920" cy="219456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73552" y="4069080"/>
            <a:ext cx="26426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59B6"/>
                </a:solidFill>
                <a:latin typeface="Calibri"/>
              </a:defRPr>
            </a:pPr>
            <a:r>
              <a:t>Adversarial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73552" y="4370832"/>
            <a:ext cx="1325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DBDBD"/>
                </a:solidFill>
                <a:latin typeface="Calibri"/>
              </a:defRPr>
            </a:pPr>
            <a:r>
              <a:t>Heavy pods → single node (worst-fit)</a:t>
            </a:r>
            <a:br/>
            <a:r>
              <a:t>Light pods → remaining nodes</a:t>
            </a:r>
            <a:br/>
            <a:r>
              <a:t>Intentional CPU/mem hotspot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50892" y="4608576"/>
            <a:ext cx="164592" cy="164592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045202" y="4704588"/>
            <a:ext cx="164592" cy="164592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394959" y="4736592"/>
            <a:ext cx="164592" cy="164592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628131" y="4864608"/>
            <a:ext cx="164592" cy="164592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73552" y="5440680"/>
            <a:ext cx="2642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74C3C"/>
                </a:solidFill>
                <a:latin typeface="Calibri"/>
              </a:defRPr>
            </a:pPr>
            <a:r>
              <a:t>Contention: High (asymmetric)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73552" y="5650992"/>
            <a:ext cx="2642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090A0"/>
                </a:solidFill>
                <a:latin typeface="Calibri"/>
              </a:defRPr>
            </a:pPr>
            <a:r>
              <a:t>Resource-weighted hotspot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73552" y="5870448"/>
            <a:ext cx="26426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96D6"/>
                </a:solidFill>
                <a:latin typeface="Calibri"/>
              </a:defRPr>
            </a:pPr>
            <a:r>
              <a:t>Worst-fit; Cortez 2017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72200" y="4023360"/>
            <a:ext cx="2788920" cy="219456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45352" y="4069080"/>
            <a:ext cx="26426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Calibri"/>
              </a:defRPr>
            </a:pPr>
            <a:r>
              <a:t>Best-fit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45352" y="4370832"/>
            <a:ext cx="1325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DBDBD"/>
                </a:solidFill>
                <a:latin typeface="Calibri"/>
              </a:defRPr>
            </a:pPr>
            <a:r>
              <a:t>Pack into fewest nodes</a:t>
            </a:r>
            <a:br/>
            <a:r>
              <a:t>(bin-packing decreasing)</a:t>
            </a:r>
            <a:br/>
            <a:r>
              <a:t>Borg-style resource scoring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822692" y="4608576"/>
            <a:ext cx="164592" cy="16459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017002" y="4704588"/>
            <a:ext cx="164592" cy="16459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900416" y="4832604"/>
            <a:ext cx="164592" cy="16459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8561070" y="4736592"/>
            <a:ext cx="164592" cy="16459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45352" y="5440680"/>
            <a:ext cx="2642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39C12"/>
                </a:solidFill>
                <a:latin typeface="Calibri"/>
              </a:defRPr>
            </a:pPr>
            <a:r>
              <a:t>Contention: Moderate (packed)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45352" y="5650992"/>
            <a:ext cx="2642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090A0"/>
                </a:solidFill>
                <a:latin typeface="Calibri"/>
              </a:defRPr>
            </a:pPr>
            <a:r>
              <a:t>Minimizes nodes used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5352" y="5870448"/>
            <a:ext cx="26426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96D6"/>
                </a:solidFill>
                <a:latin typeface="Calibri"/>
              </a:defRPr>
            </a:pPr>
            <a:r>
              <a:t>Borg (Verma 2015; Burns 2016)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144000" y="4023360"/>
            <a:ext cx="2788920" cy="219456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217152" y="4069080"/>
            <a:ext cx="26426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Calibri"/>
              </a:defRPr>
            </a:pPr>
            <a:r>
              <a:t>Dependency-aware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17152" y="4370832"/>
            <a:ext cx="1325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DBDBD"/>
                </a:solidFill>
                <a:latin typeface="Calibri"/>
              </a:defRPr>
            </a:pPr>
            <a:r>
              <a:t>Co-locate communicating services</a:t>
            </a:r>
            <a:br/>
            <a:r>
              <a:t>via service-graph partitioning</a:t>
            </a:r>
            <a:br/>
            <a:r>
              <a:t>(BFS from entry-point root)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794492" y="4640580"/>
            <a:ext cx="164592" cy="16459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0988802" y="4736592"/>
            <a:ext cx="164592" cy="16459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11416284" y="4672584"/>
            <a:ext cx="164592" cy="16459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1571732" y="4832604"/>
            <a:ext cx="164592" cy="16459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217152" y="5440680"/>
            <a:ext cx="2642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39C12"/>
                </a:solidFill>
                <a:latin typeface="Calibri"/>
              </a:defRPr>
            </a:pPr>
            <a:r>
              <a:t>Contention: Moderate (grouped)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17152" y="5650992"/>
            <a:ext cx="2642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090A0"/>
                </a:solidFill>
                <a:latin typeface="Calibri"/>
              </a:defRPr>
            </a:pPr>
            <a:r>
              <a:t>Preserves service-graph edges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217152" y="5870448"/>
            <a:ext cx="26426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96D6"/>
                </a:solidFill>
                <a:latin typeface="Calibri"/>
              </a:defRPr>
            </a:pPr>
            <a:r>
              <a:t>DeathStarBench (Gan ASPLOS 2019)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Experimental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320040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Target Application — Google Online Boutique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828800"/>
            <a:ext cx="1645920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1097280" cy="32004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productcatalog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188719" y="2194560"/>
            <a:ext cx="2194561" cy="182880"/>
          </a:xfrm>
          <a:prstGeom prst="line">
            <a:avLst/>
          </a:prstGeom>
          <a:ln w="1270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11680" y="2377440"/>
            <a:ext cx="1097280" cy="32004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currency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560320" y="2194560"/>
            <a:ext cx="822960" cy="182880"/>
          </a:xfrm>
          <a:prstGeom prst="line">
            <a:avLst/>
          </a:prstGeom>
          <a:ln w="1270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83280" y="2377440"/>
            <a:ext cx="1097280" cy="32004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cart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83280" y="2194560"/>
            <a:ext cx="548640" cy="182880"/>
          </a:xfrm>
          <a:prstGeom prst="line">
            <a:avLst/>
          </a:prstGeom>
          <a:ln w="1270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554480" y="2926080"/>
            <a:ext cx="1097280" cy="32004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checkout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103120" y="2194560"/>
            <a:ext cx="1280160" cy="731520"/>
          </a:xfrm>
          <a:prstGeom prst="line">
            <a:avLst/>
          </a:prstGeom>
          <a:ln w="1270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00400" y="2926080"/>
            <a:ext cx="109728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redis-cart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08960" y="2697480"/>
            <a:ext cx="640079" cy="228600"/>
          </a:xfrm>
          <a:prstGeom prst="line">
            <a:avLst/>
          </a:prstGeom>
          <a:ln w="1270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" y="3474720"/>
            <a:ext cx="1097280" cy="32004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email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188719" y="3246120"/>
            <a:ext cx="914401" cy="228600"/>
          </a:xfrm>
          <a:prstGeom prst="line">
            <a:avLst/>
          </a:prstGeom>
          <a:ln w="1270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011680" y="3474720"/>
            <a:ext cx="1097280" cy="32004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payment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03120" y="3246120"/>
            <a:ext cx="457200" cy="228600"/>
          </a:xfrm>
          <a:prstGeom prst="line">
            <a:avLst/>
          </a:prstGeom>
          <a:ln w="1270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383280" y="3474720"/>
            <a:ext cx="1097280" cy="32004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shipping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103120" y="3246120"/>
            <a:ext cx="1828800" cy="228600"/>
          </a:xfrm>
          <a:prstGeom prst="line">
            <a:avLst/>
          </a:prstGeom>
          <a:ln w="1270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39319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90A0"/>
                </a:solidFill>
                <a:latin typeface="Calibri"/>
              </a:defRPr>
            </a:pPr>
            <a:r>
              <a:t>12 microservices, polyglot (Go, C#, Python, Java, Node.js)</a:t>
            </a:r>
            <a:br/>
            <a:r>
              <a:t>Single replica per service — 100% pod-delete = full unavailability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371600"/>
            <a:ext cx="5303520" cy="201168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371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F8C8D"/>
                </a:solidFill>
                <a:latin typeface="Calibri"/>
              </a:defRPr>
            </a:pPr>
            <a:r>
              <a:t>Cluster Topology (Proxmox / KVM)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737360"/>
            <a:ext cx="1554480" cy="640080"/>
          </a:xfrm>
          <a:prstGeom prst="roundRect">
            <a:avLst/>
          </a:prstGeom>
          <a:solidFill>
            <a:srgbClr val="223355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7373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D6"/>
                </a:solidFill>
                <a:latin typeface="Calibri"/>
              </a:defRPr>
            </a:pPr>
            <a:r>
              <a:t>cp1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1965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  <a:latin typeface="Calibri"/>
              </a:defRPr>
            </a:pPr>
            <a:r>
              <a:t>2 vCPU</a:t>
            </a:r>
            <a:br/>
            <a:r>
              <a:t>2 GiB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1737360"/>
            <a:ext cx="731520" cy="640080"/>
          </a:xfrm>
          <a:prstGeom prst="roundRect">
            <a:avLst/>
          </a:prstGeom>
          <a:solidFill>
            <a:srgbClr val="224422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173736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71"/>
                </a:solidFill>
                <a:latin typeface="Calibri"/>
              </a:defRPr>
            </a:pPr>
            <a:r>
              <a:t>w1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19659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DBDBD"/>
                </a:solidFill>
                <a:latin typeface="Calibri"/>
              </a:defRPr>
            </a:pPr>
            <a:r>
              <a:t>2 vCPU</a:t>
            </a:r>
            <a:br/>
            <a:r>
              <a:t>2 GiB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69680" y="1737360"/>
            <a:ext cx="731520" cy="640080"/>
          </a:xfrm>
          <a:prstGeom prst="roundRect">
            <a:avLst/>
          </a:prstGeom>
          <a:solidFill>
            <a:srgbClr val="224422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15400" y="173736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71"/>
                </a:solidFill>
                <a:latin typeface="Calibri"/>
              </a:defRPr>
            </a:pPr>
            <a:r>
              <a:t>w2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19659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DBDBD"/>
                </a:solidFill>
                <a:latin typeface="Calibri"/>
              </a:defRPr>
            </a:pPr>
            <a:r>
              <a:t>2 vCPU</a:t>
            </a:r>
            <a:br/>
            <a:r>
              <a:t>2 GiB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92640" y="1737360"/>
            <a:ext cx="731520" cy="640080"/>
          </a:xfrm>
          <a:prstGeom prst="roundRect">
            <a:avLst/>
          </a:prstGeom>
          <a:solidFill>
            <a:srgbClr val="224422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173736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71"/>
                </a:solidFill>
                <a:latin typeface="Calibri"/>
              </a:defRPr>
            </a:pPr>
            <a:r>
              <a:t>w3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19659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DBDBD"/>
                </a:solidFill>
                <a:latin typeface="Calibri"/>
              </a:defRPr>
            </a:pPr>
            <a:r>
              <a:t>2 vCPU</a:t>
            </a:r>
            <a:br/>
            <a:r>
              <a:t>4 GiB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515600" y="1737360"/>
            <a:ext cx="731520" cy="640080"/>
          </a:xfrm>
          <a:prstGeom prst="roundRect">
            <a:avLst/>
          </a:prstGeom>
          <a:solidFill>
            <a:srgbClr val="224422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61320" y="173736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71"/>
                </a:solidFill>
                <a:latin typeface="Calibri"/>
              </a:defRPr>
            </a:pPr>
            <a:r>
              <a:t>w4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320" y="19659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DBDBD"/>
                </a:solidFill>
                <a:latin typeface="Calibri"/>
              </a:defRPr>
            </a:pPr>
            <a:r>
              <a:t>2 vCPU</a:t>
            </a:r>
            <a:br/>
            <a:r>
              <a:t>4 GiB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468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090A0"/>
                </a:solidFill>
                <a:latin typeface="Calibri"/>
              </a:defRPr>
            </a:pPr>
            <a:r>
              <a:t>K8s v1.28.6 • Calico CNI • containerd 1.7.11 • Total: 10 vCPU, 14 GiB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754880"/>
            <a:ext cx="5486400" cy="192024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7548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Fault Injection Experiments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640080" y="5074920"/>
          <a:ext cx="51206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6200" marR="76200" marT="38100" marB="38100">
                    <a:solidFill>
                      <a:srgbClr val="E74C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pod-delete (availability)</a:t>
                      </a:r>
                    </a:p>
                  </a:txBody>
                  <a:tcPr marL="76200" marR="76200" marT="38100" marB="38100">
                    <a:solidFill>
                      <a:srgbClr val="E74C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pod-cpu-hog (contention)</a:t>
                      </a:r>
                    </a:p>
                  </a:txBody>
                  <a:tcPr marL="76200" marR="76200" marT="38100" marB="38100">
                    <a:solidFill>
                      <a:srgbClr val="E74C3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productcatalogservice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currencyservice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120s (5s interval)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60s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FORCE=true, 100% pods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1 core, 100% load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Probes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7 httpProbes + 5 cmdProbes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1 httpProbe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45" name="Rounded Rectangle 44"/>
          <p:cNvSpPr/>
          <p:nvPr/>
        </p:nvSpPr>
        <p:spPr>
          <a:xfrm>
            <a:off x="6217920" y="3566160"/>
            <a:ext cx="5303520" cy="100584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3566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F8C8D"/>
                </a:solidFill>
                <a:latin typeface="Calibri"/>
              </a:defRPr>
            </a:pPr>
            <a:r>
              <a:t>Baseline (Control Group)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8862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Swaps pod-delete → pod-cpu-hog with DURATION=1s, CPU_LOAD=1%</a:t>
            </a:r>
            <a:br/>
            <a:r>
              <a:t>All probes execute identically — expected result: 100% score, 0 recovery cycles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4754880"/>
            <a:ext cx="5303520" cy="192024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754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Calibri"/>
              </a:defRPr>
            </a:pPr>
            <a:r>
              <a:t>Infrastructure Components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6400800" y="5074920"/>
          <a:ext cx="49377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6200" marR="76200" marT="38100" marB="38100">
                    <a:solidFill>
                      <a:srgbClr val="9B59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6200" marR="76200" marT="38100" marB="38100">
                    <a:solidFill>
                      <a:srgbClr val="9B59B6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LitmusChaos + ChaosCenter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Fault injection engine (Helm)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Prometheus + kube-state-metrics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Cluster metrics (PromQL)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Neo4j 5 Community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Graph storage (14 node types, 18 rels)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Locust (steady: 50 users, 10/s)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Load generation (120s)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ChaosProbe —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ChaosProbe (our contribution)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2560320" cy="91440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BC9C"/>
                </a:solidFill>
                <a:latin typeface="Calibri"/>
              </a:defRPr>
            </a:pPr>
            <a:r>
              <a:t>Placement</a:t>
            </a:r>
            <a:br/>
            <a:r>
              <a:t>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6 strategies: mutate nodeSelector</a:t>
            </a:r>
            <a:br/>
            <a:r>
              <a:t>per deployment to target nodes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743200"/>
            <a:ext cx="2560320" cy="91440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alibri"/>
              </a:defRPr>
            </a:pPr>
            <a:r>
              <a:t>Metrics</a:t>
            </a:r>
            <a:br/>
            <a:r>
              <a:t>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54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6 continuous probers (threads):</a:t>
            </a:r>
            <a:br/>
            <a:r>
              <a:t>recovery, latency, resources,</a:t>
            </a:r>
            <a:br/>
            <a:r>
              <a:t>Redis, disk, Prometheus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840480"/>
            <a:ext cx="2560320" cy="91440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886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C12"/>
                </a:solidFill>
                <a:latin typeface="Calibri"/>
              </a:defRPr>
            </a:pPr>
            <a:r>
              <a:t>Result</a:t>
            </a:r>
            <a:br/>
            <a:r>
              <a:t>Aggregation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51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ChaosResult CRDs, probe verdicts,</a:t>
            </a:r>
            <a:br/>
            <a:r>
              <a:t>resilience scoring, phase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1645920"/>
            <a:ext cx="2560320" cy="91440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98DB"/>
                </a:solidFill>
                <a:latin typeface="Calibri"/>
              </a:defRPr>
            </a:pPr>
            <a:r>
              <a:t>Orchestrator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Strategy runner, run phases,</a:t>
            </a:r>
            <a:br/>
            <a:r>
              <a:t>preflight checks, port-forward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2743200"/>
            <a:ext cx="2560320" cy="91440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9B6"/>
                </a:solidFill>
                <a:latin typeface="Calibri"/>
              </a:defRPr>
            </a:pPr>
            <a:r>
              <a:t>Graph</a:t>
            </a:r>
            <a:br/>
            <a:r>
              <a:t>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154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Neo4j writer/reader: 14 node types,</a:t>
            </a:r>
            <a:br/>
            <a:r>
              <a:t>18 relationships, Cypher queries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08960" y="3840480"/>
            <a:ext cx="2560320" cy="91440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3886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C12"/>
                </a:solidFill>
                <a:latin typeface="Calibri"/>
              </a:defRPr>
            </a:pPr>
            <a:r>
              <a:t>Visualization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251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matplotlib charts, HTML report,</a:t>
            </a:r>
            <a:br/>
            <a:r>
              <a:t>ML export (CSV/Parquet)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F8C8D"/>
                </a:solidFill>
                <a:latin typeface="Calibri"/>
              </a:defRPr>
            </a:pPr>
            <a:r>
              <a:t>Infrastructure (existing tools)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645920"/>
            <a:ext cx="2560320" cy="91440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Calibri"/>
              </a:defRPr>
            </a:pPr>
            <a:r>
              <a:t>LitmusChaos +</a:t>
            </a:r>
            <a:br/>
            <a:r>
              <a:t>ChaosCenter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Fault injection engine.</a:t>
            </a:r>
            <a:br/>
            <a:r>
              <a:t>ChaosEngine CRDs, Argo Workflows,</a:t>
            </a:r>
            <a:br/>
            <a:r>
              <a:t>ChaosCenter dashboard + 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743200"/>
            <a:ext cx="2560320" cy="91440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alibri"/>
              </a:defRPr>
            </a:pPr>
            <a:r>
              <a:t>Prometheus +</a:t>
            </a:r>
            <a:br/>
            <a:r>
              <a:t>kube-state-metrics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3154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Cluster monitoring.</a:t>
            </a:r>
            <a:br/>
            <a:r>
              <a:t>PromQL queries for pod_ready,</a:t>
            </a:r>
            <a:br/>
            <a:r>
              <a:t>CPU throttle, memory, network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840480"/>
            <a:ext cx="2560320" cy="91440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59" y="3886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9B6"/>
                </a:solidFill>
                <a:latin typeface="Calibri"/>
              </a:defRPr>
            </a:pPr>
            <a:r>
              <a:t>Neo4j 5</a:t>
            </a:r>
            <a:br/>
            <a:r>
              <a:t>Community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4251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Graph database.</a:t>
            </a:r>
            <a:br/>
            <a:r>
              <a:t>14 node types, 18 relationships.</a:t>
            </a:r>
            <a:br/>
            <a:r>
              <a:t>Cypher query language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1645920"/>
            <a:ext cx="2560320" cy="91440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BC9C"/>
                </a:solidFill>
                <a:latin typeface="Calibri"/>
              </a:defRPr>
            </a:pPr>
            <a:r>
              <a:t>Kubernetes</a:t>
            </a:r>
            <a:br/>
            <a:r>
              <a:t>v1.28.6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Container orchestration.</a:t>
            </a:r>
            <a:br/>
            <a:r>
              <a:t>containerd runtime, Metrics API,</a:t>
            </a:r>
            <a:br/>
            <a:r>
              <a:t>Watch API for recovery tracking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52560" y="2743200"/>
            <a:ext cx="2560320" cy="91440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98DB"/>
                </a:solidFill>
                <a:latin typeface="Calibri"/>
              </a:defRPr>
            </a:pPr>
            <a:r>
              <a:t>Locust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54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Load generation.</a:t>
            </a:r>
            <a:br/>
            <a:r>
              <a:t>Configurable user count, spawn rate.</a:t>
            </a:r>
            <a:br/>
            <a:r>
              <a:t>HTTP traffic to entry-point service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3840480"/>
            <a:ext cx="2560320" cy="91440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3886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F8C8D"/>
                </a:solidFill>
                <a:latin typeface="Calibri"/>
              </a:defRPr>
            </a:pPr>
            <a:r>
              <a:t>Proxmox</a:t>
            </a:r>
            <a:br/>
            <a:r>
              <a:t>(KVM/QEMU)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4251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Virtualization host.</a:t>
            </a:r>
            <a:br/>
            <a:r>
              <a:t>5 VMs: 1 control plane +</a:t>
            </a:r>
            <a:br/>
            <a:r>
              <a:t>4 worker nodes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669280" y="2103120"/>
            <a:ext cx="548640" cy="0"/>
          </a:xfrm>
          <a:prstGeom prst="line">
            <a:avLst/>
          </a:prstGeom>
          <a:ln w="25400">
            <a:solidFill>
              <a:srgbClr val="009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669280" y="3200400"/>
            <a:ext cx="548640" cy="0"/>
          </a:xfrm>
          <a:prstGeom prst="line">
            <a:avLst/>
          </a:prstGeom>
          <a:ln w="25400">
            <a:solidFill>
              <a:srgbClr val="009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669280" y="4297680"/>
            <a:ext cx="548640" cy="0"/>
          </a:xfrm>
          <a:prstGeom prst="line">
            <a:avLst/>
          </a:prstGeom>
          <a:ln w="25400">
            <a:solidFill>
              <a:srgbClr val="009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669280" y="1874519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90A0"/>
                </a:solidFill>
                <a:latin typeface="Calibri"/>
              </a:defRPr>
            </a:pPr>
            <a:r>
              <a:t>uses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29718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90A0"/>
                </a:solidFill>
                <a:latin typeface="Calibri"/>
              </a:defRPr>
            </a:pPr>
            <a:r>
              <a:t>queries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0" y="406908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90A0"/>
                </a:solidFill>
                <a:latin typeface="Calibri"/>
              </a:defRPr>
            </a:pPr>
            <a:r>
              <a:t>stores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Experiment Lifecycle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" y="5394960"/>
            <a:ext cx="2011680" cy="91440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5394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 Configure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5669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8"/>
                </a:solidFill>
                <a:latin typeface="Calibri"/>
              </a:defRPr>
            </a:pPr>
            <a:r>
              <a:t>Load YAML</a:t>
            </a:r>
            <a:br/>
            <a:r>
              <a:t>Validate specs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560320" y="5394960"/>
            <a:ext cx="2011680" cy="914400"/>
          </a:xfrm>
          <a:prstGeom prst="roundRect">
            <a:avLst/>
          </a:prstGeom>
          <a:solidFill>
            <a:srgbClr val="1ABC9C"/>
          </a:solidFill>
          <a:ln w="127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06039" y="5394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2. Place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51760" y="5669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8"/>
                </a:solidFill>
                <a:latin typeface="Calibri"/>
              </a:defRPr>
            </a:pPr>
            <a:r>
              <a:t>Apply strategy</a:t>
            </a:r>
            <a:br/>
            <a:r>
              <a:t>Patch nodeSelector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846320" y="5394960"/>
            <a:ext cx="2011680" cy="91440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92040" y="5394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3. Inject Chaos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37759" y="5669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8"/>
                </a:solidFill>
                <a:latin typeface="Calibri"/>
              </a:defRPr>
            </a:pPr>
            <a:r>
              <a:t>ChaosEngine</a:t>
            </a:r>
            <a:br/>
            <a:r>
              <a:t>via ChaosCenter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132320" y="5394960"/>
            <a:ext cx="2011680" cy="91440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78040" y="5394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4. Measure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59" y="5669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8"/>
                </a:solidFill>
                <a:latin typeface="Calibri"/>
              </a:defRPr>
            </a:pPr>
            <a:r>
              <a:t>6 probers</a:t>
            </a:r>
            <a:br/>
            <a:r>
              <a:t>+ load generator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418320" y="5394960"/>
            <a:ext cx="2011680" cy="914400"/>
          </a:xfrm>
          <a:prstGeom prst="roundRect">
            <a:avLst/>
          </a:prstGeom>
          <a:solidFill>
            <a:srgbClr val="9B59B6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64040" y="5394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5. Store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0" y="5669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8"/>
                </a:solidFill>
                <a:latin typeface="Calibri"/>
              </a:defRPr>
            </a:pPr>
            <a:r>
              <a:t>Neo4j sync</a:t>
            </a:r>
            <a:br/>
            <a:r>
              <a:t>Charts + export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286000" y="5852160"/>
            <a:ext cx="274320" cy="0"/>
          </a:xfrm>
          <a:prstGeom prst="line">
            <a:avLst/>
          </a:prstGeom>
          <a:ln w="2540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72000" y="5852160"/>
            <a:ext cx="274320" cy="0"/>
          </a:xfrm>
          <a:prstGeom prst="line">
            <a:avLst/>
          </a:prstGeom>
          <a:ln w="2540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858000" y="5852160"/>
            <a:ext cx="274320" cy="0"/>
          </a:xfrm>
          <a:prstGeom prst="line">
            <a:avLst/>
          </a:prstGeom>
          <a:ln w="2540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144000" y="5852160"/>
            <a:ext cx="274320" cy="0"/>
          </a:xfrm>
          <a:prstGeom prst="line">
            <a:avLst/>
          </a:prstGeom>
          <a:ln w="2540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Measurement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Three-Phase Measurement Window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3200400" cy="41148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PreChaos — steady state (30s)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508760"/>
            <a:ext cx="411480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DuringChaos — fault active (120s)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508760"/>
            <a:ext cx="3474720" cy="4114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PostChaos — recovery 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6 Continuous Probers (Background Threads)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2560320"/>
          <a:ext cx="6858000" cy="2194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135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Prober</a:t>
                      </a:r>
                    </a:p>
                  </a:txBody>
                  <a:tcPr marL="76200" marR="76200" marT="38100" marB="38100">
                    <a:solidFill>
                      <a:srgbClr val="009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It Measures</a:t>
                      </a:r>
                    </a:p>
                  </a:txBody>
                  <a:tcPr marL="76200" marR="76200" marT="38100" marB="38100">
                    <a:solidFill>
                      <a:srgbClr val="009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Data Source</a:t>
                      </a:r>
                    </a:p>
                  </a:txBody>
                  <a:tcPr marL="76200" marR="76200" marT="38100" marB="38100">
                    <a:solidFill>
                      <a:srgbClr val="009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Interval</a:t>
                      </a:r>
                    </a:p>
                  </a:txBody>
                  <a:tcPr marL="76200" marR="76200" marT="38100" marB="38100">
                    <a:solidFill>
                      <a:srgbClr val="0096D6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RecoveryWatcher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Pod deletion → scheduled → ready (ms)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K8s Watch API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Real-time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LatencyProber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HTTP route latency + error rates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kubectl exec → python3/wget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~2s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RedisProber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Redis ops/s (GET/SET throughput)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kubectl exec → redis-cli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~10s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DiskProber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Sequential disk R/W bytes/s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kubectl exec → dd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~10s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ResourceProber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Node/pod CPU (millicores) + memory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Metrics API (v1beta1)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~5s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PrometheusProber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pod_ready, CPU/memory, throttle, net rx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PromQL queries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~10s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498079" y="2194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Resilience Probes (LitmusChaos)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8079" y="2560320"/>
          <a:ext cx="4389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24003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Probe</a:t>
                      </a:r>
                    </a:p>
                  </a:txBody>
                  <a:tcPr marL="76200" marR="76200" marT="38100" marB="38100">
                    <a:solidFill>
                      <a:srgbClr val="F39C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 marL="76200" marR="76200" marT="38100" marB="38100">
                    <a:solidFill>
                      <a:srgbClr val="F39C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Timeout</a:t>
                      </a:r>
                    </a:p>
                  </a:txBody>
                  <a:tcPr marL="76200" marR="76200" marT="38100" marB="38100">
                    <a:solidFill>
                      <a:srgbClr val="F39C12"/>
                    </a:solidFill>
                  </a:tcPr>
                </a:tc>
              </a:tr>
              <a:tr h="24003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frontend-product-strict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Continuous (2s)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3s, 1 retry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</a:tr>
              <a:tr h="24003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frontend-homepage-strict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Continuous (2s)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3s, 1 retry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</a:tr>
              <a:tr h="24003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frontend-homepage-moderate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Continuous (3s)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3s, 2 retries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</a:tr>
              <a:tr h="24003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frontend-product-moderate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Continuous (3s)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3s, 2 retries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</a:tr>
              <a:tr h="24003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frontend-cart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Continuous (4s)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5s, 3 retries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</a:tr>
              <a:tr h="24003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frontend-homepage-loose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Continuous (4s)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5s, 3 retries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</a:tr>
              <a:tr h="24003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frontend-healthz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Continuous (4s)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5s, 3 retries</a:t>
                      </a:r>
                    </a:p>
                  </a:txBody>
                  <a:tcPr marL="76200" marR="76200" marT="38100" marB="38100"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498079" y="4526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DBDBD"/>
                </a:solidFill>
                <a:latin typeface="Calibri"/>
              </a:defRPr>
            </a:pPr>
            <a:r>
              <a:t>+ 5 Rust cmdProbes: check-redis, check-http-latency,</a:t>
            </a:r>
            <a:br/>
            <a:r>
              <a:t>  check-dns-latency, check-tcp-connect, check-cart-flow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Resilience Scoring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94960"/>
            <a:ext cx="5029200" cy="45720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440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score = Σ(probeSuccess%) / N    verdict = PASS iff all probes 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5394960"/>
            <a:ext cx="73152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5394960"/>
            <a:ext cx="73152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17%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5394960"/>
            <a:ext cx="73152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5394960"/>
            <a:ext cx="73152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5394960"/>
            <a:ext cx="73152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67%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0" y="5394960"/>
            <a:ext cx="73152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83%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155680" y="5394960"/>
            <a:ext cx="73152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89788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090A0"/>
                </a:solidFill>
                <a:latin typeface="Calibri"/>
              </a:defRPr>
            </a:pPr>
            <a:r>
              <a:t>Total disruption  ←                              →  No visible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0350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5 probers extend ContinuousProberBase; RecoveryWatcher uses K8s Watch API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Phase-aware: measurements tagged PreChaos / DuringChaos / PostChaos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0350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Strict → Moderate-tight → Moderate-loose: layered sensitivity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Control probes (healthz, cart): detect node-level contention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 — Resilience Scores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ilience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85800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280160"/>
            <a:ext cx="3931920" cy="411480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3258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Key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69164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Baseline: 100% score as expected —</a:t>
            </a:r>
            <a:br/>
            <a:r>
              <a:t>  validates experimental methodology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Colocate: consistently lowest scores —</a:t>
            </a:r>
            <a:br/>
            <a:r>
              <a:t>  maximum contention degrades all probes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Spread: highest scores among non-baseline</a:t>
            </a:r>
            <a:br/>
            <a:r>
              <a:t>  — fault isolation limits blast radius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Default: moderate — K8s scheduler provides</a:t>
            </a:r>
            <a:br/>
            <a:r>
              <a:t>  partial but unintentional isolation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Random &amp; Adversarial: variable —</a:t>
            </a:r>
            <a:br/>
            <a:r>
              <a:t>  depends on resource-hotspot placement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669280"/>
            <a:ext cx="11247120" cy="91440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Hypothesis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H1 (colocate = worst): Supported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9893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Calibri"/>
              </a:defRPr>
            </a:pPr>
            <a:r>
              <a:t>H2 (spread = best isolation): Supported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989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F8C8D"/>
                </a:solidFill>
                <a:latin typeface="Calibri"/>
              </a:defRPr>
            </a:pPr>
            <a:r>
              <a:t>H3 (baseline = 100%): Supported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 — Recovery Time &amp; Latency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covery_t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66928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5262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D6"/>
                </a:solidFill>
                <a:latin typeface="Calibri"/>
              </a:defRPr>
            </a:pPr>
            <a:r>
              <a:t>Recovery Time (pod deletion → ready)</a:t>
            </a:r>
          </a:p>
        </p:txBody>
      </p:sp>
      <p:pic>
        <p:nvPicPr>
          <p:cNvPr id="6" name="Picture 5" descr="latency_degra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66928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45262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D6"/>
                </a:solidFill>
                <a:latin typeface="Calibri"/>
              </a:defRPr>
            </a:pPr>
            <a:r>
              <a:t>Latency Degradation (Pre-Chaos vs During-Chaos)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5029200"/>
            <a:ext cx="5669280" cy="164592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Recovery Time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492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Colocate: longest recovery — scheduler contention</a:t>
            </a:r>
            <a:br/>
            <a:r>
              <a:t>  on the saturated node delays rescheduling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Spread: fastest recovery — dedicated node resources</a:t>
            </a:r>
            <a:br/>
            <a:r>
              <a:t>  allow immediate rescheduling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Baseline: 0 recovery cycles (no pods deleted) —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029200"/>
            <a:ext cx="5669280" cy="164592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Latency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3492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Colocate: highest degradation — shared CPU, memory,</a:t>
            </a:r>
            <a:br/>
            <a:r>
              <a:t>  and network stack amplify latency during fault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Spread: minimal increase — fault isolation contains</a:t>
            </a:r>
            <a:br/>
            <a:r>
              <a:t>  impact to the targeted service's node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Adversarial: high — resource-heavy hotspot node</a:t>
            </a:r>
            <a:br/>
            <a:r>
              <a:t>  amplifies cross-service contention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 — Resources &amp; Throughput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ource_uti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66928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5262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D6"/>
                </a:solidFill>
                <a:latin typeface="Calibri"/>
              </a:defRPr>
            </a:pPr>
            <a:r>
              <a:t>Resource Utilization (CPU &amp; Memory)</a:t>
            </a:r>
          </a:p>
        </p:txBody>
      </p:sp>
      <p:pic>
        <p:nvPicPr>
          <p:cNvPr id="6" name="Picture 5" descr="throughput_by_strate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66928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45262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D6"/>
                </a:solidFill>
                <a:latin typeface="Calibri"/>
              </a:defRPr>
            </a:pPr>
            <a:r>
              <a:t>I/O Throughput (Redis ops/s, Disk bytes/s)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5029200"/>
            <a:ext cx="5669280" cy="164592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Resource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492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Colocate: highest CPU throttling — all services</a:t>
            </a:r>
            <a:br/>
            <a:r>
              <a:t>  compete for shared cores on a single node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Spread: most stable resource usage — dedicated</a:t>
            </a:r>
            <a:br/>
            <a:r>
              <a:t>  per-node capacity minimizes contention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Memory pressure correlates with placement density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029200"/>
            <a:ext cx="5669280" cy="164592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Throughput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3492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Disk I/O: colocate shows degraded throughput due</a:t>
            </a:r>
            <a:br/>
            <a:r>
              <a:t>  to shared disk bandwidth across all services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Redis: throughput varies with network locality —</a:t>
            </a:r>
            <a:br/>
            <a:r>
              <a:t>  co-located cart+redis may benefit from low latency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Spread: consistent throughput — isolated I/O paths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rategy_comparis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943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Hypothesis 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91640"/>
            <a:ext cx="64008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691640"/>
            <a:ext cx="4206240" cy="73152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70992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Colocate = worst resilience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965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Colocate: lowest scores, longest recovery,</a:t>
            </a:r>
            <a:br/>
            <a:r>
              <a:t>highest latency &amp; CPU throttling.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0" y="1874520"/>
            <a:ext cx="100584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Supported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697480"/>
            <a:ext cx="640080" cy="7315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2697480"/>
            <a:ext cx="4206240" cy="73152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71576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t>Spread = best fault 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9718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Spread: best non-baseline scores, minimal</a:t>
            </a:r>
            <a:br/>
            <a:r>
              <a:t>latency increase, fastest recovery.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0" y="2880360"/>
            <a:ext cx="1005840" cy="3200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Supported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703320"/>
            <a:ext cx="640080" cy="73152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3703320"/>
            <a:ext cx="4206240" cy="73152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372160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F8C8D"/>
                </a:solidFill>
                <a:latin typeface="Calibri"/>
              </a:defRPr>
            </a:pPr>
            <a:r>
              <a:t>Baseline = 100% (valid method)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977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Trivial fault → 100% score, 0 recovery</a:t>
            </a:r>
            <a:br/>
            <a:r>
              <a:t>cycles — confirms measurement validity.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0" y="3886200"/>
            <a:ext cx="1005840" cy="32004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Supported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20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Key Insights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486400"/>
            <a:ext cx="3566160" cy="109728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486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Calibri"/>
              </a:defRPr>
            </a:pPr>
            <a:r>
              <a:t>Placement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60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Topology is not just a resource concern — it directly determines fault blast radius and recovery characteristics.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5486400"/>
            <a:ext cx="3566160" cy="109728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5486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Calibri"/>
              </a:defRPr>
            </a:pPr>
            <a:r>
              <a:t>Scheduler Is Not Enough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760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Default K8s scheduling provides some isolation but is not optimized for resilience — intentional placement is needed.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5486400"/>
            <a:ext cx="3566160" cy="109728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5486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Calibri"/>
              </a:defRPr>
            </a:pPr>
            <a:r>
              <a:t>Multi-Dimensional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5760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Placement affects all measured dimensions: recovery, latency, resources, and throughput — not just a single metric.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Threats to Validity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Internal Validity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Single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Results based on Google Online Boutique — a representative but single microservice benchmark. Other application topologies may yield different results.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Single replica per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100% pod-delete guarantees unavailability, but production systems typically run multiple replicas. Results represent worst-case single-replica scenarios.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Virtualized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663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KVM/QEMU introduces virtualization overhead. Bare-metal clusters may show different performance characteristics, especially for I/O metrics.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5486400" cy="5029200"/>
          </a:xfrm>
          <a:prstGeom prst="roundRect">
            <a:avLst/>
          </a:prstGeom>
          <a:solidFill>
            <a:srgbClr val="121222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External Validity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Cluster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402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5-node cluster (1 control plane + 4 workers, 10 vCPU, 14 GiB). Larger clusters with more nodes and resources may show different placement effects.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83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Fault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033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Only pod-delete and pod-cpu-hog tested. Network partitions, disk faults, and memory pressure faults may reveal different strategy rankings.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846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Traffic 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1663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Steady-state load (50 users, 10/s). Bursty, ramping, or production-like traffic patterns may affect results differently.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292608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BDBDBD"/>
                </a:solidFill>
                <a:latin typeface="Calibri"/>
              </a:defRPr>
            </a:pPr>
            <a:r>
              <a:t>• ChaosProbe framework: automated placement-</a:t>
            </a:r>
            <a:br/>
            <a:r>
              <a:t>  aware chaos testing for Kubernetes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BDBDBD"/>
                </a:solidFill>
                <a:latin typeface="Calibri"/>
              </a:defRPr>
            </a:pPr>
            <a:r>
              <a:t>• Systematic evaluation of 6 placement strategies</a:t>
            </a:r>
            <a:br/>
            <a:r>
              <a:t>  under 2 fault types across 4 metric dimensions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BDBDBD"/>
                </a:solidFill>
                <a:latin typeface="Calibri"/>
              </a:defRPr>
            </a:pPr>
            <a:r>
              <a:t>• Neo4j graph storage preserving causal</a:t>
            </a:r>
            <a:br/>
            <a:r>
              <a:t>  relationships for topology-aware analysis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BDBDBD"/>
                </a:solidFill>
                <a:latin typeface="Calibri"/>
              </a:defRPr>
            </a:pPr>
            <a:r>
              <a:t>• Reproducible methodology: seeded randomness,</a:t>
            </a:r>
            <a:br/>
            <a:r>
              <a:t>  exact configs, automated comparison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292608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BDBDBD"/>
                </a:solidFill>
                <a:latin typeface="Calibri"/>
              </a:defRPr>
            </a:pPr>
            <a:r>
              <a:t>• Placement topology has a measurable and</a:t>
            </a:r>
            <a:br/>
            <a:r>
              <a:t>  significant impact on chaos resilience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BDBDBD"/>
                </a:solidFill>
                <a:latin typeface="Calibri"/>
              </a:defRPr>
            </a:pPr>
            <a:r>
              <a:t>• Colocate: consistently worst — highest latency,</a:t>
            </a:r>
            <a:br/>
            <a:r>
              <a:t>  longest recovery, most contention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BDBDBD"/>
                </a:solidFill>
                <a:latin typeface="Calibri"/>
              </a:defRPr>
            </a:pPr>
            <a:r>
              <a:t>• Spread: consistently best fault isolation —</a:t>
            </a:r>
            <a:br/>
            <a:r>
              <a:t>  minimal degradation across all metrics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BDBDBD"/>
                </a:solidFill>
                <a:latin typeface="Calibri"/>
              </a:defRPr>
            </a:pPr>
            <a:r>
              <a:t>• All three hypotheses supported by</a:t>
            </a:r>
            <a:br/>
            <a:r>
              <a:t>  experimental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0560"/>
            <a:ext cx="11064240" cy="146304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Multi-fault injection — concurrent faults</a:t>
            </a:r>
            <a:br/>
            <a:r>
              <a:t>  for complex failure scenarios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Larger cluster scale — 20+ nodes, 100+ services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ML-based anomaly detection on collected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84632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Custom placement policies — RL-based scheduling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Production-like traffic patterns &amp; workloads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BDBDBD"/>
                </a:solidFill>
                <a:latin typeface="Calibri"/>
              </a:defRPr>
            </a:pPr>
            <a:r>
              <a:t>• Integration with GitOps for automated remediation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6126480"/>
            <a:ext cx="11064240" cy="640080"/>
          </a:xfrm>
          <a:prstGeom prst="roundRect">
            <a:avLst/>
          </a:prstGeom>
          <a:solidFill>
            <a:srgbClr val="121222"/>
          </a:solidFill>
          <a:ln w="381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172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Pod placement topology has a measurable and significant impact on microservice resilience under chaos injection. Topology-aware scheduling is essential for building resilient cloud-native systems.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017520"/>
            <a:ext cx="301752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3832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96D6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754880"/>
            <a:ext cx="1645920" cy="91440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BC9C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166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Placement</a:t>
            </a:r>
            <a:br/>
            <a:r>
              <a:t>Strategies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754880"/>
            <a:ext cx="1645920" cy="91440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4754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74C3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5166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Fault</a:t>
            </a:r>
            <a:br/>
            <a:r>
              <a:t>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754880"/>
            <a:ext cx="1645920" cy="91440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754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CC71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5166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Metric</a:t>
            </a:r>
            <a:br/>
            <a:r>
              <a:t>Dimensions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59" y="4754880"/>
            <a:ext cx="1645920" cy="91440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59" y="4754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CC71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5166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Hypotheses</a:t>
            </a:r>
            <a:br/>
            <a:r>
              <a:t>Supported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